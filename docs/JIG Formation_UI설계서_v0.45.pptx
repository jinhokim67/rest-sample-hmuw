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98" r:id="rId2"/>
    <p:sldId id="317" r:id="rId3"/>
    <p:sldId id="2797" r:id="rId4"/>
    <p:sldId id="2881" r:id="rId5"/>
    <p:sldId id="2882" r:id="rId6"/>
    <p:sldId id="2816" r:id="rId7"/>
    <p:sldId id="2952" r:id="rId8"/>
    <p:sldId id="2926" r:id="rId9"/>
    <p:sldId id="2949" r:id="rId10"/>
    <p:sldId id="2951" r:id="rId11"/>
    <p:sldId id="2927" r:id="rId12"/>
    <p:sldId id="2950" r:id="rId13"/>
    <p:sldId id="2895" r:id="rId14"/>
    <p:sldId id="2896" r:id="rId15"/>
    <p:sldId id="2897" r:id="rId16"/>
    <p:sldId id="2899" r:id="rId17"/>
    <p:sldId id="2941" r:id="rId18"/>
    <p:sldId id="2948" r:id="rId19"/>
    <p:sldId id="2953" r:id="rId20"/>
    <p:sldId id="2900" r:id="rId21"/>
    <p:sldId id="2929" r:id="rId22"/>
    <p:sldId id="2902" r:id="rId23"/>
    <p:sldId id="2903" r:id="rId24"/>
    <p:sldId id="2904" r:id="rId25"/>
    <p:sldId id="2905" r:id="rId26"/>
    <p:sldId id="2906" r:id="rId27"/>
    <p:sldId id="2907" r:id="rId28"/>
    <p:sldId id="2928" r:id="rId29"/>
    <p:sldId id="2908" r:id="rId30"/>
    <p:sldId id="2909" r:id="rId31"/>
    <p:sldId id="2910" r:id="rId32"/>
    <p:sldId id="2946" r:id="rId33"/>
    <p:sldId id="2943" r:id="rId34"/>
    <p:sldId id="2912" r:id="rId35"/>
    <p:sldId id="2913" r:id="rId36"/>
    <p:sldId id="2915" r:id="rId37"/>
    <p:sldId id="2914" r:id="rId38"/>
    <p:sldId id="2921" r:id="rId39"/>
    <p:sldId id="2930" r:id="rId40"/>
    <p:sldId id="2944" r:id="rId41"/>
    <p:sldId id="2931" r:id="rId42"/>
    <p:sldId id="2932" r:id="rId43"/>
    <p:sldId id="2933" r:id="rId44"/>
    <p:sldId id="2934" r:id="rId45"/>
    <p:sldId id="2935" r:id="rId46"/>
    <p:sldId id="2936" r:id="rId47"/>
    <p:sldId id="2937" r:id="rId48"/>
    <p:sldId id="2938" r:id="rId49"/>
    <p:sldId id="2947" r:id="rId50"/>
    <p:sldId id="2939" r:id="rId51"/>
    <p:sldId id="2945" r:id="rId52"/>
  </p:sldIdLst>
  <p:sldSz cx="10329863" cy="7254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285" userDrawn="1">
          <p15:clr>
            <a:srgbClr val="A4A3A4"/>
          </p15:clr>
        </p15:guide>
        <p15:guide id="2" pos="32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r Jung" initials="HJ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9424"/>
    <a:srgbClr val="DAE9F6"/>
    <a:srgbClr val="5D72AF"/>
    <a:srgbClr val="0DFF7A"/>
    <a:srgbClr val="BA8CDC"/>
    <a:srgbClr val="DAA600"/>
    <a:srgbClr val="0000FF"/>
    <a:srgbClr val="16365C"/>
    <a:srgbClr val="D9D9D9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1" autoAdjust="0"/>
    <p:restoredTop sz="97116" autoAdjust="0"/>
  </p:normalViewPr>
  <p:slideViewPr>
    <p:cSldViewPr>
      <p:cViewPr>
        <p:scale>
          <a:sx n="110" d="100"/>
          <a:sy n="110" d="100"/>
        </p:scale>
        <p:origin x="-1157" y="86"/>
      </p:cViewPr>
      <p:guideLst>
        <p:guide orient="horz" pos="2285"/>
        <p:guide pos="32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-15744"/>
    </p:cViewPr>
  </p:sorterViewPr>
  <p:notesViewPr>
    <p:cSldViewPr showGuides="1">
      <p:cViewPr varScale="1">
        <p:scale>
          <a:sx n="87" d="100"/>
          <a:sy n="87" d="100"/>
        </p:scale>
        <p:origin x="-3888" y="-96"/>
      </p:cViewPr>
      <p:guideLst>
        <p:guide orient="horz" pos="2880"/>
        <p:guide pos="217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9EB71-A8CC-4CAD-A17E-35132DC369D0}" type="datetimeFigureOut">
              <a:rPr lang="ko-KR" altLang="en-US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2024-04-15</a:t>
            </a:fld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3EB95-B03A-46EE-890F-081DFE61C113}" type="slidenum">
              <a:rPr lang="ko-KR" altLang="en-US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‹#›</a:t>
            </a:fld>
            <a:endParaRPr lang="ko-KR" altLang="en-US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3090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fld id="{6C0E67DC-0FE2-43B9-AB81-D2BDF7E63176}" type="datetimeFigureOut">
              <a:rPr lang="ko-KR" altLang="en-US" smtClean="0"/>
              <a:t>2024-04-15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31900" y="1143000"/>
            <a:ext cx="4394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1pPr>
          </a:lstStyle>
          <a:p>
            <a:fld id="{710FE0BF-41A0-4552-84FA-4B709D1156C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3245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CJK KR Regular" panose="020B0500000000000000" pitchFamily="34" charset="-127"/>
        <a:ea typeface="Noto Sans CJK KR Regular" panose="020B0500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FE0BF-41A0-4552-84FA-4B709D1156C1}" type="slidenum">
              <a:rPr lang="ko-KR" altLang="en-US" smtClean="0"/>
              <a:t>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29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39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49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50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4175" y="444500"/>
            <a:ext cx="6113463" cy="42926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5D815-97F9-4B6D-9F4E-F48F950660DC}" type="slidenum">
              <a:rPr lang="ko-KR" altLang="en-US" smtClean="0"/>
              <a:t>51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>
          <a:xfrm>
            <a:off x="0" y="0"/>
            <a:ext cx="10329863" cy="7254875"/>
          </a:xfrm>
          <a:prstGeom prst="rect">
            <a:avLst/>
          </a:prstGeom>
          <a:solidFill>
            <a:srgbClr val="257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 userDrawn="1"/>
        </p:nvSpPr>
        <p:spPr>
          <a:xfrm>
            <a:off x="-1" y="3631224"/>
            <a:ext cx="10329864" cy="3623652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2149547" y="6623452"/>
            <a:ext cx="2151792" cy="3414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>
                <a:solidFill>
                  <a:srgbClr val="057CB8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z="1600" dirty="0">
                <a:solidFill>
                  <a:srgbClr val="257CC0"/>
                </a:solidFill>
                <a:latin typeface="+mj-ea"/>
                <a:ea typeface="+mj-ea"/>
              </a:rPr>
              <a:t>작성자 </a:t>
            </a:r>
            <a:r>
              <a:rPr lang="en-US" altLang="ko-KR" sz="1600" dirty="0">
                <a:solidFill>
                  <a:srgbClr val="257CC0"/>
                </a:solidFill>
                <a:latin typeface="+mj-ea"/>
                <a:ea typeface="+mj-ea"/>
              </a:rPr>
              <a:t>: </a:t>
            </a:r>
            <a:r>
              <a:rPr lang="ko-KR" altLang="en-US" sz="1600" dirty="0">
                <a:solidFill>
                  <a:srgbClr val="257CC0"/>
                </a:solidFill>
                <a:latin typeface="+mj-ea"/>
                <a:ea typeface="+mj-ea"/>
              </a:rPr>
              <a:t>홍길동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311694" y="3879850"/>
            <a:ext cx="5750701" cy="2542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0">
                <a:solidFill>
                  <a:srgbClr val="52B9E9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부 제목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11694" y="6623452"/>
            <a:ext cx="1604766" cy="3414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00" b="1">
                <a:solidFill>
                  <a:srgbClr val="057CB8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sz="1600" dirty="0">
                <a:solidFill>
                  <a:srgbClr val="257CC0"/>
                </a:solidFill>
                <a:latin typeface="+mj-ea"/>
                <a:ea typeface="+mj-ea"/>
              </a:rPr>
              <a:t>2020. 01. 01</a:t>
            </a:r>
            <a:endParaRPr lang="ko-KR" altLang="en-US" sz="1600" dirty="0">
              <a:solidFill>
                <a:srgbClr val="257CC0"/>
              </a:solidFill>
              <a:latin typeface="+mj-ea"/>
              <a:ea typeface="+mj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11695" y="2582863"/>
            <a:ext cx="6101806" cy="828675"/>
          </a:xfrm>
          <a:prstGeom prst="rect">
            <a:avLst/>
          </a:prstGeom>
        </p:spPr>
        <p:txBody>
          <a:bodyPr anchor="b" anchorCtr="0"/>
          <a:lstStyle>
            <a:lvl1pPr>
              <a:defRPr lang="ko-KR" alt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대 제목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02769" y="819150"/>
            <a:ext cx="9923894" cy="6084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graphicFrame>
        <p:nvGraphicFramePr>
          <p:cNvPr id="5" name="Group 1502"/>
          <p:cNvGraphicFramePr/>
          <p:nvPr userDrawn="1"/>
        </p:nvGraphicFramePr>
        <p:xfrm>
          <a:off x="205515" y="830760"/>
          <a:ext cx="9921149" cy="6073278"/>
        </p:xfrm>
        <a:graphic>
          <a:graphicData uri="http://schemas.openxmlformats.org/drawingml/2006/table">
            <a:tbl>
              <a:tblPr/>
              <a:tblGrid>
                <a:gridCol w="1252722"/>
                <a:gridCol w="1286261"/>
                <a:gridCol w="6149570"/>
                <a:gridCol w="1232596"/>
              </a:tblGrid>
              <a:tr h="37764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anose="02020603050405020304" pitchFamily="18" charset="0"/>
                        </a:rPr>
                        <a:t>문서 개정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anose="02020603050405020304" pitchFamily="18" charset="0"/>
                        </a:rPr>
                        <a:t>이력표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34160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anose="02020603050405020304" pitchFamily="18" charset="0"/>
                        </a:rPr>
                        <a:t>문서명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3398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anose="02020603050405020304" pitchFamily="18" charset="0"/>
                        </a:rPr>
                        <a:t>버전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anose="02020603050405020304" pitchFamily="18" charset="0"/>
                        </a:rPr>
                        <a:t>날짜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anose="02020603050405020304" pitchFamily="18" charset="0"/>
                        </a:rPr>
                        <a:t>내용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entury Gothic" pitchFamily="34" charset="0"/>
                          <a:ea typeface="Noto Sans CJK KR Regular" panose="020B0500000000000000" pitchFamily="34" charset="-127"/>
                          <a:cs typeface="Times New Roman" panose="02020603050405020304" pitchFamily="18" charset="0"/>
                        </a:rPr>
                        <a:t>작성자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50141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rgbClr val="333333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entury Gothic" pitchFamily="34" charset="0"/>
                        <a:ea typeface="Noto Sans CJK KR Regular" panose="020B0500000000000000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텍스트 개체 틀 3"/>
          <p:cNvSpPr>
            <a:spLocks noGrp="1"/>
          </p:cNvSpPr>
          <p:nvPr>
            <p:ph type="body" sz="quarter" idx="14" hasCustomPrompt="1"/>
          </p:nvPr>
        </p:nvSpPr>
        <p:spPr>
          <a:xfrm>
            <a:off x="2752663" y="1221059"/>
            <a:ext cx="7380350" cy="318145"/>
          </a:xfrm>
          <a:prstGeom prst="rect">
            <a:avLst/>
          </a:prstGeom>
        </p:spPr>
        <p:txBody>
          <a:bodyPr lIns="72000" tIns="36000" rIns="36000" bIns="36000" anchor="ctr" anchorCtr="0">
            <a:noAutofit/>
          </a:bodyPr>
          <a:lstStyle>
            <a:lvl1pPr marL="0" indent="0">
              <a:buFontTx/>
              <a:buNone/>
              <a:defRPr sz="1000">
                <a:latin typeface="+mn-ea"/>
                <a:ea typeface="+mn-ea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문서명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482240" y="2267422"/>
            <a:ext cx="3394810" cy="4078003"/>
          </a:xfrm>
          <a:prstGeom prst="rect">
            <a:avLst/>
          </a:prstGeom>
        </p:spPr>
        <p:txBody>
          <a:bodyPr/>
          <a:lstStyle>
            <a:lvl1pPr marL="180975" indent="-180975">
              <a:buAutoNum type="arabicPeriod"/>
              <a:defRPr sz="24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 제목 입력 요망</a:t>
            </a:r>
            <a:endParaRPr lang="en-US" altLang="ko-KR" dirty="0"/>
          </a:p>
          <a:p>
            <a:pPr lvl="0"/>
            <a:r>
              <a:rPr lang="ko-KR" altLang="en-US" dirty="0"/>
              <a:t>소 제목 입력 요망</a:t>
            </a:r>
            <a:endParaRPr lang="en-US" altLang="ko-KR" dirty="0"/>
          </a:p>
          <a:p>
            <a:pPr lvl="0"/>
            <a:r>
              <a:rPr lang="ko-KR" altLang="en-US" dirty="0"/>
              <a:t>소 제목 입력 요망</a:t>
            </a:r>
            <a:endParaRPr lang="en-US" altLang="ko-KR" dirty="0"/>
          </a:p>
          <a:p>
            <a:pPr lvl="0"/>
            <a:r>
              <a:rPr lang="ko-KR" altLang="en-US" dirty="0"/>
              <a:t>소 제목 입력 요망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8900" y="269051"/>
            <a:ext cx="9855200" cy="332416"/>
          </a:xfrm>
          <a:prstGeom prst="rect">
            <a:avLst/>
          </a:prstGeom>
        </p:spPr>
        <p:txBody>
          <a:bodyPr tIns="0" bIns="0" anchor="b" anchorCtr="0"/>
          <a:lstStyle>
            <a:lvl1pPr>
              <a:defRPr lang="ko-KR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소 제목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-180975" y="-152400"/>
            <a:ext cx="10691814" cy="7559676"/>
          </a:xfrm>
          <a:prstGeom prst="rect">
            <a:avLst/>
          </a:prstGeom>
          <a:gradFill flip="none" rotWithShape="1">
            <a:gsLst>
              <a:gs pos="0">
                <a:srgbClr val="F4FBFE"/>
              </a:gs>
              <a:gs pos="100000">
                <a:srgbClr val="52B9E9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67460"/>
            <a:endParaRPr lang="ko-KR" altLang="en-US" sz="27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A6BC"/>
              </a:solidFill>
              <a:latin typeface="KoPub돋움체 Light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Rectangle 1"/>
          <p:cNvSpPr/>
          <p:nvPr userDrawn="1"/>
        </p:nvSpPr>
        <p:spPr>
          <a:xfrm rot="5400000">
            <a:off x="6564673" y="3461110"/>
            <a:ext cx="7559676" cy="33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3851171" y="2190750"/>
            <a:ext cx="2291024" cy="0"/>
          </a:xfrm>
          <a:prstGeom prst="line">
            <a:avLst/>
          </a:prstGeom>
          <a:ln>
            <a:solidFill>
              <a:srgbClr val="58BC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6148544" y="1974454"/>
            <a:ext cx="3336769" cy="4078003"/>
          </a:xfrm>
          <a:prstGeom prst="rect">
            <a:avLst/>
          </a:prstGeom>
        </p:spPr>
        <p:txBody>
          <a:bodyPr/>
          <a:lstStyle>
            <a:lvl1pPr marL="180975" indent="-180975">
              <a:buAutoNum type="arabicPeriod"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 hasCustomPrompt="1"/>
          </p:nvPr>
        </p:nvSpPr>
        <p:spPr>
          <a:xfrm>
            <a:off x="709612" y="1982472"/>
            <a:ext cx="3141559" cy="345495"/>
          </a:xfrm>
          <a:prstGeom prst="rect">
            <a:avLst/>
          </a:prstGeom>
        </p:spPr>
        <p:txBody>
          <a:bodyPr lIns="0" tIns="0" rIns="0" bIns="0"/>
          <a:lstStyle>
            <a:lvl1pPr>
              <a:defRPr lang="ko-KR" altLang="en-US" sz="2800" b="1">
                <a:solidFill>
                  <a:srgbClr val="0D3B7B"/>
                </a:solidFill>
                <a:latin typeface="+mj-ea"/>
                <a:cs typeface="+mn-cs"/>
              </a:defRPr>
            </a:lvl1pPr>
          </a:lstStyle>
          <a:p>
            <a:pPr lvl="0"/>
            <a:r>
              <a:rPr lang="ko-KR" altLang="en-US" dirty="0"/>
              <a:t>대 제목 입력 요망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-180975" y="-152400"/>
            <a:ext cx="10691814" cy="7559676"/>
          </a:xfrm>
          <a:prstGeom prst="rect">
            <a:avLst/>
          </a:prstGeom>
          <a:gradFill flip="none" rotWithShape="1">
            <a:gsLst>
              <a:gs pos="0">
                <a:srgbClr val="F4FBFE"/>
              </a:gs>
              <a:gs pos="100000">
                <a:srgbClr val="52B9E9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67460"/>
            <a:endParaRPr lang="ko-KR" altLang="en-US" sz="275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0A6BC"/>
              </a:solidFill>
              <a:latin typeface="KoPub돋움체 Light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Rectangle 1"/>
          <p:cNvSpPr/>
          <p:nvPr userDrawn="1"/>
        </p:nvSpPr>
        <p:spPr>
          <a:xfrm rot="5400000">
            <a:off x="6564673" y="3461110"/>
            <a:ext cx="7559676" cy="33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5524973" y="1974454"/>
            <a:ext cx="3552791" cy="4533301"/>
          </a:xfrm>
          <a:prstGeom prst="rect">
            <a:avLst/>
          </a:prstGeom>
        </p:spPr>
        <p:txBody>
          <a:bodyPr/>
          <a:lstStyle>
            <a:lvl1pPr marL="180975" indent="-180975">
              <a:buAutoNum type="arabicPeriod"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 hasCustomPrompt="1"/>
          </p:nvPr>
        </p:nvSpPr>
        <p:spPr>
          <a:xfrm>
            <a:off x="3600348" y="1208522"/>
            <a:ext cx="3141559" cy="34549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lang="ko-KR" altLang="en-US" sz="2800" b="1">
                <a:solidFill>
                  <a:srgbClr val="0D3B7B"/>
                </a:solidFill>
                <a:latin typeface="+mj-ea"/>
                <a:cs typeface="+mn-cs"/>
              </a:defRPr>
            </a:lvl1pPr>
          </a:lstStyle>
          <a:p>
            <a:pPr lvl="0"/>
            <a:r>
              <a:rPr lang="ko-KR" altLang="en-US" dirty="0"/>
              <a:t>대 제목 입력 요망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468122" y="1974454"/>
            <a:ext cx="3336769" cy="4533301"/>
          </a:xfrm>
          <a:prstGeom prst="rect">
            <a:avLst/>
          </a:prstGeom>
        </p:spPr>
        <p:txBody>
          <a:bodyPr/>
          <a:lstStyle>
            <a:lvl1pPr marL="180975" indent="-180975">
              <a:buAutoNum type="arabicPeriod"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  <a:endParaRPr lang="en-US" altLang="ko-KR" dirty="0"/>
          </a:p>
          <a:p>
            <a:pPr lvl="0"/>
            <a:r>
              <a:rPr lang="ko-KR" altLang="en-US" dirty="0"/>
              <a:t>소 제목</a:t>
            </a:r>
          </a:p>
        </p:txBody>
      </p:sp>
      <p:cxnSp>
        <p:nvCxnSpPr>
          <p:cNvPr id="7" name="연결선: 꺾임 6"/>
          <p:cNvCxnSpPr>
            <a:stCxn id="3" idx="2"/>
            <a:endCxn id="10" idx="0"/>
          </p:cNvCxnSpPr>
          <p:nvPr userDrawn="1"/>
        </p:nvCxnSpPr>
        <p:spPr>
          <a:xfrm rot="5400000">
            <a:off x="4076204" y="882859"/>
            <a:ext cx="423767" cy="176608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 userDrawn="1"/>
        </p:nvSpPr>
        <p:spPr>
          <a:xfrm>
            <a:off x="3265339" y="1977784"/>
            <a:ext cx="279412" cy="36351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 userDrawn="1"/>
        </p:nvSpPr>
        <p:spPr>
          <a:xfrm>
            <a:off x="6602108" y="1977784"/>
            <a:ext cx="279412" cy="36351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꺾임 16"/>
          <p:cNvCxnSpPr>
            <a:stCxn id="3" idx="2"/>
            <a:endCxn id="16" idx="0"/>
          </p:cNvCxnSpPr>
          <p:nvPr userDrawn="1"/>
        </p:nvCxnSpPr>
        <p:spPr>
          <a:xfrm rot="16200000" flipH="1">
            <a:off x="5744588" y="980557"/>
            <a:ext cx="423767" cy="157068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02769" y="1574800"/>
            <a:ext cx="9923894" cy="5329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5794" y="1206500"/>
            <a:ext cx="10037219" cy="3414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57CB8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z="1600" dirty="0">
                <a:solidFill>
                  <a:srgbClr val="057CB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</a:t>
            </a:r>
            <a:r>
              <a:rPr lang="ko-KR" altLang="en-US" dirty="0"/>
              <a:t>마스터 제목 스타일 편집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5794" y="823323"/>
            <a:ext cx="10037219" cy="345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1.</a:t>
            </a:r>
            <a:r>
              <a:rPr lang="ko-KR" altLang="en-US" dirty="0"/>
              <a:t>마스터 제목 스타일 편집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02769" y="1214438"/>
            <a:ext cx="9923894" cy="568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5794" y="823323"/>
            <a:ext cx="10037219" cy="345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1.</a:t>
            </a:r>
            <a:r>
              <a:rPr lang="ko-KR" altLang="en-US" dirty="0"/>
              <a:t>마스터 제목 스타일 편집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02769" y="819150"/>
            <a:ext cx="9923894" cy="6084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5794" y="823323"/>
            <a:ext cx="10037219" cy="345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D3B7B"/>
                </a:solidFill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1.</a:t>
            </a:r>
            <a:r>
              <a:rPr lang="ko-KR" altLang="en-US" dirty="0"/>
              <a:t>마스터 제목 스타일 편집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/>
          <p:cNvSpPr/>
          <p:nvPr userDrawn="1"/>
        </p:nvSpPr>
        <p:spPr>
          <a:xfrm flipH="1">
            <a:off x="5263945" y="1466850"/>
            <a:ext cx="4869068" cy="5437188"/>
          </a:xfrm>
          <a:prstGeom prst="rect">
            <a:avLst/>
          </a:prstGeom>
          <a:solidFill>
            <a:schemeClr val="bg1"/>
          </a:solidFill>
          <a:ln w="3175">
            <a:solidFill>
              <a:srgbClr val="00295B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263944" y="1827214"/>
            <a:ext cx="4869069" cy="5076824"/>
          </a:xfrm>
          <a:prstGeom prst="rect">
            <a:avLst/>
          </a:prstGeom>
        </p:spPr>
        <p:txBody>
          <a:bodyPr lIns="108000" tIns="72000" rIns="72000" bIns="36000"/>
          <a:lstStyle>
            <a:lvl1pPr>
              <a:defRPr lang="ko-KR" altLang="en-US" sz="1400" dirty="0">
                <a:latin typeface="+mn-ea"/>
                <a:ea typeface="+mn-ea"/>
              </a:defRPr>
            </a:lvl1pPr>
          </a:lstStyle>
          <a:p>
            <a:pPr marL="0" lvl="0" indent="0">
              <a:buNone/>
            </a:pPr>
            <a:r>
              <a:rPr lang="ko-KR" altLang="en-US" dirty="0"/>
              <a:t>마스터 텍스트 스타일 편집</a:t>
            </a:r>
          </a:p>
        </p:txBody>
      </p:sp>
      <p:sp>
        <p:nvSpPr>
          <p:cNvPr id="8" name="직사각형 7"/>
          <p:cNvSpPr/>
          <p:nvPr userDrawn="1"/>
        </p:nvSpPr>
        <p:spPr>
          <a:xfrm flipH="1">
            <a:off x="196850" y="1467650"/>
            <a:ext cx="4869068" cy="5437188"/>
          </a:xfrm>
          <a:prstGeom prst="rect">
            <a:avLst/>
          </a:prstGeom>
          <a:solidFill>
            <a:schemeClr val="bg1"/>
          </a:solidFill>
          <a:ln w="3175">
            <a:solidFill>
              <a:srgbClr val="00295B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9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196849" y="1828016"/>
            <a:ext cx="4869069" cy="5076007"/>
          </a:xfrm>
          <a:prstGeom prst="rect">
            <a:avLst/>
          </a:prstGeom>
        </p:spPr>
        <p:txBody>
          <a:bodyPr lIns="108000" tIns="72000" rIns="72000" bIns="36000"/>
          <a:lstStyle>
            <a:lvl1pPr marL="0" indent="0">
              <a:buNone/>
              <a:defRPr sz="1400">
                <a:solidFill>
                  <a:schemeClr val="tx1"/>
                </a:solidFill>
                <a:latin typeface="+mn-ea"/>
                <a:ea typeface="+mn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1" name="사각형: 둥근 모서리 10"/>
          <p:cNvSpPr/>
          <p:nvPr userDrawn="1"/>
        </p:nvSpPr>
        <p:spPr>
          <a:xfrm>
            <a:off x="6489305" y="1287177"/>
            <a:ext cx="2394284" cy="452700"/>
          </a:xfrm>
          <a:prstGeom prst="roundRect">
            <a:avLst/>
          </a:prstGeom>
          <a:gradFill flip="none" rotWithShape="1">
            <a:gsLst>
              <a:gs pos="50000">
                <a:srgbClr val="002553"/>
              </a:gs>
              <a:gs pos="0">
                <a:srgbClr val="00357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201" tIns="41601" rIns="83201" bIns="41601" numCol="1" spcCol="0" rtlCol="0" fromWordArt="0" anchor="ctr" anchorCtr="0" forceAA="0" compatLnSpc="1">
            <a:noAutofit/>
          </a:bodyPr>
          <a:lstStyle/>
          <a:p>
            <a:pPr lvl="0" algn="ctr"/>
            <a:endParaRPr lang="ko-KR" altLang="en-US" sz="1600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6536491" y="1352971"/>
            <a:ext cx="2299912" cy="3211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3" name="사각형: 둥근 모서리 12"/>
          <p:cNvSpPr/>
          <p:nvPr userDrawn="1"/>
        </p:nvSpPr>
        <p:spPr>
          <a:xfrm>
            <a:off x="1446274" y="1287977"/>
            <a:ext cx="2394284" cy="452700"/>
          </a:xfrm>
          <a:prstGeom prst="roundRect">
            <a:avLst/>
          </a:prstGeom>
          <a:gradFill flip="none" rotWithShape="1">
            <a:gsLst>
              <a:gs pos="50000">
                <a:srgbClr val="002553"/>
              </a:gs>
              <a:gs pos="0">
                <a:srgbClr val="00357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3201" tIns="41601" rIns="83201" bIns="41601" numCol="1" spcCol="0" rtlCol="0" fromWordArt="0" anchor="ctr" anchorCtr="0" forceAA="0" compatLnSpc="1">
            <a:noAutofit/>
          </a:bodyPr>
          <a:lstStyle/>
          <a:p>
            <a:pPr lvl="0" algn="ctr"/>
            <a:endParaRPr lang="ko-KR" altLang="en-US" sz="1600" b="1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1493460" y="1353771"/>
            <a:ext cx="2299912" cy="321112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63"/>
          <p:cNvGraphicFramePr>
            <a:graphicFrameLocks noGrp="1"/>
          </p:cNvGraphicFramePr>
          <p:nvPr userDrawn="1"/>
        </p:nvGraphicFramePr>
        <p:xfrm>
          <a:off x="196851" y="819149"/>
          <a:ext cx="9936163" cy="6084652"/>
        </p:xfrm>
        <a:graphic>
          <a:graphicData uri="http://schemas.openxmlformats.org/drawingml/2006/table">
            <a:tbl>
              <a:tblPr/>
              <a:tblGrid>
                <a:gridCol w="1242860"/>
                <a:gridCol w="1925020"/>
                <a:gridCol w="576064"/>
                <a:gridCol w="864096"/>
                <a:gridCol w="720080"/>
                <a:gridCol w="1440160"/>
                <a:gridCol w="576064"/>
                <a:gridCol w="144016"/>
                <a:gridCol w="904306"/>
                <a:gridCol w="535773"/>
                <a:gridCol w="1007724"/>
              </a:tblGrid>
              <a:tr h="285276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기능설명서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화면</a:t>
                      </a: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ID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시스템명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작성일자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화면설명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318326">
                <a:tc rowSpan="2" gridSpan="7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주요항목 및 기능</a:t>
                      </a:r>
                      <a:endParaRPr lang="ko-KR" altLang="en-US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4959204">
                <a:tc gridSpan="7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108000" marR="180000" marT="180000" marB="180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9122401" y="1102584"/>
            <a:ext cx="1010611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작성자</a:t>
            </a:r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1450435" y="1373546"/>
            <a:ext cx="8642549" cy="239656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화면설명</a:t>
            </a:r>
          </a:p>
        </p:txBody>
      </p:sp>
      <p:sp>
        <p:nvSpPr>
          <p:cNvPr id="12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7554351" y="1963543"/>
            <a:ext cx="2572768" cy="4622800"/>
          </a:xfrm>
          <a:prstGeom prst="rect">
            <a:avLst/>
          </a:prstGeom>
        </p:spPr>
        <p:txBody>
          <a:bodyPr lIns="72000" tIns="36000" rIns="36000" bIns="36000">
            <a:normAutofit/>
          </a:bodyPr>
          <a:lstStyle>
            <a:lvl1pPr marL="176530" indent="-176530">
              <a:lnSpc>
                <a:spcPct val="12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1pPr>
            <a:lvl2pPr marL="358775" indent="-182880">
              <a:lnSpc>
                <a:spcPct val="120000"/>
              </a:lnSpc>
              <a:spcBef>
                <a:spcPts val="200"/>
              </a:spcBef>
              <a:buFont typeface="맑은 고딕" panose="020B0503020000020004" charset="-127"/>
              <a:buChar char="–"/>
              <a:defRPr sz="1000">
                <a:latin typeface="+mn-ea"/>
                <a:ea typeface="+mn-ea"/>
              </a:defRPr>
            </a:lvl2pPr>
            <a:lvl3pPr marL="535305" indent="-176530">
              <a:lnSpc>
                <a:spcPct val="110000"/>
              </a:lnSpc>
              <a:spcBef>
                <a:spcPts val="200"/>
              </a:spcBef>
              <a:buFont typeface="맑은 고딕" panose="020B0503020000020004" charset="-127"/>
              <a:buChar char="–"/>
              <a:defRPr sz="1000">
                <a:latin typeface="+mn-ea"/>
                <a:ea typeface="+mn-ea"/>
              </a:defRPr>
            </a:lvl3pPr>
            <a:lvl4pPr>
              <a:defRPr sz="1000">
                <a:latin typeface="+mn-ea"/>
                <a:ea typeface="+mn-ea"/>
              </a:defRPr>
            </a:lvl4pPr>
            <a:lvl5pPr>
              <a:defRPr sz="10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4" hasCustomPrompt="1"/>
          </p:nvPr>
        </p:nvSpPr>
        <p:spPr>
          <a:xfrm>
            <a:off x="1450436" y="1102584"/>
            <a:ext cx="2490359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화면명</a:t>
            </a:r>
            <a:endParaRPr lang="ko-KR" altLang="en-US" dirty="0"/>
          </a:p>
        </p:txBody>
      </p:sp>
      <p:sp>
        <p:nvSpPr>
          <p:cNvPr id="8" name="텍스트 개체 틀 3"/>
          <p:cNvSpPr>
            <a:spLocks noGrp="1"/>
          </p:cNvSpPr>
          <p:nvPr>
            <p:ph type="body" sz="quarter" idx="16" hasCustomPrompt="1"/>
          </p:nvPr>
        </p:nvSpPr>
        <p:spPr>
          <a:xfrm>
            <a:off x="7685211" y="1102584"/>
            <a:ext cx="888421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20" hasCustomPrompt="1"/>
          </p:nvPr>
        </p:nvSpPr>
        <p:spPr>
          <a:xfrm>
            <a:off x="5524971" y="1107157"/>
            <a:ext cx="1440160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 smtClean="0"/>
              <a:t>시스템명</a:t>
            </a:r>
            <a:endParaRPr lang="ko-KR" altLang="en-US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21" hasCustomPrompt="1"/>
          </p:nvPr>
        </p:nvSpPr>
        <p:spPr>
          <a:xfrm>
            <a:off x="3940795" y="1107157"/>
            <a:ext cx="864096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smtClean="0"/>
              <a:t>화면</a:t>
            </a:r>
            <a:r>
              <a:rPr lang="en-US" altLang="ko-KR" dirty="0" smtClean="0"/>
              <a:t>ID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363"/>
          <p:cNvGraphicFramePr>
            <a:graphicFrameLocks noGrp="1"/>
          </p:cNvGraphicFramePr>
          <p:nvPr userDrawn="1"/>
        </p:nvGraphicFramePr>
        <p:xfrm>
          <a:off x="196851" y="819149"/>
          <a:ext cx="9936163" cy="6089651"/>
        </p:xfrm>
        <a:graphic>
          <a:graphicData uri="http://schemas.openxmlformats.org/drawingml/2006/table">
            <a:tbl>
              <a:tblPr/>
              <a:tblGrid>
                <a:gridCol w="1242860"/>
                <a:gridCol w="2275778"/>
                <a:gridCol w="990929"/>
                <a:gridCol w="1751761"/>
                <a:gridCol w="838092"/>
                <a:gridCol w="1293246"/>
                <a:gridCol w="535773"/>
                <a:gridCol w="1007724"/>
              </a:tblGrid>
              <a:tr h="285276"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기능설명서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시스템명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작성일자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화면설명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5282529">
                <a:tc gridSpan="8">
                  <a:txBody>
                    <a:bodyPr/>
                    <a:lstStyle/>
                    <a:p>
                      <a:pPr marL="0" marR="0" lvl="0" indent="0" algn="l" defTabSz="35877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5250" y="206376"/>
            <a:ext cx="8910637" cy="395287"/>
          </a:xfrm>
          <a:prstGeom prst="rect">
            <a:avLst/>
          </a:prstGeom>
        </p:spPr>
        <p:txBody>
          <a:bodyPr bIns="0" anchor="b" anchorCtr="0"/>
          <a:lstStyle>
            <a:lvl1pPr>
              <a:defRPr lang="ko-KR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cs typeface="+mn-cs"/>
              </a:defRPr>
            </a:lvl1pPr>
          </a:lstStyle>
          <a:p>
            <a:pPr marL="0" lvl="0" indent="0">
              <a:spcBef>
                <a:spcPts val="106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4" hasCustomPrompt="1"/>
          </p:nvPr>
        </p:nvSpPr>
        <p:spPr>
          <a:xfrm>
            <a:off x="1450436" y="1102584"/>
            <a:ext cx="2250830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화면명</a:t>
            </a:r>
            <a:endParaRPr lang="ko-KR" altLang="en-US" dirty="0"/>
          </a:p>
        </p:txBody>
      </p:sp>
      <p:sp>
        <p:nvSpPr>
          <p:cNvPr id="8" name="텍스트 개체 틀 3"/>
          <p:cNvSpPr>
            <a:spLocks noGrp="1"/>
          </p:cNvSpPr>
          <p:nvPr>
            <p:ph type="body" sz="quarter" idx="16" hasCustomPrompt="1"/>
          </p:nvPr>
        </p:nvSpPr>
        <p:spPr>
          <a:xfrm>
            <a:off x="7292975" y="1102584"/>
            <a:ext cx="1280657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  <p:sp>
        <p:nvSpPr>
          <p:cNvPr id="9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9122401" y="1102584"/>
            <a:ext cx="1010611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작성자</a:t>
            </a:r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1450435" y="1373546"/>
            <a:ext cx="8642549" cy="239656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화면설명</a:t>
            </a:r>
          </a:p>
        </p:txBody>
      </p:sp>
      <p:sp>
        <p:nvSpPr>
          <p:cNvPr id="12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196850" y="1658061"/>
            <a:ext cx="9936162" cy="5258677"/>
          </a:xfrm>
          <a:prstGeom prst="rect">
            <a:avLst/>
          </a:prstGeom>
        </p:spPr>
        <p:txBody>
          <a:bodyPr lIns="72000" tIns="36000" rIns="36000" bIns="36000">
            <a:normAutofit/>
          </a:bodyPr>
          <a:lstStyle>
            <a:lvl1pPr marL="176530" indent="-176530">
              <a:lnSpc>
                <a:spcPct val="11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1pPr>
            <a:lvl2pPr marL="358775" indent="-182880">
              <a:lnSpc>
                <a:spcPct val="110000"/>
              </a:lnSpc>
              <a:spcBef>
                <a:spcPts val="200"/>
              </a:spcBef>
              <a:buFont typeface="맑은 고딕" panose="020B0503020000020004" charset="-127"/>
              <a:buChar char="–"/>
              <a:defRPr sz="1000">
                <a:latin typeface="+mn-ea"/>
                <a:ea typeface="+mn-ea"/>
              </a:defRPr>
            </a:lvl2pPr>
            <a:lvl3pPr marL="535305" indent="-176530">
              <a:lnSpc>
                <a:spcPct val="110000"/>
              </a:lnSpc>
              <a:spcBef>
                <a:spcPts val="200"/>
              </a:spcBef>
              <a:buFont typeface="맑은 고딕" panose="020B0503020000020004" charset="-127"/>
              <a:buChar char="–"/>
              <a:defRPr sz="1000">
                <a:latin typeface="+mn-ea"/>
                <a:ea typeface="+mn-ea"/>
              </a:defRPr>
            </a:lvl3pPr>
            <a:lvl4pPr>
              <a:defRPr sz="1000">
                <a:latin typeface="+mn-ea"/>
                <a:ea typeface="+mn-ea"/>
              </a:defRPr>
            </a:lvl4pPr>
            <a:lvl5pPr>
              <a:defRPr sz="10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20" hasCustomPrompt="1"/>
          </p:nvPr>
        </p:nvSpPr>
        <p:spPr>
          <a:xfrm>
            <a:off x="4725441" y="1102584"/>
            <a:ext cx="1726159" cy="259342"/>
          </a:xfrm>
          <a:prstGeom prst="rect">
            <a:avLst/>
          </a:prstGeom>
        </p:spPr>
        <p:txBody>
          <a:bodyPr lIns="72000" tIns="0" rIns="72000" bIns="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시스템명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-1" y="-10691"/>
            <a:ext cx="10329863" cy="7254875"/>
          </a:xfrm>
          <a:prstGeom prst="rect">
            <a:avLst/>
          </a:prstGeom>
          <a:solidFill>
            <a:srgbClr val="EEF0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 Placeholder 2"/>
          <p:cNvSpPr>
            <a:spLocks noGrp="1"/>
          </p:cNvSpPr>
          <p:nvPr userDrawn="1">
            <p:ph type="body" idx="12" hasCustomPrompt="1"/>
          </p:nvPr>
        </p:nvSpPr>
        <p:spPr>
          <a:xfrm>
            <a:off x="2300612" y="3949734"/>
            <a:ext cx="5750701" cy="7919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600" b="0" i="1">
                <a:solidFill>
                  <a:schemeClr val="bg1"/>
                </a:solidFill>
                <a:effectLst/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Thank You!</a:t>
            </a:r>
            <a:endParaRPr lang="ko-KR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1669" y="99045"/>
            <a:ext cx="821060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131139" y="178087"/>
            <a:ext cx="10037219" cy="345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1.</a:t>
            </a:r>
            <a:r>
              <a:rPr lang="ko-KR" altLang="en-US" dirty="0"/>
              <a:t>마스터 제목 스타일 편집</a:t>
            </a:r>
          </a:p>
        </p:txBody>
      </p:sp>
      <p:graphicFrame>
        <p:nvGraphicFramePr>
          <p:cNvPr id="11" name="Group 363"/>
          <p:cNvGraphicFramePr>
            <a:graphicFrameLocks noGrp="1"/>
          </p:cNvGraphicFramePr>
          <p:nvPr userDrawn="1"/>
        </p:nvGraphicFramePr>
        <p:xfrm>
          <a:off x="200404" y="927100"/>
          <a:ext cx="9936162" cy="5976938"/>
        </p:xfrm>
        <a:graphic>
          <a:graphicData uri="http://schemas.openxmlformats.org/drawingml/2006/table">
            <a:tbl>
              <a:tblPr/>
              <a:tblGrid>
                <a:gridCol w="1242860"/>
                <a:gridCol w="2275778"/>
                <a:gridCol w="990929"/>
                <a:gridCol w="1751761"/>
                <a:gridCol w="838092"/>
                <a:gridCol w="170359"/>
                <a:gridCol w="1122887"/>
                <a:gridCol w="535773"/>
                <a:gridCol w="1007723"/>
              </a:tblGrid>
              <a:tr h="294184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기능설명서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269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시스템명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작성일자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화면설명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328265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상세 설명</a:t>
                      </a:r>
                      <a:endParaRPr lang="ko-KR" altLang="en-US" dirty="0">
                        <a:latin typeface="Noto Sans CJK KR Regular" panose="020B0500000000000000" pitchFamily="3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4816349">
                <a:tc gridSpan="6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 marL="108000" marR="180000" marT="180000" marB="180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oto Sans CJK KR Regular" panose="020B0500000000000000" pitchFamily="34" charset="-127"/>
                      </a:endParaRPr>
                    </a:p>
                  </a:txBody>
                  <a:tcPr marL="108000" marR="180000" marT="180000" marB="180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텍스트 개체 틀 3"/>
          <p:cNvSpPr>
            <a:spLocks noGrp="1"/>
          </p:cNvSpPr>
          <p:nvPr>
            <p:ph type="body" sz="quarter" idx="14" hasCustomPrompt="1"/>
          </p:nvPr>
        </p:nvSpPr>
        <p:spPr>
          <a:xfrm>
            <a:off x="1450436" y="1204999"/>
            <a:ext cx="2250830" cy="259342"/>
          </a:xfrm>
          <a:prstGeom prst="rect">
            <a:avLst/>
          </a:prstGeom>
        </p:spPr>
        <p:txBody>
          <a:bodyPr lIns="72000" tIns="36000" rIns="36000" bIns="0" anchor="ctr" anchorCtr="0">
            <a:noAutofit/>
          </a:bodyPr>
          <a:lstStyle>
            <a:lvl1pPr marL="0" indent="0">
              <a:buFontTx/>
              <a:buNone/>
              <a:defRPr sz="1000">
                <a:latin typeface="Noto Sans CJK KR Regular" panose="020B0500000000000000" pitchFamily="34" charset="-127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화면명</a:t>
            </a:r>
            <a:endParaRPr lang="ko-KR" altLang="en-US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16" hasCustomPrompt="1"/>
          </p:nvPr>
        </p:nvSpPr>
        <p:spPr>
          <a:xfrm>
            <a:off x="7292975" y="1204999"/>
            <a:ext cx="1280657" cy="259342"/>
          </a:xfrm>
          <a:prstGeom prst="rect">
            <a:avLst/>
          </a:prstGeom>
        </p:spPr>
        <p:txBody>
          <a:bodyPr lIns="72000" tIns="36000" rIns="36000" bIns="0" anchor="ctr" anchorCtr="0">
            <a:noAutofit/>
          </a:bodyPr>
          <a:lstStyle>
            <a:lvl1pPr marL="0" indent="0">
              <a:buFontTx/>
              <a:buNone/>
              <a:defRPr sz="1000">
                <a:latin typeface="Noto Sans CJK KR Regular" panose="020B0500000000000000" pitchFamily="34" charset="-127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마스터 작성일자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9122401" y="1204999"/>
            <a:ext cx="1010611" cy="259342"/>
          </a:xfrm>
          <a:prstGeom prst="rect">
            <a:avLst/>
          </a:prstGeom>
        </p:spPr>
        <p:txBody>
          <a:bodyPr lIns="72000" tIns="36000" rIns="36000" bIns="0" anchor="ctr" anchorCtr="0">
            <a:noAutofit/>
          </a:bodyPr>
          <a:lstStyle>
            <a:lvl1pPr marL="0" indent="0">
              <a:buFontTx/>
              <a:buNone/>
              <a:defRPr sz="1000">
                <a:latin typeface="Noto Sans CJK KR Regular" panose="020B0500000000000000" pitchFamily="34" charset="-127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마스터 작성자</a:t>
            </a: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1450435" y="1482311"/>
            <a:ext cx="8642549" cy="259930"/>
          </a:xfrm>
          <a:prstGeom prst="rect">
            <a:avLst/>
          </a:prstGeom>
        </p:spPr>
        <p:txBody>
          <a:bodyPr lIns="72000" tIns="36000" rIns="36000" bIns="0" anchor="ctr" anchorCtr="0">
            <a:noAutofit/>
          </a:bodyPr>
          <a:lstStyle>
            <a:lvl1pPr marL="0" indent="0">
              <a:buFontTx/>
              <a:buNone/>
              <a:defRPr sz="1000">
                <a:latin typeface="Noto Sans CJK KR Regular" panose="020B0500000000000000" pitchFamily="34" charset="-127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화면설명</a:t>
            </a:r>
          </a:p>
        </p:txBody>
      </p:sp>
      <p:sp>
        <p:nvSpPr>
          <p:cNvPr id="16" name="텍스트 개체 틀 5"/>
          <p:cNvSpPr>
            <a:spLocks noGrp="1"/>
          </p:cNvSpPr>
          <p:nvPr>
            <p:ph type="body" sz="quarter" idx="19" hasCustomPrompt="1"/>
          </p:nvPr>
        </p:nvSpPr>
        <p:spPr>
          <a:xfrm>
            <a:off x="7454685" y="2069310"/>
            <a:ext cx="2638299" cy="4834728"/>
          </a:xfrm>
          <a:prstGeom prst="rect">
            <a:avLst/>
          </a:prstGeom>
        </p:spPr>
        <p:txBody>
          <a:bodyPr lIns="72000" tIns="36000" rIns="36000" bIns="36000">
            <a:normAutofit/>
          </a:bodyPr>
          <a:lstStyle>
            <a:lvl1pPr marL="176530" indent="-176530">
              <a:lnSpc>
                <a:spcPct val="11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1pPr>
            <a:lvl2pPr marL="358775" indent="-182880">
              <a:lnSpc>
                <a:spcPct val="11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2pPr>
            <a:lvl3pPr marL="535305" indent="-176530">
              <a:lnSpc>
                <a:spcPct val="110000"/>
              </a:lnSpc>
              <a:spcBef>
                <a:spcPts val="200"/>
              </a:spcBef>
              <a:defRPr sz="1000">
                <a:latin typeface="+mn-ea"/>
                <a:ea typeface="+mn-ea"/>
              </a:defRPr>
            </a:lvl3pPr>
            <a:lvl4pPr>
              <a:defRPr sz="1000">
                <a:latin typeface="+mn-ea"/>
                <a:ea typeface="+mn-ea"/>
              </a:defRPr>
            </a:lvl4pPr>
            <a:lvl5pPr>
              <a:defRPr sz="10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20" hasCustomPrompt="1"/>
          </p:nvPr>
        </p:nvSpPr>
        <p:spPr>
          <a:xfrm>
            <a:off x="4711700" y="1204913"/>
            <a:ext cx="1735138" cy="277812"/>
          </a:xfrm>
          <a:prstGeom prst="rect">
            <a:avLst/>
          </a:prstGeom>
        </p:spPr>
        <p:txBody>
          <a:bodyPr lIns="72000" tIns="36000" rIns="36000" bIns="0" anchor="ctr" anchorCtr="0">
            <a:noAutofit/>
          </a:bodyPr>
          <a:lstStyle>
            <a:lvl1pPr>
              <a:defRPr lang="ko-KR" altLang="en-US" sz="1000" dirty="0" smtClean="0">
                <a:latin typeface="Noto Sans CJK KR Regular" panose="020B0500000000000000" pitchFamily="34" charset="-127"/>
              </a:defRPr>
            </a:lvl1pPr>
            <a:lvl2pPr>
              <a:defRPr lang="ko-KR" altLang="en-US" sz="1000" dirty="0" smtClean="0"/>
            </a:lvl2pPr>
            <a:lvl3pPr>
              <a:defRPr lang="ko-KR" altLang="en-US" sz="1000" dirty="0" smtClean="0"/>
            </a:lvl3pPr>
            <a:lvl4pPr>
              <a:defRPr lang="ko-KR" altLang="en-US" sz="1000" dirty="0" smtClean="0"/>
            </a:lvl4pPr>
            <a:lvl5pPr>
              <a:defRPr lang="ko-KR" altLang="en-US" sz="1000" dirty="0"/>
            </a:lvl5pPr>
          </a:lstStyle>
          <a:p>
            <a:pPr marL="0" lvl="0" indent="0">
              <a:buFontTx/>
              <a:buNone/>
            </a:pPr>
            <a:r>
              <a:rPr lang="ko-KR" altLang="en-US" dirty="0"/>
              <a:t>시스템명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26002" y="6972345"/>
            <a:ext cx="3405043" cy="209091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ko-KR" altLang="en-US" dirty="0"/>
              <a:t>슬라이드</a:t>
            </a:r>
            <a:r>
              <a:rPr lang="en-US" altLang="ko-KR" dirty="0"/>
              <a:t> </a:t>
            </a:r>
            <a:r>
              <a:rPr lang="ko-KR" altLang="en-US" dirty="0"/>
              <a:t>제목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196849" y="927100"/>
            <a:ext cx="9936163" cy="597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131139" y="180747"/>
            <a:ext cx="10037219" cy="3454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  <a:lvl2pPr marL="483870" indent="0">
              <a:buNone/>
              <a:defRPr sz="2115">
                <a:solidFill>
                  <a:schemeClr val="tx1">
                    <a:tint val="75000"/>
                  </a:schemeClr>
                </a:solidFill>
              </a:defRPr>
            </a:lvl2pPr>
            <a:lvl3pPr marL="9671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3pPr>
            <a:lvl4pPr marL="145097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4pPr>
            <a:lvl5pPr marL="1934845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5pPr>
            <a:lvl6pPr marL="241808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6pPr>
            <a:lvl7pPr marL="290195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7pPr>
            <a:lvl8pPr marL="338582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8pPr>
            <a:lvl9pPr marL="3869690" indent="0">
              <a:buNone/>
              <a:defRPr sz="16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1.</a:t>
            </a:r>
            <a:r>
              <a:rPr lang="ko-KR" altLang="en-US" dirty="0"/>
              <a:t>마스터 제목 스타일 편집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363"/>
          <p:cNvGraphicFramePr>
            <a:graphicFrameLocks noGrp="1"/>
          </p:cNvGraphicFramePr>
          <p:nvPr userDrawn="1"/>
        </p:nvGraphicFramePr>
        <p:xfrm>
          <a:off x="196851" y="927099"/>
          <a:ext cx="9936164" cy="5795965"/>
        </p:xfrm>
        <a:graphic>
          <a:graphicData uri="http://schemas.openxmlformats.org/drawingml/2006/table">
            <a:tbl>
              <a:tblPr/>
              <a:tblGrid>
                <a:gridCol w="740962"/>
                <a:gridCol w="2282902"/>
                <a:gridCol w="576064"/>
                <a:gridCol w="1080120"/>
                <a:gridCol w="792088"/>
                <a:gridCol w="1152128"/>
                <a:gridCol w="648072"/>
                <a:gridCol w="1152128"/>
                <a:gridCol w="504056"/>
                <a:gridCol w="1007644"/>
              </a:tblGrid>
              <a:tr h="285276">
                <a:tc gridSpan="10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기능설명서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화면명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ID</a:t>
                      </a:r>
                      <a:endParaRPr kumimoji="1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시스템명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작성일자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화면설명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</a:t>
                      </a: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4988843"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텍스트 개체 틀 3"/>
          <p:cNvSpPr>
            <a:spLocks noGrp="1"/>
          </p:cNvSpPr>
          <p:nvPr>
            <p:ph type="body" sz="quarter" idx="14" hasCustomPrompt="1"/>
          </p:nvPr>
        </p:nvSpPr>
        <p:spPr>
          <a:xfrm>
            <a:off x="937239" y="1193019"/>
            <a:ext cx="2283475" cy="259342"/>
          </a:xfrm>
          <a:prstGeom prst="rect">
            <a:avLst/>
          </a:prstGeom>
        </p:spPr>
        <p:txBody>
          <a:bodyPr lIns="72000" tIns="36000" rIns="36000" bIns="3600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화면명</a:t>
            </a:r>
            <a:endParaRPr lang="ko-KR" altLang="en-US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16" hasCustomPrompt="1"/>
          </p:nvPr>
        </p:nvSpPr>
        <p:spPr>
          <a:xfrm>
            <a:off x="7469187" y="1213800"/>
            <a:ext cx="1152127" cy="259342"/>
          </a:xfrm>
          <a:prstGeom prst="rect">
            <a:avLst/>
          </a:prstGeom>
        </p:spPr>
        <p:txBody>
          <a:bodyPr lIns="72000" tIns="36000" rIns="36000" bIns="3600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smtClean="0"/>
              <a:t>마스터 작성일자</a:t>
            </a:r>
            <a:endParaRPr lang="ko-KR" altLang="en-US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9125371" y="1213800"/>
            <a:ext cx="1008112" cy="259342"/>
          </a:xfrm>
          <a:prstGeom prst="rect">
            <a:avLst/>
          </a:prstGeom>
        </p:spPr>
        <p:txBody>
          <a:bodyPr lIns="72000" tIns="36000" rIns="36000" bIns="3600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smtClean="0"/>
              <a:t>마스터 작성자</a:t>
            </a:r>
            <a:endParaRPr lang="ko-KR" altLang="en-US" dirty="0"/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945316" y="1482311"/>
            <a:ext cx="8642549" cy="259930"/>
          </a:xfrm>
          <a:prstGeom prst="rect">
            <a:avLst/>
          </a:prstGeom>
        </p:spPr>
        <p:txBody>
          <a:bodyPr lIns="72000" tIns="36000" rIns="36000" bIns="3600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/>
              <a:t>화면설명</a:t>
            </a:r>
          </a:p>
        </p:txBody>
      </p:sp>
      <p:sp>
        <p:nvSpPr>
          <p:cNvPr id="9" name="텍스트 개체 틀 3"/>
          <p:cNvSpPr>
            <a:spLocks noGrp="1"/>
          </p:cNvSpPr>
          <p:nvPr>
            <p:ph type="body" sz="quarter" idx="19" hasCustomPrompt="1"/>
          </p:nvPr>
        </p:nvSpPr>
        <p:spPr>
          <a:xfrm>
            <a:off x="5668987" y="1230392"/>
            <a:ext cx="1152128" cy="248118"/>
          </a:xfrm>
          <a:prstGeom prst="rect">
            <a:avLst/>
          </a:prstGeom>
        </p:spPr>
        <p:txBody>
          <a:bodyPr lIns="72000" tIns="36000" rIns="36000" bIns="3600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err="1"/>
              <a:t>시스템명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11762" y="172782"/>
            <a:ext cx="8910637" cy="46641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3"/>
          <p:cNvSpPr>
            <a:spLocks noGrp="1"/>
          </p:cNvSpPr>
          <p:nvPr>
            <p:ph type="body" sz="quarter" idx="20" hasCustomPrompt="1"/>
          </p:nvPr>
        </p:nvSpPr>
        <p:spPr>
          <a:xfrm>
            <a:off x="3796779" y="1206873"/>
            <a:ext cx="1080120" cy="259342"/>
          </a:xfrm>
          <a:prstGeom prst="rect">
            <a:avLst/>
          </a:prstGeom>
        </p:spPr>
        <p:txBody>
          <a:bodyPr lIns="72000" tIns="36000" rIns="36000" bIns="36000" anchor="ctr" anchorCtr="0">
            <a:noAutofit/>
          </a:bodyPr>
          <a:lstStyle>
            <a:lvl1pPr marL="0" indent="0">
              <a:buFontTx/>
              <a:buNone/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ko-KR" altLang="en-US" dirty="0" smtClean="0"/>
              <a:t>화면</a:t>
            </a:r>
            <a:r>
              <a:rPr lang="en-US" altLang="ko-KR" dirty="0" smtClean="0"/>
              <a:t>UI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/>
          <p:nvPr userDrawn="1"/>
        </p:nvSpPr>
        <p:spPr>
          <a:xfrm>
            <a:off x="-1" y="0"/>
            <a:ext cx="10329864" cy="714104"/>
          </a:xfrm>
          <a:prstGeom prst="rect">
            <a:avLst/>
          </a:prstGeom>
          <a:solidFill>
            <a:srgbClr val="257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7" name="Rectangle 1"/>
          <p:cNvSpPr/>
          <p:nvPr userDrawn="1"/>
        </p:nvSpPr>
        <p:spPr>
          <a:xfrm>
            <a:off x="-1" y="6922219"/>
            <a:ext cx="10329864" cy="332656"/>
          </a:xfrm>
          <a:prstGeom prst="rect">
            <a:avLst/>
          </a:prstGeom>
          <a:solidFill>
            <a:srgbClr val="C2E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9" name="cdtTextBox 11 Id18"/>
          <p:cNvSpPr txBox="1"/>
          <p:nvPr userDrawn="1">
            <p:custDataLst>
              <p:tags r:id="rId17"/>
            </p:custDataLst>
          </p:nvPr>
        </p:nvSpPr>
        <p:spPr>
          <a:xfrm>
            <a:off x="4680271" y="6994525"/>
            <a:ext cx="1064567" cy="260350"/>
          </a:xfrm>
          <a:prstGeom prst="rect">
            <a:avLst/>
          </a:prstGeom>
          <a:noFill/>
        </p:spPr>
        <p:txBody>
          <a:bodyPr wrap="square" lIns="324000" tIns="72000" rIns="0" bIns="72000" rtlCol="0" anchor="ctr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1000" b="1" noProof="0" dirty="0">
                <a:solidFill>
                  <a:srgbClr val="257CC0"/>
                </a:solidFill>
                <a:latin typeface="+mn-ea"/>
                <a:ea typeface="+mn-ea"/>
              </a:rPr>
              <a:t>    </a:t>
            </a:r>
            <a:fld id="{91E7552C-A157-4A4F-8E99-698C0325FC94}" type="slidenum">
              <a:rPr lang="de-DE" sz="1000" b="1" noProof="0" smtClean="0">
                <a:solidFill>
                  <a:srgbClr val="257CC0"/>
                </a:solidFill>
                <a:latin typeface="+mn-ea"/>
                <a:ea typeface="+mn-ea"/>
              </a:rPr>
              <a:t>‹#›</a:t>
            </a:fld>
            <a:r>
              <a:rPr lang="de-DE" sz="1000" b="1" noProof="0" dirty="0" smtClean="0">
                <a:solidFill>
                  <a:srgbClr val="257CC0"/>
                </a:solidFill>
                <a:latin typeface="+mn-ea"/>
                <a:ea typeface="+mn-ea"/>
              </a:rPr>
              <a:t>/50</a:t>
            </a:r>
            <a:endParaRPr lang="de-DE" sz="800" noProof="0" dirty="0">
              <a:solidFill>
                <a:srgbClr val="257CC0"/>
              </a:solidFill>
              <a:latin typeface="+mn-ea"/>
              <a:ea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403" y="6944531"/>
            <a:ext cx="821060" cy="28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iming>
    <p:tnLst>
      <p:par>
        <p:cTn id="1" dur="indefinite" restart="never" nodeType="tmRoot"/>
      </p:par>
    </p:tnLst>
  </p:timing>
  <p:txStyles>
    <p:titleStyle>
      <a:lvl1pPr algn="l" defTabSz="967105" rtl="0" eaLnBrk="1" latinLnBrk="1" hangingPunct="1">
        <a:lnSpc>
          <a:spcPct val="90000"/>
        </a:lnSpc>
        <a:spcBef>
          <a:spcPct val="0"/>
        </a:spcBef>
        <a:buNone/>
        <a:defRPr sz="46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105" rtl="0" eaLnBrk="1" latinLnBrk="1" hangingPunct="1">
        <a:lnSpc>
          <a:spcPct val="90000"/>
        </a:lnSpc>
        <a:spcBef>
          <a:spcPts val="1060"/>
        </a:spcBef>
        <a:buFont typeface="Arial" panose="020B0604020202020204" pitchFamily="34" charset="0"/>
        <a:buChar char="•"/>
        <a:defRPr sz="2960" kern="1200">
          <a:solidFill>
            <a:schemeClr val="tx1"/>
          </a:solidFill>
          <a:latin typeface="+mn-lt"/>
          <a:ea typeface="+mn-ea"/>
          <a:cs typeface="+mn-cs"/>
        </a:defRPr>
      </a:lvl1pPr>
      <a:lvl2pPr marL="725805" indent="-241935" algn="l" defTabSz="967105" rtl="0" eaLnBrk="1" latinLnBrk="1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2pPr>
      <a:lvl3pPr marL="1209040" indent="-241935" algn="l" defTabSz="967105" rtl="0" eaLnBrk="1" latinLnBrk="1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3pPr>
      <a:lvl4pPr marL="1692910" indent="-241935" algn="l" defTabSz="967105" rtl="0" eaLnBrk="1" latinLnBrk="1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indent="-241935" algn="l" defTabSz="967105" rtl="0" eaLnBrk="1" latinLnBrk="1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660015" indent="-241935" algn="l" defTabSz="967105" rtl="0" eaLnBrk="1" latinLnBrk="1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3885" indent="-241935" algn="l" defTabSz="967105" rtl="0" eaLnBrk="1" latinLnBrk="1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7755" indent="-241935" algn="l" defTabSz="967105" rtl="0" eaLnBrk="1" latinLnBrk="1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0990" indent="-241935" algn="l" defTabSz="967105" rtl="0" eaLnBrk="1" latinLnBrk="1" hangingPunct="1">
        <a:lnSpc>
          <a:spcPct val="90000"/>
        </a:lnSpc>
        <a:spcBef>
          <a:spcPts val="530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105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0975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4845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8080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1950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5820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69690" algn="l" defTabSz="967105" rtl="0" eaLnBrk="1" latinLnBrk="1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8.xml"/><Relationship Id="rId7" Type="http://schemas.openxmlformats.org/officeDocument/2006/relationships/slide" Target="slide16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15.xml"/><Relationship Id="rId5" Type="http://schemas.openxmlformats.org/officeDocument/2006/relationships/slide" Target="slide14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13" Type="http://schemas.openxmlformats.org/officeDocument/2006/relationships/slide" Target="slide28.xml"/><Relationship Id="rId18" Type="http://schemas.openxmlformats.org/officeDocument/2006/relationships/slide" Target="slide33.xml"/><Relationship Id="rId3" Type="http://schemas.openxmlformats.org/officeDocument/2006/relationships/slide" Target="slide21.xml"/><Relationship Id="rId21" Type="http://schemas.openxmlformats.org/officeDocument/2006/relationships/slide" Target="slide37.xml"/><Relationship Id="rId7" Type="http://schemas.openxmlformats.org/officeDocument/2006/relationships/slide" Target="slide22.xml"/><Relationship Id="rId12" Type="http://schemas.openxmlformats.org/officeDocument/2006/relationships/slide" Target="slide27.xml"/><Relationship Id="rId17" Type="http://schemas.openxmlformats.org/officeDocument/2006/relationships/slide" Target="slide32.xml"/><Relationship Id="rId2" Type="http://schemas.openxmlformats.org/officeDocument/2006/relationships/notesSlide" Target="../notesSlides/notesSlide1.xml"/><Relationship Id="rId16" Type="http://schemas.openxmlformats.org/officeDocument/2006/relationships/slide" Target="slide36.xml"/><Relationship Id="rId20" Type="http://schemas.openxmlformats.org/officeDocument/2006/relationships/slide" Target="slide38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26.xml"/><Relationship Id="rId11" Type="http://schemas.openxmlformats.org/officeDocument/2006/relationships/slide" Target="slide31.xml"/><Relationship Id="rId5" Type="http://schemas.openxmlformats.org/officeDocument/2006/relationships/slide" Target="slide24.xml"/><Relationship Id="rId15" Type="http://schemas.openxmlformats.org/officeDocument/2006/relationships/slide" Target="slide34.xml"/><Relationship Id="rId10" Type="http://schemas.openxmlformats.org/officeDocument/2006/relationships/slide" Target="slide29.xml"/><Relationship Id="rId19" Type="http://schemas.openxmlformats.org/officeDocument/2006/relationships/slide" Target="slide35.xml"/><Relationship Id="rId4" Type="http://schemas.openxmlformats.org/officeDocument/2006/relationships/slide" Target="slide20.xml"/><Relationship Id="rId9" Type="http://schemas.openxmlformats.org/officeDocument/2006/relationships/slide" Target="slide25.xml"/><Relationship Id="rId14" Type="http://schemas.openxmlformats.org/officeDocument/2006/relationships/slide" Target="slide3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7.xml"/><Relationship Id="rId13" Type="http://schemas.openxmlformats.org/officeDocument/2006/relationships/slide" Target="slide50.xml"/><Relationship Id="rId3" Type="http://schemas.openxmlformats.org/officeDocument/2006/relationships/slide" Target="slide42.xml"/><Relationship Id="rId7" Type="http://schemas.openxmlformats.org/officeDocument/2006/relationships/slide" Target="slide43.xml"/><Relationship Id="rId12" Type="http://schemas.openxmlformats.org/officeDocument/2006/relationships/slide" Target="slide51.xml"/><Relationship Id="rId2" Type="http://schemas.openxmlformats.org/officeDocument/2006/relationships/slide" Target="slide40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44.xml"/><Relationship Id="rId11" Type="http://schemas.openxmlformats.org/officeDocument/2006/relationships/slide" Target="slide48.xml"/><Relationship Id="rId5" Type="http://schemas.openxmlformats.org/officeDocument/2006/relationships/slide" Target="slide41.xml"/><Relationship Id="rId10" Type="http://schemas.openxmlformats.org/officeDocument/2006/relationships/slide" Target="slide46.xml"/><Relationship Id="rId4" Type="http://schemas.openxmlformats.org/officeDocument/2006/relationships/slide" Target="slide39.xml"/><Relationship Id="rId9" Type="http://schemas.openxmlformats.org/officeDocument/2006/relationships/slide" Target="slide49.xml"/><Relationship Id="rId14" Type="http://schemas.openxmlformats.org/officeDocument/2006/relationships/slide" Target="slide4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36.xml"/><Relationship Id="rId18" Type="http://schemas.openxmlformats.org/officeDocument/2006/relationships/slide" Target="slide41.xml"/><Relationship Id="rId3" Type="http://schemas.openxmlformats.org/officeDocument/2006/relationships/slide" Target="slide11.xml"/><Relationship Id="rId21" Type="http://schemas.openxmlformats.org/officeDocument/2006/relationships/slide" Target="slide49.xml"/><Relationship Id="rId7" Type="http://schemas.openxmlformats.org/officeDocument/2006/relationships/slide" Target="slide27.xml"/><Relationship Id="rId12" Type="http://schemas.openxmlformats.org/officeDocument/2006/relationships/slide" Target="slide34.xml"/><Relationship Id="rId17" Type="http://schemas.openxmlformats.org/officeDocument/2006/relationships/slide" Target="slide39.xml"/><Relationship Id="rId2" Type="http://schemas.openxmlformats.org/officeDocument/2006/relationships/slide" Target="slide13.xml"/><Relationship Id="rId16" Type="http://schemas.openxmlformats.org/officeDocument/2006/relationships/slide" Target="slide40.xml"/><Relationship Id="rId20" Type="http://schemas.openxmlformats.org/officeDocument/2006/relationships/slide" Target="slide47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29.xml"/><Relationship Id="rId11" Type="http://schemas.openxmlformats.org/officeDocument/2006/relationships/slide" Target="slide33.xml"/><Relationship Id="rId24" Type="http://schemas.openxmlformats.org/officeDocument/2006/relationships/slide" Target="slide50.xml"/><Relationship Id="rId5" Type="http://schemas.openxmlformats.org/officeDocument/2006/relationships/slide" Target="slide20.xml"/><Relationship Id="rId15" Type="http://schemas.openxmlformats.org/officeDocument/2006/relationships/slide" Target="slide37.xml"/><Relationship Id="rId23" Type="http://schemas.openxmlformats.org/officeDocument/2006/relationships/slide" Target="slide51.xml"/><Relationship Id="rId10" Type="http://schemas.openxmlformats.org/officeDocument/2006/relationships/slide" Target="slide32.xml"/><Relationship Id="rId19" Type="http://schemas.openxmlformats.org/officeDocument/2006/relationships/slide" Target="slide44.xml"/><Relationship Id="rId4" Type="http://schemas.openxmlformats.org/officeDocument/2006/relationships/slide" Target="slide17.xml"/><Relationship Id="rId9" Type="http://schemas.openxmlformats.org/officeDocument/2006/relationships/slide" Target="slide30.xml"/><Relationship Id="rId14" Type="http://schemas.openxmlformats.org/officeDocument/2006/relationships/slide" Target="slide38.xml"/><Relationship Id="rId22" Type="http://schemas.openxmlformats.org/officeDocument/2006/relationships/slide" Target="slide4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4.x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4.x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slide" Target="slid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5.xml"/><Relationship Id="rId4" Type="http://schemas.openxmlformats.org/officeDocument/2006/relationships/image" Target="../media/image1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5.xml"/><Relationship Id="rId4" Type="http://schemas.openxmlformats.org/officeDocument/2006/relationships/image" Target="../media/image1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5" Type="http://schemas.openxmlformats.org/officeDocument/2006/relationships/slide" Target="slide5.xml"/><Relationship Id="rId4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slide" Target="slide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slide" Target="slide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6" Type="http://schemas.openxmlformats.org/officeDocument/2006/relationships/slide" Target="slide5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slide" Target="slide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Relationship Id="rId4" Type="http://schemas.openxmlformats.org/officeDocument/2006/relationships/slide" Target="slide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Relationship Id="rId6" Type="http://schemas.openxmlformats.org/officeDocument/2006/relationships/slide" Target="slide6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ko-KR" altLang="en-US" dirty="0" err="1" smtClean="0"/>
              <a:t>하이텍사업팀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311695" y="2582863"/>
            <a:ext cx="8165604" cy="828675"/>
          </a:xfrm>
        </p:spPr>
        <p:txBody>
          <a:bodyPr/>
          <a:lstStyle/>
          <a:p>
            <a:r>
              <a:rPr lang="en-US" sz="4000" kern="0" dirty="0" smtClean="0"/>
              <a:t>A-Pro Jig Formation</a:t>
            </a:r>
            <a:r>
              <a:rPr sz="4000" kern="0" dirty="0" smtClean="0"/>
              <a:t> </a:t>
            </a:r>
            <a:r>
              <a:rPr lang="en-US" altLang="ko-KR" sz="4000" kern="0" dirty="0" smtClean="0"/>
              <a:t>UI</a:t>
            </a:r>
            <a:r>
              <a:rPr sz="4000" kern="0" dirty="0" smtClean="0"/>
              <a:t>설계서</a:t>
            </a:r>
            <a:r>
              <a:rPr lang="en-US" altLang="ko-KR" kern="0" dirty="0"/>
              <a:t/>
            </a:r>
            <a:br>
              <a:rPr lang="en-US" altLang="ko-KR" kern="0" dirty="0"/>
            </a:br>
            <a:endParaRPr lang="en-US" altLang="ko-KR" kern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altLang="ko-KR" dirty="0" smtClean="0"/>
              <a:t>UI</a:t>
            </a:r>
            <a:r>
              <a:rPr lang="ko-KR" altLang="en-US" dirty="0" smtClean="0"/>
              <a:t>설계서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변경이력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ALL- </a:t>
            </a:r>
            <a:r>
              <a:rPr lang="en-US" altLang="ko-KR" kern="0" dirty="0" smtClean="0"/>
              <a:t>UI</a:t>
            </a:r>
            <a:r>
              <a:rPr lang="ko-KR" altLang="en-US" kern="0" dirty="0" smtClean="0"/>
              <a:t>설계서</a:t>
            </a:r>
            <a:endParaRPr lang="ko-KR" altLang="en-US" dirty="0"/>
          </a:p>
        </p:txBody>
      </p:sp>
      <p:graphicFrame>
        <p:nvGraphicFramePr>
          <p:cNvPr id="2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20514"/>
              </p:ext>
            </p:extLst>
          </p:nvPr>
        </p:nvGraphicFramePr>
        <p:xfrm>
          <a:off x="202769" y="1891829"/>
          <a:ext cx="9923894" cy="482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4221"/>
                <a:gridCol w="1273906"/>
                <a:gridCol w="6160381"/>
                <a:gridCol w="1245386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0.1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2024.03.07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최초 작성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노철진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0.2 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2024.03.20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Jig </a:t>
                      </a:r>
                      <a:r>
                        <a:rPr lang="ko-KR" altLang="en-US" sz="1200" dirty="0" smtClean="0"/>
                        <a:t>관련 수정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노철진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0.3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2024.03.22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dirty="0" smtClean="0"/>
                        <a:t>단위판정</a:t>
                      </a:r>
                      <a:r>
                        <a:rPr lang="en-US" altLang="ko-KR" sz="1200" dirty="0" smtClean="0"/>
                        <a:t>, </a:t>
                      </a:r>
                      <a:r>
                        <a:rPr lang="ko-KR" altLang="en-US" sz="1200" dirty="0" smtClean="0"/>
                        <a:t>판정결과 조회 화면 추가</a:t>
                      </a:r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노철진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0.4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2024.04.11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바로 가기 추가</a:t>
                      </a:r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72000" marT="36000" marB="36000" anchor="ctr"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360680" indent="-360680">
              <a:buFont typeface="+mj-lt"/>
              <a:buAutoNum type="arabicPeriod"/>
            </a:pPr>
            <a:r>
              <a:rPr lang="ko-KR" altLang="en-US" kern="0" dirty="0" smtClean="0"/>
              <a:t>모니터링</a:t>
            </a:r>
            <a:r>
              <a:rPr lang="en-US" altLang="ko-KR" kern="0" dirty="0" smtClean="0"/>
              <a:t>/</a:t>
            </a:r>
            <a:r>
              <a:rPr lang="ko-KR" altLang="en-US" kern="0" dirty="0" smtClean="0"/>
              <a:t>작업 </a:t>
            </a:r>
            <a:r>
              <a:rPr lang="en-US" altLang="ko-KR" kern="0" dirty="0" smtClean="0"/>
              <a:t>UI</a:t>
            </a:r>
          </a:p>
          <a:p>
            <a:pPr marL="360680" indent="-360680">
              <a:buFont typeface="+mj-lt"/>
              <a:buAutoNum type="arabicPeriod"/>
            </a:pPr>
            <a:r>
              <a:rPr lang="en-US" altLang="ko-KR" kern="0" dirty="0" smtClean="0"/>
              <a:t>Report</a:t>
            </a:r>
          </a:p>
          <a:p>
            <a:pPr marL="360680" indent="-360680">
              <a:buFont typeface="+mj-lt"/>
              <a:buAutoNum type="arabicPeriod"/>
            </a:pPr>
            <a:r>
              <a:rPr lang="ko-KR" altLang="en-US" kern="0" dirty="0" smtClean="0"/>
              <a:t>마스터</a:t>
            </a:r>
            <a:endParaRPr lang="en-US" altLang="ko-KR" kern="0" dirty="0" smtClean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altLang="ko-KR" dirty="0" smtClean="0"/>
              <a:t>Jig Formation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모니터링 화면목록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altLang="ko-KR" dirty="0" smtClean="0"/>
              <a:t>Jig Formation</a:t>
            </a:r>
            <a:r>
              <a:rPr lang="ko-KR" altLang="en-US" dirty="0" smtClean="0"/>
              <a:t>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743829"/>
              </p:ext>
            </p:extLst>
          </p:nvPr>
        </p:nvGraphicFramePr>
        <p:xfrm>
          <a:off x="285237" y="1284130"/>
          <a:ext cx="9780038" cy="359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570"/>
                <a:gridCol w="2137727"/>
                <a:gridCol w="941237"/>
                <a:gridCol w="3351432"/>
                <a:gridCol w="540325"/>
                <a:gridCol w="540325"/>
                <a:gridCol w="1908422"/>
              </a:tblGrid>
              <a:tr h="182432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작업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b="1" dirty="0"/>
                        <a:t>UI id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Description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Remarks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Log In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MON-01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Log In </a:t>
                      </a:r>
                      <a:r>
                        <a:rPr lang="ko-KR" altLang="en-US" sz="1000" dirty="0" smtClean="0"/>
                        <a:t>화면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Formation</a:t>
                      </a:r>
                      <a:r>
                        <a:rPr lang="en-US" altLang="ko-KR" sz="1200" baseline="0" dirty="0" smtClean="0"/>
                        <a:t> Monitoring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MON-02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Jig Formation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진행 상태 모니터링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신규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aseline="0" dirty="0" smtClean="0"/>
                        <a:t>전체 </a:t>
                      </a:r>
                      <a:r>
                        <a:rPr lang="en-US" altLang="ko-KR" sz="1200" baseline="0" dirty="0" smtClean="0"/>
                        <a:t>Monitoring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MON-03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Jig</a:t>
                      </a:r>
                      <a:r>
                        <a:rPr lang="en-US" altLang="ko-KR" sz="1000" baseline="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 Formation </a:t>
                      </a:r>
                      <a:r>
                        <a:rPr lang="ko-KR" altLang="en-US" sz="1000" baseline="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과 </a:t>
                      </a:r>
                      <a:r>
                        <a:rPr lang="en-US" altLang="ko-KR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DSF </a:t>
                      </a:r>
                      <a:r>
                        <a:rPr lang="ko-KR" altLang="en-US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설비상태모니터링</a:t>
                      </a:r>
                      <a:endParaRPr lang="en-US" altLang="ko-KR" sz="100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신규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 smtClean="0"/>
                        <a:t>Formation Manual</a:t>
                      </a:r>
                      <a:r>
                        <a:rPr lang="en-US" altLang="ko-KR" sz="1200" baseline="0" dirty="0" smtClean="0"/>
                        <a:t> Job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MON-04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000" dirty="0" smtClean="0"/>
                        <a:t>Formation Jig Unit Manual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작업 설정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설비 설정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MON-05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설비의 모델</a:t>
                      </a:r>
                      <a:r>
                        <a:rPr lang="en-US" altLang="ko-KR" sz="1000" dirty="0" smtClean="0"/>
                        <a:t>, Route ID</a:t>
                      </a:r>
                      <a:r>
                        <a:rPr lang="ko-KR" altLang="en-US" sz="1000" dirty="0" smtClean="0"/>
                        <a:t>를 설정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dirty="0" smtClean="0"/>
                        <a:t>Trouble Information</a:t>
                      </a:r>
                      <a:endParaRPr lang="ko-KR" altLang="en-US" sz="1200" dirty="0" smtClean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MON-06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설비의 기간별 </a:t>
                      </a:r>
                      <a:r>
                        <a:rPr lang="en-US" altLang="ko-KR" sz="1000" dirty="0" smtClean="0"/>
                        <a:t>Trouble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현황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7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dirty="0" smtClean="0"/>
                        <a:t>Cell </a:t>
                      </a:r>
                      <a:r>
                        <a:rPr lang="ko-KR" altLang="en-US" sz="1200" dirty="0" smtClean="0"/>
                        <a:t>정보 생성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MON-07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Jig</a:t>
                      </a:r>
                      <a:r>
                        <a:rPr lang="en-US" altLang="ko-KR" sz="1000" baseline="0" dirty="0" smtClean="0"/>
                        <a:t> Formation </a:t>
                      </a:r>
                      <a:r>
                        <a:rPr lang="ko-KR" altLang="en-US" sz="1000" baseline="0" dirty="0" smtClean="0"/>
                        <a:t>투입 전 최초 </a:t>
                      </a:r>
                      <a:r>
                        <a:rPr lang="en-US" altLang="ko-KR" sz="1000" baseline="0" dirty="0" smtClean="0"/>
                        <a:t>Cell </a:t>
                      </a:r>
                      <a:r>
                        <a:rPr lang="ko-KR" altLang="en-US" sz="1000" baseline="0" dirty="0" smtClean="0"/>
                        <a:t>정보 생성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신규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dirty="0" smtClean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6" name="그룹 15"/>
          <p:cNvGrpSpPr/>
          <p:nvPr/>
        </p:nvGrpSpPr>
        <p:grpSpPr>
          <a:xfrm>
            <a:off x="7761066" y="1830679"/>
            <a:ext cx="216024" cy="242316"/>
            <a:chOff x="5596979" y="5643661"/>
            <a:chExt cx="216024" cy="242316"/>
          </a:xfrm>
        </p:grpSpPr>
        <p:sp>
          <p:nvSpPr>
            <p:cNvPr id="14" name="오른쪽 화살표 13">
              <a:hlinkClick r:id="rId2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7757219" y="1580767"/>
            <a:ext cx="216024" cy="242316"/>
            <a:chOff x="5596979" y="5643661"/>
            <a:chExt cx="216024" cy="242316"/>
          </a:xfrm>
        </p:grpSpPr>
        <p:sp>
          <p:nvSpPr>
            <p:cNvPr id="18" name="오른쪽 화살표 17">
              <a:hlinkClick r:id="rId3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7757219" y="2088178"/>
            <a:ext cx="216024" cy="242316"/>
            <a:chOff x="5596979" y="5643661"/>
            <a:chExt cx="216024" cy="242316"/>
          </a:xfrm>
        </p:grpSpPr>
        <p:sp>
          <p:nvSpPr>
            <p:cNvPr id="21" name="오른쪽 화살표 20">
              <a:hlinkClick r:id="rId4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757219" y="2338220"/>
            <a:ext cx="216024" cy="242316"/>
            <a:chOff x="5596979" y="5643661"/>
            <a:chExt cx="216024" cy="242316"/>
          </a:xfrm>
        </p:grpSpPr>
        <p:sp>
          <p:nvSpPr>
            <p:cNvPr id="24" name="오른쪽 화살표 23">
              <a:hlinkClick r:id="rId5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7757219" y="2599960"/>
            <a:ext cx="216024" cy="242316"/>
            <a:chOff x="5596979" y="5643661"/>
            <a:chExt cx="216024" cy="242316"/>
          </a:xfrm>
        </p:grpSpPr>
        <p:sp>
          <p:nvSpPr>
            <p:cNvPr id="27" name="오른쪽 화살표 26">
              <a:hlinkClick r:id="rId6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7757219" y="2846430"/>
            <a:ext cx="216024" cy="242316"/>
            <a:chOff x="5596979" y="5643661"/>
            <a:chExt cx="216024" cy="242316"/>
          </a:xfrm>
        </p:grpSpPr>
        <p:sp>
          <p:nvSpPr>
            <p:cNvPr id="30" name="오른쪽 화살표 29">
              <a:hlinkClick r:id="rId7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7757219" y="3104016"/>
            <a:ext cx="216024" cy="242316"/>
            <a:chOff x="5596979" y="5643661"/>
            <a:chExt cx="216024" cy="242316"/>
          </a:xfrm>
        </p:grpSpPr>
        <p:sp>
          <p:nvSpPr>
            <p:cNvPr id="33" name="오른쪽 화살표 32">
              <a:hlinkClick r:id="rId8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레포트</a:t>
            </a:r>
            <a:r>
              <a:rPr lang="ko-KR" altLang="en-US" dirty="0" smtClean="0"/>
              <a:t> 화면목록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altLang="ko-KR" dirty="0" smtClean="0"/>
              <a:t>Jig Formation</a:t>
            </a:r>
            <a:r>
              <a:rPr lang="ko-KR" altLang="en-US" dirty="0" smtClean="0"/>
              <a:t>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638486"/>
              </p:ext>
            </p:extLst>
          </p:nvPr>
        </p:nvGraphicFramePr>
        <p:xfrm>
          <a:off x="285237" y="1284130"/>
          <a:ext cx="9780038" cy="525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570"/>
                <a:gridCol w="2137727"/>
                <a:gridCol w="869229"/>
                <a:gridCol w="3423440"/>
                <a:gridCol w="540325"/>
                <a:gridCol w="540325"/>
                <a:gridCol w="1908422"/>
              </a:tblGrid>
              <a:tr h="182432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작업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b="1" dirty="0"/>
                        <a:t>UI id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Description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Remarks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aseline="0" dirty="0" smtClean="0"/>
                        <a:t>Jig </a:t>
                      </a:r>
                      <a:r>
                        <a:rPr lang="ko-KR" altLang="en-US" sz="1200" baseline="0" dirty="0" smtClean="0"/>
                        <a:t>정보 조회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Jig </a:t>
                      </a:r>
                      <a:r>
                        <a:rPr lang="ko-KR" altLang="en-US" sz="1000" dirty="0" smtClean="0"/>
                        <a:t>작업 정보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Jig </a:t>
                      </a:r>
                      <a:r>
                        <a:rPr lang="ko-KR" altLang="en-US" sz="1200" dirty="0" smtClean="0"/>
                        <a:t>정보 상세</a:t>
                      </a:r>
                      <a:r>
                        <a:rPr lang="en-US" altLang="ko-KR" sz="1200" dirty="0" smtClean="0"/>
                        <a:t> </a:t>
                      </a:r>
                      <a:r>
                        <a:rPr lang="ko-KR" altLang="en-US" sz="1200" dirty="0" smtClean="0"/>
                        <a:t>조회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Jig Step/Cell</a:t>
                      </a:r>
                      <a:r>
                        <a:rPr lang="en-US" altLang="ko-KR" sz="1000" baseline="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측정 정보 조회</a:t>
                      </a:r>
                      <a:endParaRPr lang="en-US" altLang="ko-KR" sz="100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Jig </a:t>
                      </a:r>
                      <a:r>
                        <a:rPr lang="ko-KR" altLang="en-US" sz="1000" baseline="0" dirty="0" smtClean="0"/>
                        <a:t>정보 조회 결과 </a:t>
                      </a:r>
                      <a:r>
                        <a:rPr lang="ko-KR" altLang="en-US" sz="1000" baseline="0" dirty="0" err="1" smtClean="0"/>
                        <a:t>그리드에서</a:t>
                      </a:r>
                      <a:r>
                        <a:rPr lang="ko-KR" altLang="en-US" sz="1000" baseline="0" dirty="0" smtClean="0"/>
                        <a:t> 행 선택 </a:t>
                      </a:r>
                      <a:r>
                        <a:rPr lang="ko-KR" altLang="en-US" sz="1000" baseline="0" dirty="0" err="1" smtClean="0"/>
                        <a:t>클릭시</a:t>
                      </a:r>
                      <a:r>
                        <a:rPr lang="ko-KR" altLang="en-US" sz="1000" baseline="0" dirty="0" smtClean="0"/>
                        <a:t> 조회됨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 smtClean="0"/>
                        <a:t>Jig Manual Info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000" dirty="0" smtClean="0"/>
                        <a:t>Jig </a:t>
                      </a:r>
                      <a:r>
                        <a:rPr lang="ko-KR" altLang="en-US" sz="1000" dirty="0" smtClean="0"/>
                        <a:t>공정 조회 </a:t>
                      </a:r>
                      <a:r>
                        <a:rPr lang="en-US" altLang="ko-KR" sz="1000" dirty="0" smtClean="0"/>
                        <a:t>&amp; </a:t>
                      </a:r>
                      <a:r>
                        <a:rPr lang="ko-KR" altLang="en-US" sz="1000" dirty="0" smtClean="0"/>
                        <a:t>변경 적용 화면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 smtClean="0"/>
                        <a:t>Jig Information </a:t>
                      </a:r>
                      <a:r>
                        <a:rPr lang="ko-KR" altLang="en-US" sz="1000" dirty="0" smtClean="0"/>
                        <a:t>조회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aseline="0" dirty="0" smtClean="0"/>
                        <a:t>Jig Manual Change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RPT-04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Jig </a:t>
                      </a:r>
                      <a:r>
                        <a:rPr lang="ko-KR" altLang="en-US" sz="1000" dirty="0" smtClean="0"/>
                        <a:t>다음 공정 설정 변경 화면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 smtClean="0"/>
                        <a:t>Jig Information </a:t>
                      </a:r>
                      <a:r>
                        <a:rPr lang="ko-KR" altLang="en-US" sz="1000" dirty="0" smtClean="0"/>
                        <a:t>조회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dirty="0" smtClean="0"/>
                        <a:t>불량 </a:t>
                      </a:r>
                      <a:r>
                        <a:rPr lang="en-US" altLang="ko-KR" sz="1200" dirty="0" smtClean="0"/>
                        <a:t>Cell </a:t>
                      </a:r>
                      <a:r>
                        <a:rPr lang="ko-KR" altLang="en-US" sz="1200" dirty="0" smtClean="0"/>
                        <a:t>지정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불량 </a:t>
                      </a:r>
                      <a:r>
                        <a:rPr lang="en-US" altLang="ko-KR" sz="1000" dirty="0" smtClean="0"/>
                        <a:t>Cell </a:t>
                      </a:r>
                      <a:r>
                        <a:rPr lang="ko-KR" altLang="en-US" sz="1000" dirty="0" smtClean="0"/>
                        <a:t>지정 처리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 smtClean="0"/>
                        <a:t>Jig Information </a:t>
                      </a:r>
                      <a:r>
                        <a:rPr lang="ko-KR" altLang="en-US" sz="1000" dirty="0" smtClean="0"/>
                        <a:t>조회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dirty="0" smtClean="0"/>
                        <a:t>Cell  List</a:t>
                      </a:r>
                      <a:endParaRPr lang="ko-KR" altLang="en-US" sz="1200" dirty="0" smtClean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RPT-06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Cell</a:t>
                      </a:r>
                      <a:r>
                        <a:rPr lang="ko-KR" altLang="en-US" sz="1000" dirty="0" smtClean="0"/>
                        <a:t>별 실 처리 정보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 smtClean="0"/>
                        <a:t>Jig Information </a:t>
                      </a:r>
                      <a:r>
                        <a:rPr lang="ko-KR" altLang="en-US" sz="1000" dirty="0" smtClean="0"/>
                        <a:t>조회</a:t>
                      </a:r>
                      <a:endParaRPr lang="en-US" altLang="ko-KR" sz="1000" dirty="0" smtClean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Jig </a:t>
                      </a:r>
                      <a:r>
                        <a:rPr lang="ko-KR" altLang="en-US" sz="1200" dirty="0" smtClean="0"/>
                        <a:t>상태 변경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RPT-07 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Jig </a:t>
                      </a:r>
                      <a:r>
                        <a:rPr lang="ko-KR" altLang="en-US" sz="1000" dirty="0" smtClean="0"/>
                        <a:t>상태 변경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 smtClean="0"/>
                        <a:t>Jig Information </a:t>
                      </a:r>
                      <a:r>
                        <a:rPr lang="ko-KR" altLang="en-US" sz="1000" dirty="0" smtClean="0"/>
                        <a:t>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7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Cell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정보 조회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RPT-08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Cell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정보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8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Cell </a:t>
                      </a:r>
                      <a:r>
                        <a:rPr lang="ko-KR" altLang="en-US" sz="1200" dirty="0" smtClean="0"/>
                        <a:t>공정 정보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RPT-09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Cell </a:t>
                      </a:r>
                      <a:r>
                        <a:rPr lang="ko-KR" altLang="en-US" sz="1000" dirty="0" smtClean="0"/>
                        <a:t>공정 작업 정보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 smtClean="0"/>
                        <a:t>Cell </a:t>
                      </a:r>
                      <a:r>
                        <a:rPr lang="ko-KR" altLang="en-US" sz="1000" dirty="0" smtClean="0"/>
                        <a:t>정보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9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Tray/Jig </a:t>
                      </a:r>
                      <a:r>
                        <a:rPr lang="ko-KR" altLang="en-US" sz="1200" dirty="0" smtClean="0"/>
                        <a:t>별 </a:t>
                      </a:r>
                      <a:r>
                        <a:rPr lang="en-US" altLang="ko-KR" sz="1200" dirty="0" smtClean="0"/>
                        <a:t>Cell </a:t>
                      </a:r>
                      <a:r>
                        <a:rPr lang="ko-KR" altLang="en-US" sz="1200" dirty="0" smtClean="0"/>
                        <a:t>정보 조회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RPT-10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Tray/Jig</a:t>
                      </a:r>
                      <a:r>
                        <a:rPr lang="ko-KR" altLang="en-US" sz="1000" dirty="0" smtClean="0"/>
                        <a:t>별 </a:t>
                      </a:r>
                      <a:r>
                        <a:rPr lang="en-US" altLang="ko-KR" sz="1000" dirty="0" smtClean="0"/>
                        <a:t>Cell </a:t>
                      </a:r>
                      <a:r>
                        <a:rPr lang="ko-KR" altLang="en-US" sz="1000" dirty="0" smtClean="0"/>
                        <a:t>실 처리 정보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10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/>
                        <a:t>공정별</a:t>
                      </a:r>
                      <a:r>
                        <a:rPr lang="ko-KR" altLang="en-US" sz="1200" dirty="0" smtClean="0"/>
                        <a:t> 생산 현황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trike="sngStrike" dirty="0" smtClean="0"/>
                        <a:t>RPT-11</a:t>
                      </a:r>
                      <a:endParaRPr lang="ko-KR" altLang="en-US" sz="1200" strike="sngStrike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Route </a:t>
                      </a:r>
                      <a:r>
                        <a:rPr lang="ko-KR" altLang="en-US" sz="1000" dirty="0" smtClean="0"/>
                        <a:t>별 공정의 </a:t>
                      </a:r>
                      <a:r>
                        <a:rPr lang="en-US" altLang="ko-KR" sz="1000" dirty="0" smtClean="0"/>
                        <a:t>Tray,</a:t>
                      </a:r>
                      <a:r>
                        <a:rPr lang="en-US" altLang="ko-KR" sz="1000" baseline="0" dirty="0" smtClean="0"/>
                        <a:t> Cell </a:t>
                      </a:r>
                      <a:r>
                        <a:rPr lang="ko-KR" altLang="en-US" sz="1000" baseline="0" dirty="0" smtClean="0"/>
                        <a:t>수량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trike="noStrike" dirty="0" smtClean="0"/>
                        <a:t>공정 실적 관리</a:t>
                      </a:r>
                      <a:endParaRPr lang="ko-KR" altLang="en-US" sz="1200" strike="noStrike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trike="sngStrike" dirty="0" smtClean="0"/>
                        <a:t>LOT</a:t>
                      </a:r>
                      <a:r>
                        <a:rPr lang="ko-KR" altLang="en-US" sz="1000" strike="sngStrike" dirty="0" smtClean="0"/>
                        <a:t>별 공정 실적 조회</a:t>
                      </a:r>
                      <a:endParaRPr lang="ko-KR" altLang="en-US" sz="1000" strike="sngStrike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수정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부적합률 실적 조회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부적합률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 smtClean="0"/>
                        <a:t>신규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판정결과 조회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RPT-14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등급 판정결과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신규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14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Trouble Info </a:t>
                      </a:r>
                      <a:r>
                        <a:rPr lang="ko-KR" altLang="en-US" sz="1200" dirty="0" smtClean="0"/>
                        <a:t>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Trouble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발생 정보</a:t>
                      </a:r>
                      <a:r>
                        <a:rPr lang="en-US" altLang="ko-KR" sz="1000" baseline="0" dirty="0" smtClean="0"/>
                        <a:t>/</a:t>
                      </a:r>
                      <a:r>
                        <a:rPr lang="ko-KR" altLang="en-US" sz="1000" baseline="0" dirty="0" smtClean="0"/>
                        <a:t>장애 처리 정보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장애 조치 입력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RPT-16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장애 조치 사항 입력 화면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 smtClean="0"/>
                        <a:t>Trouble</a:t>
                      </a:r>
                      <a:r>
                        <a:rPr lang="en-US" altLang="ko-KR" sz="1000" baseline="0" dirty="0" smtClean="0"/>
                        <a:t> Info </a:t>
                      </a:r>
                      <a:r>
                        <a:rPr lang="ko-KR" altLang="en-US" sz="1000" baseline="0" dirty="0" smtClean="0"/>
                        <a:t>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16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Trouble </a:t>
                      </a:r>
                      <a:r>
                        <a:rPr lang="ko-KR" altLang="en-US" sz="1200" dirty="0" smtClean="0"/>
                        <a:t>분석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RPT-17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 smtClean="0"/>
                        <a:t>장비별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Trouble </a:t>
                      </a:r>
                      <a:r>
                        <a:rPr lang="ko-KR" altLang="en-US" sz="1000" dirty="0" smtClean="0"/>
                        <a:t>발생 횟수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17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설비 상태 조회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RPT-18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현재 설비 상태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18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Log </a:t>
                      </a:r>
                      <a:r>
                        <a:rPr lang="ko-KR" altLang="en-US" sz="1200" dirty="0" smtClean="0"/>
                        <a:t>정보 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RPT-19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Log </a:t>
                      </a:r>
                      <a:r>
                        <a:rPr lang="ko-KR" altLang="en-US" sz="1000" dirty="0" smtClean="0"/>
                        <a:t>이력 조회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6" name="그룹 15"/>
          <p:cNvGrpSpPr/>
          <p:nvPr/>
        </p:nvGrpSpPr>
        <p:grpSpPr>
          <a:xfrm>
            <a:off x="7761066" y="1893734"/>
            <a:ext cx="216024" cy="242316"/>
            <a:chOff x="5596979" y="5643661"/>
            <a:chExt cx="216024" cy="242316"/>
          </a:xfrm>
        </p:grpSpPr>
        <p:sp>
          <p:nvSpPr>
            <p:cNvPr id="17" name="오른쪽 화살표 16">
              <a:hlinkClick r:id="rId3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7757219" y="1564728"/>
            <a:ext cx="216024" cy="242316"/>
            <a:chOff x="7757219" y="1564728"/>
            <a:chExt cx="216024" cy="242316"/>
          </a:xfrm>
        </p:grpSpPr>
        <p:sp>
          <p:nvSpPr>
            <p:cNvPr id="20" name="오른쪽 화살표 19">
              <a:hlinkClick r:id="rId4" action="ppaction://hlinksldjump"/>
            </p:cNvPr>
            <p:cNvSpPr/>
            <p:nvPr/>
          </p:nvSpPr>
          <p:spPr>
            <a:xfrm>
              <a:off x="7757219" y="1564728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7757219" y="1564728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7757219" y="2210796"/>
            <a:ext cx="216024" cy="242316"/>
            <a:chOff x="5596979" y="5643661"/>
            <a:chExt cx="216024" cy="242316"/>
          </a:xfrm>
        </p:grpSpPr>
        <p:sp>
          <p:nvSpPr>
            <p:cNvPr id="23" name="오른쪽 화살표 22"/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7757219" y="2460838"/>
            <a:ext cx="216024" cy="242316"/>
            <a:chOff x="5596979" y="5643661"/>
            <a:chExt cx="216024" cy="242316"/>
          </a:xfrm>
        </p:grpSpPr>
        <p:sp>
          <p:nvSpPr>
            <p:cNvPr id="26" name="오른쪽 화살표 25"/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7757219" y="2736432"/>
            <a:ext cx="216024" cy="242316"/>
            <a:chOff x="5596979" y="5643661"/>
            <a:chExt cx="216024" cy="242316"/>
          </a:xfrm>
        </p:grpSpPr>
        <p:sp>
          <p:nvSpPr>
            <p:cNvPr id="29" name="오른쪽 화살표 28">
              <a:hlinkClick r:id="rId5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7757219" y="2969048"/>
            <a:ext cx="216024" cy="242316"/>
            <a:chOff x="5596979" y="5643661"/>
            <a:chExt cx="216024" cy="242316"/>
          </a:xfrm>
        </p:grpSpPr>
        <p:sp>
          <p:nvSpPr>
            <p:cNvPr id="32" name="오른쪽 화살표 31"/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7757219" y="3240488"/>
            <a:ext cx="216024" cy="242316"/>
            <a:chOff x="5596979" y="5643661"/>
            <a:chExt cx="216024" cy="242316"/>
          </a:xfrm>
        </p:grpSpPr>
        <p:sp>
          <p:nvSpPr>
            <p:cNvPr id="35" name="오른쪽 화살표 34">
              <a:hlinkClick r:id="rId6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7757219" y="2211438"/>
            <a:ext cx="216024" cy="242316"/>
            <a:chOff x="5596979" y="5643661"/>
            <a:chExt cx="216024" cy="242316"/>
          </a:xfrm>
        </p:grpSpPr>
        <p:sp>
          <p:nvSpPr>
            <p:cNvPr id="38" name="오른쪽 화살표 37">
              <a:hlinkClick r:id="rId7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7757219" y="2461480"/>
            <a:ext cx="216024" cy="242316"/>
            <a:chOff x="5596979" y="5643661"/>
            <a:chExt cx="216024" cy="242316"/>
          </a:xfrm>
        </p:grpSpPr>
        <p:sp>
          <p:nvSpPr>
            <p:cNvPr id="41" name="오른쪽 화살표 40">
              <a:hlinkClick r:id="rId8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7757219" y="2969690"/>
            <a:ext cx="216024" cy="242316"/>
            <a:chOff x="5596979" y="5643661"/>
            <a:chExt cx="216024" cy="242316"/>
          </a:xfrm>
        </p:grpSpPr>
        <p:sp>
          <p:nvSpPr>
            <p:cNvPr id="44" name="오른쪽 화살표 43">
              <a:hlinkClick r:id="rId9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7757219" y="4008415"/>
            <a:ext cx="216024" cy="242316"/>
            <a:chOff x="5596979" y="5643661"/>
            <a:chExt cx="216024" cy="242316"/>
          </a:xfrm>
        </p:grpSpPr>
        <p:sp>
          <p:nvSpPr>
            <p:cNvPr id="47" name="오른쪽 화살표 46">
              <a:hlinkClick r:id="rId10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7757219" y="4505544"/>
            <a:ext cx="216024" cy="242316"/>
            <a:chOff x="5596979" y="5643661"/>
            <a:chExt cx="216024" cy="242316"/>
          </a:xfrm>
        </p:grpSpPr>
        <p:sp>
          <p:nvSpPr>
            <p:cNvPr id="50" name="오른쪽 화살표 49">
              <a:hlinkClick r:id="rId11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7757219" y="3483421"/>
            <a:ext cx="216024" cy="242316"/>
            <a:chOff x="5596979" y="5643661"/>
            <a:chExt cx="216024" cy="242316"/>
          </a:xfrm>
        </p:grpSpPr>
        <p:sp>
          <p:nvSpPr>
            <p:cNvPr id="53" name="오른쪽 화살표 52">
              <a:hlinkClick r:id="rId12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7757219" y="3733463"/>
            <a:ext cx="216024" cy="242316"/>
            <a:chOff x="5596979" y="5643661"/>
            <a:chExt cx="216024" cy="242316"/>
          </a:xfrm>
        </p:grpSpPr>
        <p:sp>
          <p:nvSpPr>
            <p:cNvPr id="56" name="오른쪽 화살표 55">
              <a:hlinkClick r:id="rId13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7757219" y="4234746"/>
            <a:ext cx="216024" cy="242316"/>
            <a:chOff x="5596979" y="5643661"/>
            <a:chExt cx="216024" cy="242316"/>
          </a:xfrm>
        </p:grpSpPr>
        <p:sp>
          <p:nvSpPr>
            <p:cNvPr id="59" name="오른쪽 화살표 58">
              <a:hlinkClick r:id="rId14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7757219" y="5278110"/>
            <a:ext cx="216024" cy="242316"/>
            <a:chOff x="5596979" y="5643661"/>
            <a:chExt cx="216024" cy="242316"/>
          </a:xfrm>
        </p:grpSpPr>
        <p:sp>
          <p:nvSpPr>
            <p:cNvPr id="62" name="오른쪽 화살표 61">
              <a:hlinkClick r:id="rId15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7757219" y="5782166"/>
            <a:ext cx="216024" cy="242316"/>
            <a:chOff x="5596979" y="5643661"/>
            <a:chExt cx="216024" cy="242316"/>
          </a:xfrm>
        </p:grpSpPr>
        <p:sp>
          <p:nvSpPr>
            <p:cNvPr id="65" name="오른쪽 화살표 64">
              <a:hlinkClick r:id="rId16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7757219" y="4753116"/>
            <a:ext cx="216024" cy="242316"/>
            <a:chOff x="5596979" y="5643661"/>
            <a:chExt cx="216024" cy="242316"/>
          </a:xfrm>
        </p:grpSpPr>
        <p:sp>
          <p:nvSpPr>
            <p:cNvPr id="68" name="오른쪽 화살표 67">
              <a:hlinkClick r:id="rId17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7757219" y="5003158"/>
            <a:ext cx="216024" cy="242316"/>
            <a:chOff x="5596979" y="5643661"/>
            <a:chExt cx="216024" cy="242316"/>
          </a:xfrm>
        </p:grpSpPr>
        <p:sp>
          <p:nvSpPr>
            <p:cNvPr id="71" name="오른쪽 화살표 70">
              <a:hlinkClick r:id="rId18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57219" y="5511368"/>
            <a:ext cx="216024" cy="242316"/>
            <a:chOff x="5596979" y="5643661"/>
            <a:chExt cx="216024" cy="242316"/>
          </a:xfrm>
        </p:grpSpPr>
        <p:sp>
          <p:nvSpPr>
            <p:cNvPr id="74" name="오른쪽 화살표 73">
              <a:hlinkClick r:id="rId19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7757219" y="6295280"/>
            <a:ext cx="216024" cy="242316"/>
            <a:chOff x="5596979" y="5643661"/>
            <a:chExt cx="216024" cy="242316"/>
          </a:xfrm>
        </p:grpSpPr>
        <p:sp>
          <p:nvSpPr>
            <p:cNvPr id="77" name="오른쪽 화살표 76">
              <a:hlinkClick r:id="rId20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7757219" y="6024482"/>
            <a:ext cx="216024" cy="242316"/>
            <a:chOff x="5596979" y="5643661"/>
            <a:chExt cx="216024" cy="242316"/>
          </a:xfrm>
        </p:grpSpPr>
        <p:sp>
          <p:nvSpPr>
            <p:cNvPr id="80" name="오른쪽 화살표 79">
              <a:hlinkClick r:id="rId21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마스터 관리 화면목록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altLang="ko-KR" dirty="0" smtClean="0"/>
              <a:t>Jig Formation</a:t>
            </a:r>
            <a:r>
              <a:rPr lang="ko-KR" altLang="en-US" dirty="0" smtClean="0"/>
              <a:t>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638624"/>
              </p:ext>
            </p:extLst>
          </p:nvPr>
        </p:nvGraphicFramePr>
        <p:xfrm>
          <a:off x="285237" y="1284130"/>
          <a:ext cx="9780038" cy="409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570"/>
                <a:gridCol w="2137727"/>
                <a:gridCol w="941237"/>
                <a:gridCol w="3351432"/>
                <a:gridCol w="540325"/>
                <a:gridCol w="540325"/>
                <a:gridCol w="1908422"/>
              </a:tblGrid>
              <a:tr h="182432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작업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400" b="1" dirty="0"/>
                        <a:t>UI id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Description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Remarks</a:t>
                      </a:r>
                      <a:endParaRPr lang="ko-KR" altLang="en-US" sz="1400" b="1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생산모델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생산모델 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Cell Type </a:t>
                      </a:r>
                      <a:r>
                        <a:rPr lang="ko-KR" altLang="en-US" sz="1200" dirty="0" smtClean="0"/>
                        <a:t>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작업 가능 </a:t>
                      </a:r>
                      <a:r>
                        <a:rPr lang="en-US" altLang="ko-KR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Cell Type </a:t>
                      </a:r>
                      <a:r>
                        <a:rPr lang="ko-KR" altLang="en-US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관리</a:t>
                      </a:r>
                      <a:endParaRPr lang="en-US" altLang="ko-KR" sz="100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Route </a:t>
                      </a:r>
                      <a:r>
                        <a:rPr lang="ko-KR" altLang="en-US" sz="1200" dirty="0" smtClean="0"/>
                        <a:t>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Route</a:t>
                      </a:r>
                      <a:r>
                        <a:rPr lang="ko-KR" altLang="en-US" sz="1000" dirty="0" smtClean="0"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</a:rPr>
                        <a:t>별 공정 작업 순서 등록</a:t>
                      </a:r>
                      <a:endParaRPr lang="en-US" altLang="ko-KR" sz="1000" dirty="0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 smtClean="0"/>
                        <a:t>Route </a:t>
                      </a:r>
                      <a:r>
                        <a:rPr lang="ko-KR" altLang="en-US" sz="1200" dirty="0" smtClean="0"/>
                        <a:t>등록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MST-04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000" dirty="0" smtClean="0"/>
                        <a:t>Route</a:t>
                      </a:r>
                      <a:r>
                        <a:rPr lang="en-US" altLang="ko-KR" sz="1000" baseline="0" dirty="0" smtClean="0"/>
                        <a:t>  </a:t>
                      </a:r>
                      <a:r>
                        <a:rPr lang="ko-KR" altLang="en-US" sz="1000" baseline="0" dirty="0" smtClean="0"/>
                        <a:t>등록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Route </a:t>
                      </a:r>
                      <a:r>
                        <a:rPr lang="ko-KR" altLang="en-US" sz="1000" dirty="0" smtClean="0"/>
                        <a:t>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Route ID </a:t>
                      </a:r>
                      <a:r>
                        <a:rPr lang="ko-KR" altLang="en-US" sz="1200" dirty="0" smtClean="0"/>
                        <a:t>복제 생성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MST-05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기존 </a:t>
                      </a:r>
                      <a:r>
                        <a:rPr lang="en-US" altLang="ko-KR" sz="1000" dirty="0" smtClean="0"/>
                        <a:t>Route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복제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000" dirty="0" smtClean="0"/>
                        <a:t>Route </a:t>
                      </a:r>
                      <a:r>
                        <a:rPr lang="ko-KR" altLang="en-US" sz="1000" dirty="0" smtClean="0"/>
                        <a:t>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Recipe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MST-06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Route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err="1" smtClean="0"/>
                        <a:t>공정별</a:t>
                      </a:r>
                      <a:r>
                        <a:rPr lang="ko-KR" altLang="en-US" sz="1000" baseline="0" dirty="0" smtClean="0"/>
                        <a:t> </a:t>
                      </a:r>
                      <a:r>
                        <a:rPr lang="en-US" altLang="ko-KR" sz="1000" baseline="0" dirty="0" smtClean="0"/>
                        <a:t>Recipe </a:t>
                      </a:r>
                      <a:r>
                        <a:rPr lang="ko-KR" altLang="en-US" sz="1000" baseline="0" dirty="0" smtClean="0"/>
                        <a:t>정보 등록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7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Recipe</a:t>
                      </a:r>
                      <a:r>
                        <a:rPr lang="en-US" altLang="ko-KR" sz="1200" baseline="0" dirty="0" smtClean="0"/>
                        <a:t> Data </a:t>
                      </a:r>
                      <a:r>
                        <a:rPr lang="ko-KR" altLang="en-US" sz="1200" baseline="0" dirty="0" smtClean="0"/>
                        <a:t>등록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MST-07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Route </a:t>
                      </a:r>
                      <a:r>
                        <a:rPr lang="ko-KR" altLang="en-US" sz="1000" dirty="0" err="1" smtClean="0"/>
                        <a:t>공정별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Recipe </a:t>
                      </a:r>
                      <a:r>
                        <a:rPr lang="ko-KR" altLang="en-US" sz="1000" dirty="0" smtClean="0"/>
                        <a:t>정보 등록</a:t>
                      </a:r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공정에 따라 입력 항목 바뀜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Recipe </a:t>
                      </a:r>
                      <a:r>
                        <a:rPr lang="ko-KR" altLang="en-US" sz="1000" dirty="0" smtClean="0"/>
                        <a:t>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8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Recipe Time </a:t>
                      </a:r>
                      <a:r>
                        <a:rPr lang="ko-KR" altLang="en-US" sz="1200" dirty="0" smtClean="0"/>
                        <a:t>등록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MST-08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Route </a:t>
                      </a:r>
                      <a:r>
                        <a:rPr lang="ko-KR" altLang="en-US" sz="1000" dirty="0" err="1" smtClean="0"/>
                        <a:t>공정별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en-US" altLang="ko-KR" sz="1000" dirty="0" smtClean="0"/>
                        <a:t>Recipe </a:t>
                      </a:r>
                      <a:r>
                        <a:rPr lang="ko-KR" altLang="en-US" sz="1000" dirty="0" smtClean="0"/>
                        <a:t>정보 등록</a:t>
                      </a:r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공정에 따라 시간 입력 항목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Recipe </a:t>
                      </a:r>
                      <a:r>
                        <a:rPr lang="ko-KR" altLang="en-US" sz="1000" dirty="0" smtClean="0"/>
                        <a:t>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9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Trouble </a:t>
                      </a:r>
                      <a:r>
                        <a:rPr lang="ko-KR" altLang="en-US" sz="1200" dirty="0" smtClean="0"/>
                        <a:t>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MST-09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smtClean="0"/>
                        <a:t>EQP</a:t>
                      </a:r>
                      <a:r>
                        <a:rPr lang="ko-KR" altLang="en-US" sz="1000" dirty="0" smtClean="0"/>
                        <a:t>별 </a:t>
                      </a:r>
                      <a:r>
                        <a:rPr lang="en-US" altLang="ko-KR" sz="1000" dirty="0" smtClean="0"/>
                        <a:t>Trouble Code </a:t>
                      </a:r>
                      <a:r>
                        <a:rPr lang="ko-KR" altLang="en-US" sz="1000" dirty="0" smtClean="0"/>
                        <a:t>등록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10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사용자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MST-10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사용자 정보 등록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화면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MST-11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화면 권한 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사용자 화면 권한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MST-12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 smtClean="0"/>
                        <a:t>사용자별</a:t>
                      </a:r>
                      <a:r>
                        <a:rPr lang="ko-KR" altLang="en-US" sz="1000" dirty="0" smtClean="0"/>
                        <a:t> 화면 권한 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재사용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단위판정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MST-13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smtClean="0"/>
                        <a:t>단위판정 관리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신규</a:t>
                      </a: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0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7757219" y="1856968"/>
            <a:ext cx="216024" cy="242316"/>
            <a:chOff x="5596979" y="5643661"/>
            <a:chExt cx="216024" cy="242316"/>
          </a:xfrm>
        </p:grpSpPr>
        <p:sp>
          <p:nvSpPr>
            <p:cNvPr id="7" name="오른쪽 화살표 6">
              <a:hlinkClick r:id="rId2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7757219" y="2361024"/>
            <a:ext cx="216024" cy="242316"/>
            <a:chOff x="5596979" y="5643661"/>
            <a:chExt cx="216024" cy="242316"/>
          </a:xfrm>
        </p:grpSpPr>
        <p:sp>
          <p:nvSpPr>
            <p:cNvPr id="10" name="오른쪽 화살표 9">
              <a:hlinkClick r:id="rId3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757219" y="1582016"/>
            <a:ext cx="216024" cy="242316"/>
            <a:chOff x="5596979" y="5643661"/>
            <a:chExt cx="216024" cy="242316"/>
          </a:xfrm>
        </p:grpSpPr>
        <p:sp>
          <p:nvSpPr>
            <p:cNvPr id="13" name="오른쪽 화살표 12">
              <a:hlinkClick r:id="rId4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7757219" y="2090226"/>
            <a:ext cx="216024" cy="242316"/>
            <a:chOff x="5596979" y="5643661"/>
            <a:chExt cx="216024" cy="242316"/>
          </a:xfrm>
        </p:grpSpPr>
        <p:sp>
          <p:nvSpPr>
            <p:cNvPr id="16" name="오른쪽 화살표 15">
              <a:hlinkClick r:id="rId5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7757219" y="2874138"/>
            <a:ext cx="216024" cy="242316"/>
            <a:chOff x="5596979" y="5643661"/>
            <a:chExt cx="216024" cy="242316"/>
          </a:xfrm>
        </p:grpSpPr>
        <p:sp>
          <p:nvSpPr>
            <p:cNvPr id="19" name="오른쪽 화살표 18">
              <a:hlinkClick r:id="rId6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757219" y="2603340"/>
            <a:ext cx="216024" cy="242316"/>
            <a:chOff x="5596979" y="5643661"/>
            <a:chExt cx="216024" cy="242316"/>
          </a:xfrm>
        </p:grpSpPr>
        <p:sp>
          <p:nvSpPr>
            <p:cNvPr id="22" name="오른쪽 화살표 21">
              <a:hlinkClick r:id="rId7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7757219" y="3858089"/>
            <a:ext cx="216024" cy="242316"/>
            <a:chOff x="5596979" y="5643661"/>
            <a:chExt cx="216024" cy="242316"/>
          </a:xfrm>
        </p:grpSpPr>
        <p:sp>
          <p:nvSpPr>
            <p:cNvPr id="25" name="오른쪽 화살표 24">
              <a:hlinkClick r:id="rId8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7757219" y="4362145"/>
            <a:ext cx="216024" cy="242316"/>
            <a:chOff x="5596979" y="5643661"/>
            <a:chExt cx="216024" cy="242316"/>
          </a:xfrm>
        </p:grpSpPr>
        <p:sp>
          <p:nvSpPr>
            <p:cNvPr id="28" name="오른쪽 화살표 27">
              <a:hlinkClick r:id="rId9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7757219" y="3536064"/>
            <a:ext cx="216024" cy="242316"/>
            <a:chOff x="5596979" y="5643661"/>
            <a:chExt cx="216024" cy="242316"/>
          </a:xfrm>
        </p:grpSpPr>
        <p:sp>
          <p:nvSpPr>
            <p:cNvPr id="31" name="오른쪽 화살표 30">
              <a:hlinkClick r:id="rId10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7757219" y="4091347"/>
            <a:ext cx="216024" cy="242316"/>
            <a:chOff x="5596979" y="5643661"/>
            <a:chExt cx="216024" cy="242316"/>
          </a:xfrm>
        </p:grpSpPr>
        <p:sp>
          <p:nvSpPr>
            <p:cNvPr id="34" name="오른쪽 화살표 33">
              <a:hlinkClick r:id="rId11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7757219" y="4875259"/>
            <a:ext cx="216024" cy="242316"/>
            <a:chOff x="5596979" y="5643661"/>
            <a:chExt cx="216024" cy="242316"/>
          </a:xfrm>
        </p:grpSpPr>
        <p:sp>
          <p:nvSpPr>
            <p:cNvPr id="37" name="오른쪽 화살표 36">
              <a:hlinkClick r:id="rId12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7757219" y="4604461"/>
            <a:ext cx="216024" cy="242316"/>
            <a:chOff x="5596979" y="5643661"/>
            <a:chExt cx="216024" cy="242316"/>
          </a:xfrm>
        </p:grpSpPr>
        <p:sp>
          <p:nvSpPr>
            <p:cNvPr id="40" name="오른쪽 화살표 39">
              <a:hlinkClick r:id="rId13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7757219" y="3169097"/>
            <a:ext cx="216024" cy="242316"/>
            <a:chOff x="5596979" y="5643661"/>
            <a:chExt cx="216024" cy="242316"/>
          </a:xfrm>
        </p:grpSpPr>
        <p:sp>
          <p:nvSpPr>
            <p:cNvPr id="43" name="오른쪽 화살표 42">
              <a:hlinkClick r:id="rId14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6379" y="963141"/>
            <a:ext cx="9936163" cy="5976938"/>
          </a:xfrm>
        </p:spPr>
        <p:txBody>
          <a:bodyPr/>
          <a:lstStyle/>
          <a:p>
            <a:r>
              <a:rPr lang="ko-KR" altLang="en-US" dirty="0" smtClean="0"/>
              <a:t>메뉴 목록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en-US" altLang="ko-KR" dirty="0" smtClean="0"/>
              <a:t>Jig Formation</a:t>
            </a:r>
            <a:r>
              <a:rPr lang="ko-KR" altLang="en-US" dirty="0" smtClean="0"/>
              <a:t> 메뉴</a:t>
            </a:r>
            <a:endParaRPr lang="ko-KR" altLang="en-US" dirty="0"/>
          </a:p>
        </p:txBody>
      </p:sp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094253"/>
              </p:ext>
            </p:extLst>
          </p:nvPr>
        </p:nvGraphicFramePr>
        <p:xfrm>
          <a:off x="285237" y="1284130"/>
          <a:ext cx="9272181" cy="385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7406"/>
                <a:gridCol w="2232248"/>
                <a:gridCol w="2376264"/>
                <a:gridCol w="2376263"/>
              </a:tblGrid>
              <a:tr h="182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/>
                        <a:t>모니터링</a:t>
                      </a:r>
                      <a:endParaRPr lang="ko-KR" altLang="en-US" sz="1400" b="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 smtClean="0"/>
                        <a:t>레포트</a:t>
                      </a:r>
                      <a:endParaRPr lang="ko-KR" altLang="en-US" sz="1400" b="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smtClean="0"/>
                        <a:t>관리</a:t>
                      </a:r>
                      <a:endParaRPr lang="ko-KR" altLang="en-US" sz="1400" b="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Monitoring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Jig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 조회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생산모델 관리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Formation Monitoring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Cell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 조회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Cell Type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Cell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 생성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Tray/Jig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별 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Cell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정보 조회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Route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공정별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생산 현황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Recipe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실적 조회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공정 실적 관리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Trouble </a:t>
                      </a:r>
                      <a:r>
                        <a:rPr lang="ko-KR" altLang="en-US" sz="1200" dirty="0" smtClean="0"/>
                        <a:t>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부적합률 실적 조회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사용자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판정 결과 조회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화면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Trouble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조회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Trouble Info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사용자 화면 권한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Trouble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분석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단위판정 관리</a:t>
                      </a: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설비 상태 조회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6710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1200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2356619" y="1580767"/>
            <a:ext cx="216024" cy="242316"/>
            <a:chOff x="5596979" y="5643661"/>
            <a:chExt cx="216024" cy="242316"/>
          </a:xfrm>
        </p:grpSpPr>
        <p:sp>
          <p:nvSpPr>
            <p:cNvPr id="7" name="오른쪽 화살표 6">
              <a:hlinkClick r:id="rId2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356619" y="1820310"/>
            <a:ext cx="216024" cy="242316"/>
            <a:chOff x="5596979" y="5643661"/>
            <a:chExt cx="216024" cy="242316"/>
          </a:xfrm>
        </p:grpSpPr>
        <p:sp>
          <p:nvSpPr>
            <p:cNvPr id="10" name="오른쪽 화살표 9">
              <a:hlinkClick r:id="rId3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2356619" y="2094327"/>
            <a:ext cx="216024" cy="242316"/>
            <a:chOff x="5596979" y="5643661"/>
            <a:chExt cx="216024" cy="242316"/>
          </a:xfrm>
        </p:grpSpPr>
        <p:sp>
          <p:nvSpPr>
            <p:cNvPr id="13" name="오른쪽 화살표 12">
              <a:hlinkClick r:id="rId4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4588867" y="1580767"/>
            <a:ext cx="216024" cy="242316"/>
            <a:chOff x="7757219" y="1564728"/>
            <a:chExt cx="216024" cy="242316"/>
          </a:xfrm>
        </p:grpSpPr>
        <p:sp>
          <p:nvSpPr>
            <p:cNvPr id="17" name="오른쪽 화살표 16">
              <a:hlinkClick r:id="rId5" action="ppaction://hlinksldjump"/>
            </p:cNvPr>
            <p:cNvSpPr/>
            <p:nvPr/>
          </p:nvSpPr>
          <p:spPr>
            <a:xfrm>
              <a:off x="7757219" y="1564728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757219" y="1564728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4588867" y="2062626"/>
            <a:ext cx="216024" cy="242316"/>
            <a:chOff x="5596979" y="5643661"/>
            <a:chExt cx="216024" cy="242316"/>
          </a:xfrm>
        </p:grpSpPr>
        <p:sp>
          <p:nvSpPr>
            <p:cNvPr id="20" name="오른쪽 화살표 19">
              <a:hlinkClick r:id="rId6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588867" y="1820310"/>
            <a:ext cx="216024" cy="242316"/>
            <a:chOff x="5596979" y="5643661"/>
            <a:chExt cx="216024" cy="242316"/>
          </a:xfrm>
        </p:grpSpPr>
        <p:sp>
          <p:nvSpPr>
            <p:cNvPr id="23" name="오른쪽 화살표 22">
              <a:hlinkClick r:id="rId7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6965131" y="2588244"/>
            <a:ext cx="216024" cy="242316"/>
            <a:chOff x="5596979" y="5643661"/>
            <a:chExt cx="216024" cy="242316"/>
          </a:xfrm>
        </p:grpSpPr>
        <p:sp>
          <p:nvSpPr>
            <p:cNvPr id="26" name="오른쪽 화살표 25">
              <a:hlinkClick r:id="rId8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4588867" y="2345928"/>
            <a:ext cx="216024" cy="242316"/>
            <a:chOff x="5596979" y="5643661"/>
            <a:chExt cx="216024" cy="242316"/>
          </a:xfrm>
        </p:grpSpPr>
        <p:sp>
          <p:nvSpPr>
            <p:cNvPr id="29" name="오른쪽 화살표 28">
              <a:hlinkClick r:id="rId9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6965131" y="2835816"/>
            <a:ext cx="216024" cy="242316"/>
            <a:chOff x="5596979" y="5643661"/>
            <a:chExt cx="216024" cy="242316"/>
          </a:xfrm>
        </p:grpSpPr>
        <p:sp>
          <p:nvSpPr>
            <p:cNvPr id="32" name="오른쪽 화살표 31">
              <a:hlinkClick r:id="rId10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6965131" y="3106639"/>
            <a:ext cx="216024" cy="242316"/>
            <a:chOff x="5596979" y="5643661"/>
            <a:chExt cx="216024" cy="242316"/>
          </a:xfrm>
        </p:grpSpPr>
        <p:sp>
          <p:nvSpPr>
            <p:cNvPr id="35" name="오른쪽 화살표 34">
              <a:hlinkClick r:id="rId11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965131" y="3348955"/>
            <a:ext cx="216024" cy="242316"/>
            <a:chOff x="5596979" y="5643661"/>
            <a:chExt cx="216024" cy="242316"/>
          </a:xfrm>
        </p:grpSpPr>
        <p:sp>
          <p:nvSpPr>
            <p:cNvPr id="38" name="오른쪽 화살표 37">
              <a:hlinkClick r:id="rId12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6965131" y="3613583"/>
            <a:ext cx="216024" cy="242316"/>
            <a:chOff x="5596979" y="5643661"/>
            <a:chExt cx="216024" cy="242316"/>
          </a:xfrm>
        </p:grpSpPr>
        <p:sp>
          <p:nvSpPr>
            <p:cNvPr id="41" name="오른쪽 화살표 40">
              <a:hlinkClick r:id="rId13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4588867" y="4134774"/>
            <a:ext cx="216024" cy="242316"/>
            <a:chOff x="5596979" y="5643661"/>
            <a:chExt cx="216024" cy="242316"/>
          </a:xfrm>
        </p:grpSpPr>
        <p:sp>
          <p:nvSpPr>
            <p:cNvPr id="44" name="오른쪽 화살표 43">
              <a:hlinkClick r:id="rId14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4588867" y="3877830"/>
            <a:ext cx="216024" cy="242316"/>
            <a:chOff x="5596979" y="5643661"/>
            <a:chExt cx="216024" cy="242316"/>
          </a:xfrm>
        </p:grpSpPr>
        <p:sp>
          <p:nvSpPr>
            <p:cNvPr id="47" name="오른쪽 화살표 46">
              <a:hlinkClick r:id="rId15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9341395" y="1856968"/>
            <a:ext cx="216024" cy="242316"/>
            <a:chOff x="5596979" y="5643661"/>
            <a:chExt cx="216024" cy="242316"/>
          </a:xfrm>
        </p:grpSpPr>
        <p:sp>
          <p:nvSpPr>
            <p:cNvPr id="50" name="오른쪽 화살표 49">
              <a:hlinkClick r:id="rId16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9341395" y="1582016"/>
            <a:ext cx="216024" cy="242316"/>
            <a:chOff x="5596979" y="5643661"/>
            <a:chExt cx="216024" cy="242316"/>
          </a:xfrm>
        </p:grpSpPr>
        <p:sp>
          <p:nvSpPr>
            <p:cNvPr id="53" name="오른쪽 화살표 52">
              <a:hlinkClick r:id="rId17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9341395" y="2090226"/>
            <a:ext cx="216024" cy="242316"/>
            <a:chOff x="5596979" y="5643661"/>
            <a:chExt cx="216024" cy="242316"/>
          </a:xfrm>
        </p:grpSpPr>
        <p:sp>
          <p:nvSpPr>
            <p:cNvPr id="56" name="오른쪽 화살표 55">
              <a:hlinkClick r:id="rId18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9335877" y="2336643"/>
            <a:ext cx="222951" cy="242316"/>
            <a:chOff x="5596979" y="5643661"/>
            <a:chExt cx="222951" cy="242316"/>
          </a:xfrm>
        </p:grpSpPr>
        <p:sp>
          <p:nvSpPr>
            <p:cNvPr id="77" name="오른쪽 화살표 76">
              <a:hlinkClick r:id="rId19" action="ppaction://hlinksldjump"/>
            </p:cNvPr>
            <p:cNvSpPr/>
            <p:nvPr/>
          </p:nvSpPr>
          <p:spPr>
            <a:xfrm>
              <a:off x="5603906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9335877" y="2570929"/>
            <a:ext cx="216024" cy="242316"/>
            <a:chOff x="5596979" y="5643661"/>
            <a:chExt cx="216024" cy="242316"/>
          </a:xfrm>
        </p:grpSpPr>
        <p:sp>
          <p:nvSpPr>
            <p:cNvPr id="80" name="오른쪽 화살표 79">
              <a:hlinkClick r:id="rId20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9335877" y="3099661"/>
            <a:ext cx="216024" cy="242316"/>
            <a:chOff x="5596979" y="5643661"/>
            <a:chExt cx="216024" cy="242316"/>
          </a:xfrm>
        </p:grpSpPr>
        <p:sp>
          <p:nvSpPr>
            <p:cNvPr id="83" name="오른쪽 화살표 82">
              <a:hlinkClick r:id="rId21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9335877" y="2828863"/>
            <a:ext cx="216024" cy="242316"/>
            <a:chOff x="5596979" y="5643661"/>
            <a:chExt cx="216024" cy="242316"/>
          </a:xfrm>
        </p:grpSpPr>
        <p:sp>
          <p:nvSpPr>
            <p:cNvPr id="86" name="오른쪽 화살표 85">
              <a:hlinkClick r:id="rId22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9335877" y="3612775"/>
            <a:ext cx="216024" cy="242316"/>
            <a:chOff x="5596979" y="5643661"/>
            <a:chExt cx="216024" cy="242316"/>
          </a:xfrm>
        </p:grpSpPr>
        <p:sp>
          <p:nvSpPr>
            <p:cNvPr id="89" name="오른쪽 화살표 88">
              <a:hlinkClick r:id="rId23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9335877" y="3341977"/>
            <a:ext cx="216024" cy="242316"/>
            <a:chOff x="5596979" y="5643661"/>
            <a:chExt cx="216024" cy="242316"/>
          </a:xfrm>
        </p:grpSpPr>
        <p:sp>
          <p:nvSpPr>
            <p:cNvPr id="92" name="오른쪽 화살표 91">
              <a:hlinkClick r:id="rId24" action="ppaction://hlinksldjump"/>
            </p:cNvPr>
            <p:cNvSpPr/>
            <p:nvPr/>
          </p:nvSpPr>
          <p:spPr>
            <a:xfrm>
              <a:off x="5596979" y="5643661"/>
              <a:ext cx="216024" cy="242316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5596979" y="5643661"/>
              <a:ext cx="216024" cy="2423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384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 smtClean="0"/>
              <a:t>사용자 로그인 화면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LogIn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ID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사용자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Password : Password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확인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LogIn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ID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Password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로 로그인 처리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로그인 화면 종료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tMstUser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tMstUserClass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tMstWindow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tMstWindowUser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로그인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Jig Formation Monitoring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2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모니터링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1931710" y="2691333"/>
            <a:ext cx="3312368" cy="2088232"/>
            <a:chOff x="2068587" y="2259285"/>
            <a:chExt cx="3312368" cy="2088232"/>
          </a:xfrm>
        </p:grpSpPr>
        <p:grpSp>
          <p:nvGrpSpPr>
            <p:cNvPr id="15" name="그룹 89"/>
            <p:cNvGrpSpPr/>
            <p:nvPr/>
          </p:nvGrpSpPr>
          <p:grpSpPr>
            <a:xfrm>
              <a:off x="3868787" y="3843461"/>
              <a:ext cx="864583" cy="320360"/>
              <a:chOff x="7195069" y="5833168"/>
              <a:chExt cx="864304" cy="320360"/>
            </a:xfrm>
          </p:grpSpPr>
          <p:pic>
            <p:nvPicPr>
              <p:cNvPr id="17" name="그림 16"/>
              <p:cNvPicPr>
                <a:picLocks noChangeAspect="1"/>
              </p:cNvPicPr>
              <p:nvPr/>
            </p:nvPicPr>
            <p:blipFill rotWithShape="1">
              <a:blip r:embed="rId3" cstate="print"/>
              <a:srcRect l="966" t="4567" r="75934" b="6074"/>
              <a:stretch>
                <a:fillRect/>
              </a:stretch>
            </p:blipFill>
            <p:spPr>
              <a:xfrm>
                <a:off x="7241338" y="5833168"/>
                <a:ext cx="818035" cy="320360"/>
              </a:xfrm>
              <a:prstGeom prst="rect">
                <a:avLst/>
              </a:prstGeom>
            </p:spPr>
          </p:pic>
          <p:sp>
            <p:nvSpPr>
              <p:cNvPr id="18" name="직사각형 17"/>
              <p:cNvSpPr/>
              <p:nvPr/>
            </p:nvSpPr>
            <p:spPr>
              <a:xfrm>
                <a:off x="7195069" y="5874153"/>
                <a:ext cx="797901" cy="23839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1">
                <a:noAutofit/>
              </a:bodyPr>
              <a:lstStyle/>
              <a:p>
                <a:pPr algn="ctr"/>
                <a:r>
                  <a:rPr lang="ko-KR" altLang="en-US" sz="1200" b="1" dirty="0" smtClean="0">
                    <a:solidFill>
                      <a:schemeClr val="bg1"/>
                    </a:solidFill>
                    <a:latin typeface="+mn-ea"/>
                  </a:rPr>
                  <a:t>종료</a:t>
                </a:r>
                <a:endParaRPr lang="ko-KR" altLang="en-US" sz="1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9" name="직사각형 18"/>
            <p:cNvSpPr/>
            <p:nvPr/>
          </p:nvSpPr>
          <p:spPr>
            <a:xfrm>
              <a:off x="2623870" y="3354588"/>
              <a:ext cx="1089589" cy="255712"/>
            </a:xfrm>
            <a:prstGeom prst="rect">
              <a:avLst/>
            </a:prstGeom>
            <a:noFill/>
          </p:spPr>
          <p:txBody>
            <a:bodyPr wrap="square" lIns="72000" tIns="0" rIns="36000" bIns="0" anchor="ctr" anchorCtr="0">
              <a:noAutofit/>
            </a:bodyPr>
            <a:lstStyle/>
            <a:p>
              <a:pPr marL="171450" indent="-171450">
                <a:buClr>
                  <a:srgbClr val="FF0000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en-US" altLang="ko-KR" sz="800" b="1" dirty="0" smtClean="0">
                  <a:latin typeface="+mn-ea"/>
                </a:rPr>
                <a:t>Password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3436739" y="3383611"/>
              <a:ext cx="1296144" cy="197667"/>
            </a:xfrm>
            <a:prstGeom prst="rect">
              <a:avLst/>
            </a:prstGeom>
            <a:noFill/>
            <a:ln w="3175" algn="ctr">
              <a:solidFill>
                <a:schemeClr val="tx1">
                  <a:lumMod val="85000"/>
                  <a:lumOff val="15000"/>
                </a:scheme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endParaRPr lang="ko-KR" altLang="en-US" sz="800" b="1" baseline="500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2644651" y="3011685"/>
              <a:ext cx="1089589" cy="255712"/>
            </a:xfrm>
            <a:prstGeom prst="rect">
              <a:avLst/>
            </a:prstGeom>
            <a:noFill/>
          </p:spPr>
          <p:txBody>
            <a:bodyPr wrap="square" lIns="72000" tIns="0" rIns="36000" bIns="0" anchor="ctr" anchorCtr="0">
              <a:noAutofit/>
            </a:bodyPr>
            <a:lstStyle/>
            <a:p>
              <a:pPr marL="171450" indent="-171450">
                <a:buClr>
                  <a:srgbClr val="FF0000"/>
                </a:buClr>
                <a:buSzPct val="100000"/>
                <a:buFont typeface="Wingdings" panose="05000000000000000000" pitchFamily="2" charset="2"/>
                <a:buChar char="l"/>
              </a:pPr>
              <a:r>
                <a:rPr lang="en-US" altLang="ko-KR" sz="800" b="1" dirty="0" err="1" smtClean="0">
                  <a:latin typeface="+mn-ea"/>
                </a:rPr>
                <a:t>LogIn</a:t>
              </a:r>
              <a:r>
                <a:rPr lang="en-US" altLang="ko-KR" sz="800" b="1" dirty="0" smtClean="0">
                  <a:latin typeface="+mn-ea"/>
                </a:rPr>
                <a:t> ID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3436739" y="2979365"/>
              <a:ext cx="1296144" cy="197667"/>
            </a:xfrm>
            <a:prstGeom prst="rect">
              <a:avLst/>
            </a:prstGeom>
            <a:noFill/>
            <a:ln w="3175" algn="ctr">
              <a:solidFill>
                <a:schemeClr val="tx1">
                  <a:lumMod val="85000"/>
                  <a:lumOff val="15000"/>
                </a:scheme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endParaRPr lang="ko-KR" altLang="en-US" sz="800" b="1" baseline="50000" dirty="0">
                <a:solidFill>
                  <a:srgbClr val="C00000"/>
                </a:solidFill>
                <a:latin typeface="+mn-ea"/>
              </a:endParaRPr>
            </a:p>
          </p:txBody>
        </p:sp>
        <p:grpSp>
          <p:nvGrpSpPr>
            <p:cNvPr id="26" name="그룹 89"/>
            <p:cNvGrpSpPr/>
            <p:nvPr/>
          </p:nvGrpSpPr>
          <p:grpSpPr>
            <a:xfrm>
              <a:off x="2860188" y="3843461"/>
              <a:ext cx="853271" cy="320360"/>
              <a:chOff x="7195069" y="5833168"/>
              <a:chExt cx="864304" cy="320360"/>
            </a:xfrm>
          </p:grpSpPr>
          <p:pic>
            <p:nvPicPr>
              <p:cNvPr id="27" name="그림 26"/>
              <p:cNvPicPr>
                <a:picLocks noChangeAspect="1"/>
              </p:cNvPicPr>
              <p:nvPr/>
            </p:nvPicPr>
            <p:blipFill rotWithShape="1">
              <a:blip r:embed="rId3" cstate="print"/>
              <a:srcRect l="966" t="4567" r="75934" b="6074"/>
              <a:stretch>
                <a:fillRect/>
              </a:stretch>
            </p:blipFill>
            <p:spPr>
              <a:xfrm>
                <a:off x="7241338" y="5833168"/>
                <a:ext cx="818035" cy="320360"/>
              </a:xfrm>
              <a:prstGeom prst="rect">
                <a:avLst/>
              </a:prstGeom>
            </p:spPr>
          </p:pic>
          <p:sp>
            <p:nvSpPr>
              <p:cNvPr id="28" name="직사각형 27"/>
              <p:cNvSpPr/>
              <p:nvPr/>
            </p:nvSpPr>
            <p:spPr>
              <a:xfrm>
                <a:off x="7195069" y="5874153"/>
                <a:ext cx="797901" cy="23839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1">
                <a:noAutofit/>
              </a:bodyPr>
              <a:lstStyle/>
              <a:p>
                <a:pPr algn="ctr"/>
                <a:r>
                  <a:rPr lang="ko-KR" altLang="en-US" sz="1200" b="1" dirty="0" smtClean="0">
                    <a:solidFill>
                      <a:schemeClr val="bg1"/>
                    </a:solidFill>
                    <a:latin typeface="+mn-ea"/>
                  </a:rPr>
                  <a:t>확인</a:t>
                </a:r>
                <a:endParaRPr lang="ko-KR" altLang="en-US" sz="1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29" name="직사각형 28"/>
            <p:cNvSpPr/>
            <p:nvPr/>
          </p:nvSpPr>
          <p:spPr bwMode="auto">
            <a:xfrm>
              <a:off x="2932195" y="2403301"/>
              <a:ext cx="2448760" cy="360040"/>
            </a:xfrm>
            <a:prstGeom prst="rect">
              <a:avLst/>
            </a:prstGeom>
            <a:noFill/>
            <a:ln w="3175" algn="ctr">
              <a:noFill/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endParaRPr lang="en-US" altLang="ko-KR" sz="2000" b="1" baseline="50000" dirty="0" smtClean="0">
                <a:latin typeface="+mn-ea"/>
              </a:endParaRPr>
            </a:p>
            <a:p>
              <a:r>
                <a:rPr lang="en-US" altLang="ko-KR" sz="2000" b="1" baseline="50000" dirty="0" smtClean="0">
                  <a:latin typeface="+mn-ea"/>
                </a:rPr>
                <a:t>Formation System / Login</a:t>
              </a:r>
              <a:endParaRPr lang="ko-KR" altLang="en-US" sz="2000" b="1" baseline="50000" dirty="0">
                <a:latin typeface="+mn-ea"/>
              </a:endParaRPr>
            </a:p>
          </p:txBody>
        </p:sp>
        <p:pic>
          <p:nvPicPr>
            <p:cNvPr id="30" name="Picture 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0683" y="2492896"/>
              <a:ext cx="762000" cy="198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2068587" y="2259285"/>
              <a:ext cx="3168352" cy="20882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타원 22"/>
          <p:cNvSpPr/>
          <p:nvPr/>
        </p:nvSpPr>
        <p:spPr>
          <a:xfrm>
            <a:off x="3343376" y="4062392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4369232" y="4062392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4596493" y="338458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4596493" y="378264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2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47934" y="1107157"/>
            <a:ext cx="868194" cy="259342"/>
          </a:xfrm>
        </p:spPr>
        <p:txBody>
          <a:bodyPr/>
          <a:lstStyle/>
          <a:p>
            <a:r>
              <a:rPr lang="en-US" altLang="ko-KR" dirty="0" smtClean="0"/>
              <a:t>MON-01</a:t>
            </a:r>
            <a:endParaRPr lang="ko-KR" altLang="en-US" dirty="0"/>
          </a:p>
        </p:txBody>
      </p:sp>
      <p:grpSp>
        <p:nvGrpSpPr>
          <p:cNvPr id="35" name="그룹 34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36" name="위쪽 화살표 35">
              <a:hlinkClick r:id="rId5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로그인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2024.04.09</a:t>
            </a:r>
            <a:endParaRPr lang="en-US" altLang="ko-KR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최초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Tray </a:t>
            </a:r>
            <a:r>
              <a:rPr lang="ko-KR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투입 </a:t>
            </a:r>
            <a:r>
              <a:rPr lang="en-US" altLang="ko-KR" dirty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리딩</a:t>
            </a:r>
            <a:r>
              <a:rPr lang="ko-KR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화면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 smtClean="0"/>
              <a:t>모니터링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Monitoring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455" y="1861820"/>
            <a:ext cx="7174230" cy="3521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[Jason  </a:t>
            </a:r>
            <a:r>
              <a:rPr lang="ko-KR" altLang="en-US" sz="1050" b="1" dirty="0" smtClean="0">
                <a:solidFill>
                  <a:srgbClr val="0000FF"/>
                </a:solidFill>
                <a:latin typeface="+mn-ea"/>
              </a:rPr>
              <a:t>호출</a:t>
            </a: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]</a:t>
            </a:r>
            <a:endParaRPr lang="en-US" altLang="ko-KR" sz="1050" b="1" dirty="0">
              <a:solidFill>
                <a:srgbClr val="0000FF"/>
              </a:solidFill>
              <a:latin typeface="+mn-ea"/>
            </a:endParaRPr>
          </a:p>
          <a:p>
            <a:pPr marL="228600" lvl="0" indent="-22860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AutoNum type="arabicPeriod"/>
              <a:defRPr/>
            </a:pPr>
            <a:r>
              <a:rPr lang="en-US" altLang="ko-KR" sz="1050" dirty="0" err="1" smtClean="0">
                <a:latin typeface="+mn-ea"/>
              </a:rPr>
              <a:t>Json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ko-KR" altLang="en-US" sz="1050" dirty="0" smtClean="0">
                <a:latin typeface="+mn-ea"/>
              </a:rPr>
              <a:t>호출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     1&gt; </a:t>
            </a:r>
            <a:r>
              <a:rPr lang="en-US" altLang="ko-KR" sz="105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tMstUser : { “filter” : “UserID=’{userID}’ and Password=’{passwd}’” }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     2&gt; tMstUserClass : { “filter” : “UserID=’{userID}’” }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     3&gt; </a:t>
            </a:r>
            <a:r>
              <a:rPr lang="en-US" altLang="ko-KR" sz="105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tMstWindow : </a:t>
            </a:r>
            <a:r>
              <a:rPr lang="en-US" altLang="ko-KR" sz="105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{ “filter” : “UserID=’{userID}’” }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     4&gt; </a:t>
            </a:r>
            <a:r>
              <a:rPr lang="en-US" altLang="ko-KR" sz="105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tMstWindowUser</a:t>
            </a:r>
            <a:r>
              <a:rPr lang="en-US" altLang="ko-KR" sz="105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 : </a:t>
            </a:r>
            <a:r>
              <a:rPr lang="en-US" altLang="ko-KR" sz="105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{ “filter” : “</a:t>
            </a:r>
            <a:r>
              <a:rPr lang="en-US" altLang="ko-KR" sz="105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UserID</a:t>
            </a:r>
            <a:r>
              <a:rPr lang="en-US" altLang="ko-KR" sz="105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=’{</a:t>
            </a:r>
            <a:r>
              <a:rPr lang="en-US" altLang="ko-KR" sz="105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userID</a:t>
            </a:r>
            <a:r>
              <a:rPr lang="en-US" altLang="ko-KR" sz="105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} and </a:t>
            </a:r>
            <a:r>
              <a:rPr lang="en-US" altLang="ko-KR" sz="105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WiindowID</a:t>
            </a:r>
            <a:r>
              <a:rPr lang="en-US" altLang="ko-KR" sz="105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=’{</a:t>
            </a:r>
            <a:r>
              <a:rPr lang="en-US" altLang="ko-KR" sz="105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wndID</a:t>
            </a:r>
            <a:r>
              <a:rPr lang="en-US" altLang="ko-KR" sz="105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}’’” }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{</a:t>
            </a:r>
            <a:endParaRPr lang="en-US" altLang="ko-KR" sz="1050" dirty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   "</a:t>
            </a:r>
            <a:r>
              <a:rPr lang="en-US" altLang="ko-KR" sz="1050" dirty="0">
                <a:latin typeface="+mn-ea"/>
              </a:rPr>
              <a:t>filter" : </a:t>
            </a:r>
            <a:r>
              <a:rPr lang="en-US" altLang="ko-KR" sz="1050" dirty="0" smtClean="0">
                <a:latin typeface="+mn-ea"/>
              </a:rPr>
              <a:t>“</a:t>
            </a:r>
            <a:r>
              <a:rPr lang="en-US" altLang="ko-KR" sz="1050" dirty="0" err="1" smtClean="0">
                <a:latin typeface="+mn-ea"/>
              </a:rPr>
              <a:t>UserID</a:t>
            </a:r>
            <a:r>
              <a:rPr lang="en-US" altLang="ko-KR" sz="105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 </a:t>
            </a:r>
            <a:r>
              <a:rPr lang="en-US" altLang="ko-KR" sz="105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=’{DEVELOPER}’ </a:t>
            </a:r>
            <a:r>
              <a:rPr lang="en-US" altLang="ko-KR" sz="105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and Password</a:t>
            </a:r>
            <a:r>
              <a:rPr lang="en-US" altLang="ko-KR" sz="105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  <a:sym typeface="+mn-ea"/>
              </a:rPr>
              <a:t>=’{DEVELOPER}’”</a:t>
            </a:r>
            <a:r>
              <a:rPr lang="en-US" altLang="ko-KR" sz="1050" dirty="0" smtClean="0">
                <a:latin typeface="+mn-ea"/>
              </a:rPr>
              <a:t>  </a:t>
            </a:r>
            <a:r>
              <a:rPr lang="en-US" altLang="ko-KR" sz="1050" dirty="0">
                <a:latin typeface="+mn-ea"/>
              </a:rPr>
              <a:t>// Where </a:t>
            </a:r>
            <a:r>
              <a:rPr lang="en-US" altLang="ko-KR" sz="1050" dirty="0" smtClean="0">
                <a:latin typeface="+mn-ea"/>
              </a:rPr>
              <a:t>Statement</a:t>
            </a:r>
            <a:endParaRPr lang="en-US" altLang="ko-KR" sz="1050" dirty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}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endParaRPr lang="en-US" altLang="ko-KR" sz="1050" dirty="0">
              <a:latin typeface="+mn-ea"/>
            </a:endParaRPr>
          </a:p>
          <a:p>
            <a:pPr lvl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defRPr/>
            </a:pPr>
            <a:r>
              <a:rPr lang="en-US" altLang="ko-KR" sz="1050" dirty="0">
                <a:latin typeface="+mn-ea"/>
              </a:rPr>
              <a:t>2. </a:t>
            </a:r>
            <a:r>
              <a:rPr lang="ko-KR" altLang="en-US" sz="1050" dirty="0">
                <a:latin typeface="+mn-ea"/>
              </a:rPr>
              <a:t>클래스 기술</a:t>
            </a:r>
            <a:r>
              <a:rPr lang="en-US" altLang="ko-KR" sz="1050" dirty="0">
                <a:latin typeface="+mn-ea"/>
              </a:rPr>
              <a:t> : </a:t>
            </a:r>
            <a:r>
              <a:rPr lang="en-US" altLang="ko-KR" sz="1050" dirty="0" err="1">
                <a:latin typeface="+mn-ea"/>
                <a:sym typeface="+mn-ea"/>
              </a:rPr>
              <a:t>JsonConvert.SerializeObject</a:t>
            </a:r>
            <a:endParaRPr lang="ko-KR" altLang="en-US" sz="1050" dirty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1&gt; public class </a:t>
            </a:r>
            <a:r>
              <a:rPr lang="en-US" altLang="ko-KR" sz="1050" dirty="0" err="1">
                <a:latin typeface="+mn-ea"/>
              </a:rPr>
              <a:t>TABLE_SELECT_tMstUser</a:t>
            </a:r>
            <a:r>
              <a:rPr lang="en-US" altLang="ko-KR" sz="1050" dirty="0">
                <a:latin typeface="+mn-ea"/>
              </a:rPr>
              <a:t> : </a:t>
            </a:r>
            <a:r>
              <a:rPr lang="en-US" altLang="ko-KR" sz="1050" dirty="0" err="1">
                <a:latin typeface="+mn-ea"/>
              </a:rPr>
              <a:t>TableClass</a:t>
            </a:r>
            <a:r>
              <a:rPr lang="en-US" altLang="ko-KR" sz="1050" dirty="0">
                <a:latin typeface="+mn-ea"/>
              </a:rPr>
              <a:t> 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2&gt; public class </a:t>
            </a:r>
            <a:r>
              <a:rPr lang="en-US" altLang="ko-KR" sz="1050" dirty="0" err="1">
                <a:latin typeface="+mn-ea"/>
              </a:rPr>
              <a:t>TABLE_SELECT_tMstUserClass</a:t>
            </a:r>
            <a:r>
              <a:rPr lang="en-US" altLang="ko-KR" sz="1050" dirty="0">
                <a:latin typeface="+mn-ea"/>
              </a:rPr>
              <a:t> : </a:t>
            </a:r>
            <a:r>
              <a:rPr lang="en-US" altLang="ko-KR" sz="1050" dirty="0" err="1">
                <a:latin typeface="+mn-ea"/>
              </a:rPr>
              <a:t>TableClass</a:t>
            </a:r>
            <a:r>
              <a:rPr lang="en-US" altLang="ko-KR" sz="1050" dirty="0">
                <a:latin typeface="+mn-ea"/>
              </a:rPr>
              <a:t> 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3&gt; public class </a:t>
            </a:r>
            <a:r>
              <a:rPr lang="en-US" altLang="ko-KR" sz="1050" dirty="0" err="1">
                <a:latin typeface="+mn-ea"/>
              </a:rPr>
              <a:t>TABLE_SELECT_tMstWindow</a:t>
            </a:r>
            <a:r>
              <a:rPr lang="en-US" altLang="ko-KR" sz="1050" dirty="0">
                <a:latin typeface="+mn-ea"/>
              </a:rPr>
              <a:t> : </a:t>
            </a:r>
            <a:r>
              <a:rPr lang="en-US" altLang="ko-KR" sz="1050" dirty="0" err="1">
                <a:latin typeface="+mn-ea"/>
              </a:rPr>
              <a:t>TableClass</a:t>
            </a:r>
            <a:endParaRPr lang="en-US" altLang="ko-KR" sz="1050" dirty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4&gt; public class </a:t>
            </a:r>
            <a:r>
              <a:rPr lang="en-US" altLang="ko-KR" sz="1050" dirty="0" err="1">
                <a:latin typeface="+mn-ea"/>
              </a:rPr>
              <a:t>TABLE_SELECT_tMstWindowUser</a:t>
            </a:r>
            <a:r>
              <a:rPr lang="en-US" altLang="ko-KR" sz="1050" dirty="0">
                <a:latin typeface="+mn-ea"/>
              </a:rPr>
              <a:t> : </a:t>
            </a:r>
            <a:r>
              <a:rPr lang="en-US" altLang="ko-KR" sz="1050" dirty="0" err="1">
                <a:latin typeface="+mn-ea"/>
              </a:rPr>
              <a:t>TableClass</a:t>
            </a:r>
            <a:endParaRPr lang="en-US" altLang="ko-KR" sz="1050" dirty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	</a:t>
            </a:r>
            <a:endParaRPr lang="en-US" altLang="ko-KR" sz="1050" dirty="0" smtClean="0"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7478843" y="1742241"/>
            <a:ext cx="0" cy="4946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796779" y="1207855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MON-01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로그인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2024.04.09</a:t>
            </a:r>
            <a:endParaRPr lang="en-US" altLang="ko-KR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최초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Tray </a:t>
            </a:r>
            <a:r>
              <a:rPr lang="ko-KR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투입 </a:t>
            </a:r>
            <a:r>
              <a:rPr lang="en-US" altLang="ko-KR" dirty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리딩</a:t>
            </a:r>
            <a:r>
              <a:rPr lang="ko-KR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화면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 smtClean="0"/>
              <a:t>모니터링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Monitoring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455" y="1861820"/>
            <a:ext cx="7174230" cy="4619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[Jason  </a:t>
            </a:r>
            <a:r>
              <a:rPr lang="ko-KR" altLang="en-US" sz="1050" b="1" dirty="0" smtClean="0">
                <a:solidFill>
                  <a:srgbClr val="0000FF"/>
                </a:solidFill>
                <a:latin typeface="+mn-ea"/>
              </a:rPr>
              <a:t>호출</a:t>
            </a: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]</a:t>
            </a:r>
            <a:endParaRPr lang="en-US" altLang="ko-KR" sz="1050" b="1" dirty="0">
              <a:solidFill>
                <a:srgbClr val="0000FF"/>
              </a:solidFill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endParaRPr lang="en-US" altLang="ko-KR" sz="1050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3. Return </a:t>
            </a:r>
            <a:r>
              <a:rPr lang="ko-KR" altLang="en-US" sz="1050" dirty="0" smtClean="0">
                <a:latin typeface="+mn-ea"/>
              </a:rPr>
              <a:t>형식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ko-KR" altLang="en-US" sz="1050" dirty="0" smtClean="0">
                <a:latin typeface="+mn-ea"/>
              </a:rPr>
              <a:t> </a:t>
            </a:r>
            <a:r>
              <a:rPr lang="en-US" altLang="ko-KR" sz="1050" dirty="0" smtClean="0">
                <a:latin typeface="+mn-ea"/>
              </a:rPr>
              <a:t>   1&gt; </a:t>
            </a:r>
            <a:r>
              <a:rPr lang="ko-KR" altLang="en-US" sz="1050" dirty="0" smtClean="0">
                <a:latin typeface="+mn-ea"/>
              </a:rPr>
              <a:t>정상</a:t>
            </a:r>
            <a:r>
              <a:rPr lang="en-US" altLang="ko-KR" sz="1050" dirty="0" smtClean="0">
                <a:latin typeface="+mn-ea"/>
              </a:rPr>
              <a:t> :  {    "resource": [],    "count": 0,    "code": 0}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{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"resource": [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    {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        "</a:t>
            </a:r>
            <a:r>
              <a:rPr lang="en-US" altLang="ko-KR" sz="1050" dirty="0" err="1">
                <a:latin typeface="+mn-ea"/>
              </a:rPr>
              <a:t>UserID</a:t>
            </a:r>
            <a:r>
              <a:rPr lang="en-US" altLang="ko-KR" sz="1050" dirty="0">
                <a:latin typeface="+mn-ea"/>
              </a:rPr>
              <a:t>": "DEVELOPER",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        "</a:t>
            </a:r>
            <a:r>
              <a:rPr lang="en-US" altLang="ko-KR" sz="1050" dirty="0" err="1">
                <a:latin typeface="+mn-ea"/>
              </a:rPr>
              <a:t>UserName</a:t>
            </a:r>
            <a:r>
              <a:rPr lang="en-US" altLang="ko-KR" sz="1050" dirty="0">
                <a:latin typeface="+mn-ea"/>
              </a:rPr>
              <a:t>": "Developer",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        "Password": "DEVELOPER",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        "</a:t>
            </a:r>
            <a:r>
              <a:rPr lang="en-US" altLang="ko-KR" sz="1050" dirty="0" err="1">
                <a:latin typeface="+mn-ea"/>
              </a:rPr>
              <a:t>ClassID</a:t>
            </a:r>
            <a:r>
              <a:rPr lang="en-US" altLang="ko-KR" sz="1050" dirty="0">
                <a:latin typeface="+mn-ea"/>
              </a:rPr>
              <a:t>": 9,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        "</a:t>
            </a:r>
            <a:r>
              <a:rPr lang="en-US" altLang="ko-KR" sz="1050" dirty="0" err="1">
                <a:latin typeface="+mn-ea"/>
              </a:rPr>
              <a:t>UpdateUser</a:t>
            </a:r>
            <a:r>
              <a:rPr lang="en-US" altLang="ko-KR" sz="1050" dirty="0">
                <a:latin typeface="+mn-ea"/>
              </a:rPr>
              <a:t>": null,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        "</a:t>
            </a:r>
            <a:r>
              <a:rPr lang="en-US" altLang="ko-KR" sz="1050" dirty="0" err="1">
                <a:latin typeface="+mn-ea"/>
              </a:rPr>
              <a:t>UpdateTime</a:t>
            </a:r>
            <a:r>
              <a:rPr lang="en-US" altLang="ko-KR" sz="1050" dirty="0">
                <a:latin typeface="+mn-ea"/>
              </a:rPr>
              <a:t>": null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    }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],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"count": 1,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    "code": 0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>
                <a:latin typeface="+mn-ea"/>
              </a:rPr>
              <a:t>}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endParaRPr lang="en-US" altLang="ko-KR" sz="1050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    2&gt; </a:t>
            </a:r>
            <a:r>
              <a:rPr lang="ko-KR" altLang="en-US" sz="1050" dirty="0" smtClean="0">
                <a:latin typeface="+mn-ea"/>
              </a:rPr>
              <a:t>에러</a:t>
            </a:r>
            <a:r>
              <a:rPr lang="en-US" altLang="ko-KR" sz="1050" dirty="0" smtClean="0">
                <a:latin typeface="+mn-ea"/>
              </a:rPr>
              <a:t> :   {    "code": -600,    "message": "Application Key Error, (Invalid APIKey)"}</a:t>
            </a:r>
          </a:p>
          <a:p>
            <a:pPr lvl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defRPr/>
            </a:pPr>
            <a:endParaRPr lang="en-US" altLang="ko-KR" sz="1050" b="1" dirty="0" smtClean="0">
              <a:solidFill>
                <a:srgbClr val="00B050"/>
              </a:solidFill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7478843" y="1742241"/>
            <a:ext cx="0" cy="4946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796779" y="1207855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441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17554" y="1971254"/>
            <a:ext cx="6979625" cy="6480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91" y="2907357"/>
            <a:ext cx="1267435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 smtClean="0"/>
              <a:t>Jig Formation </a:t>
            </a:r>
            <a:r>
              <a:rPr lang="ko-KR" altLang="en-US" dirty="0" smtClean="0"/>
              <a:t>설비의 </a:t>
            </a:r>
            <a:r>
              <a:rPr lang="en-US" altLang="ko-KR" dirty="0" smtClean="0"/>
              <a:t>Cell </a:t>
            </a:r>
            <a:r>
              <a:rPr lang="ko-KR" altLang="en-US" dirty="0" smtClean="0"/>
              <a:t>현황 및 상태 정보를 모니터링 하는 화면</a:t>
            </a:r>
            <a:r>
              <a:rPr lang="en-US" altLang="ko-KR" dirty="0" smtClean="0"/>
              <a:t>(</a:t>
            </a:r>
            <a:r>
              <a:rPr lang="ko-KR" altLang="en-US" dirty="0" smtClean="0"/>
              <a:t>모든 데이터 정보는 </a:t>
            </a:r>
            <a:r>
              <a:rPr lang="en-US" altLang="ko-KR" dirty="0" smtClean="0"/>
              <a:t>5</a:t>
            </a:r>
            <a:r>
              <a:rPr lang="ko-KR" altLang="en-US" dirty="0" smtClean="0"/>
              <a:t>초 주기로 갱신해서 보여준다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충방전기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화재상태 표시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로그인 사용자와 로그인 시간 표시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범례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Process Status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Jig Formation Process Status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와 선택 항목표시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 항목 선택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Jig Formation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에 표시할 선택 항목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작업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Jig,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ID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Start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Time)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로그아웃 버튼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tMstEquipment,tTrayCurr,tCellCurr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Jig Formation Monitoring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Jig Formation Monitoring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7004" y="1102584"/>
            <a:ext cx="1438127" cy="259342"/>
          </a:xfrm>
        </p:spPr>
        <p:txBody>
          <a:bodyPr/>
          <a:lstStyle/>
          <a:p>
            <a:r>
              <a:rPr lang="ko-KR" altLang="en-US" dirty="0" smtClean="0"/>
              <a:t>모니터링</a:t>
            </a:r>
            <a:endParaRPr lang="ko-KR" altLang="en-US" dirty="0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6" y="2232519"/>
            <a:ext cx="76200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타원 16"/>
          <p:cNvSpPr/>
          <p:nvPr/>
        </p:nvSpPr>
        <p:spPr>
          <a:xfrm>
            <a:off x="1727192" y="189924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1474868" y="266520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5380955" y="279087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380955" y="6363741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492523" y="2117815"/>
            <a:ext cx="5544616" cy="365102"/>
            <a:chOff x="1492523" y="2117815"/>
            <a:chExt cx="5544616" cy="365102"/>
          </a:xfrm>
        </p:grpSpPr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1639" y="2158426"/>
              <a:ext cx="2095500" cy="272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62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2523" y="2117815"/>
              <a:ext cx="1666238" cy="365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63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743" y="2294691"/>
              <a:ext cx="1417124" cy="136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직사각형 22"/>
          <p:cNvSpPr/>
          <p:nvPr/>
        </p:nvSpPr>
        <p:spPr>
          <a:xfrm>
            <a:off x="417554" y="2665209"/>
            <a:ext cx="6979625" cy="413058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879571" y="1971254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2140596" y="6508336"/>
            <a:ext cx="3158494" cy="215445"/>
            <a:chOff x="2356618" y="5995654"/>
            <a:chExt cx="2952329" cy="215445"/>
          </a:xfrm>
        </p:grpSpPr>
        <p:grpSp>
          <p:nvGrpSpPr>
            <p:cNvPr id="13" name="그룹 12"/>
            <p:cNvGrpSpPr/>
            <p:nvPr/>
          </p:nvGrpSpPr>
          <p:grpSpPr>
            <a:xfrm>
              <a:off x="2510689" y="5995655"/>
              <a:ext cx="539368" cy="215444"/>
              <a:chOff x="3158761" y="5995655"/>
              <a:chExt cx="539368" cy="215444"/>
            </a:xfrm>
          </p:grpSpPr>
          <p:sp>
            <p:nvSpPr>
              <p:cNvPr id="9" name="타원 8"/>
              <p:cNvSpPr/>
              <p:nvPr/>
            </p:nvSpPr>
            <p:spPr>
              <a:xfrm>
                <a:off x="3158761" y="6065996"/>
                <a:ext cx="66981" cy="6229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213855" y="5995655"/>
                <a:ext cx="4842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 smtClean="0"/>
                  <a:t>Tray ID</a:t>
                </a:r>
                <a:endParaRPr lang="ko-KR" altLang="en-US" sz="800" dirty="0"/>
              </a:p>
            </p:txBody>
          </p:sp>
        </p:grpSp>
        <p:grpSp>
          <p:nvGrpSpPr>
            <p:cNvPr id="29" name="그룹 28"/>
            <p:cNvGrpSpPr/>
            <p:nvPr/>
          </p:nvGrpSpPr>
          <p:grpSpPr>
            <a:xfrm>
              <a:off x="3138840" y="5995655"/>
              <a:ext cx="553949" cy="215444"/>
              <a:chOff x="3158761" y="5995655"/>
              <a:chExt cx="553949" cy="215444"/>
            </a:xfrm>
          </p:grpSpPr>
          <p:sp>
            <p:nvSpPr>
              <p:cNvPr id="30" name="타원 29"/>
              <p:cNvSpPr/>
              <p:nvPr/>
            </p:nvSpPr>
            <p:spPr>
              <a:xfrm>
                <a:off x="3158761" y="6065996"/>
                <a:ext cx="66981" cy="6229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213855" y="5995655"/>
                <a:ext cx="49885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 smtClean="0"/>
                  <a:t>Cell ID</a:t>
                </a:r>
                <a:endParaRPr lang="ko-KR" altLang="en-US" sz="800" dirty="0"/>
              </a:p>
            </p:txBody>
          </p:sp>
        </p:grpSp>
        <p:grpSp>
          <p:nvGrpSpPr>
            <p:cNvPr id="32" name="그룹 31"/>
            <p:cNvGrpSpPr/>
            <p:nvPr/>
          </p:nvGrpSpPr>
          <p:grpSpPr>
            <a:xfrm>
              <a:off x="3789435" y="5995655"/>
              <a:ext cx="723867" cy="215444"/>
              <a:chOff x="3158761" y="5995655"/>
              <a:chExt cx="723867" cy="215444"/>
            </a:xfrm>
          </p:grpSpPr>
          <p:sp>
            <p:nvSpPr>
              <p:cNvPr id="33" name="타원 32"/>
              <p:cNvSpPr/>
              <p:nvPr/>
            </p:nvSpPr>
            <p:spPr>
              <a:xfrm>
                <a:off x="3158761" y="6065996"/>
                <a:ext cx="66981" cy="6229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213855" y="5995655"/>
                <a:ext cx="66877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dirty="0" smtClean="0"/>
                  <a:t>Start Time</a:t>
                </a:r>
                <a:endParaRPr lang="ko-KR" altLang="en-US" sz="800" dirty="0"/>
              </a:p>
            </p:txBody>
          </p:sp>
        </p:grpSp>
        <p:sp>
          <p:nvSpPr>
            <p:cNvPr id="35" name="직사각형 34"/>
            <p:cNvSpPr/>
            <p:nvPr/>
          </p:nvSpPr>
          <p:spPr>
            <a:xfrm>
              <a:off x="2356618" y="5995654"/>
              <a:ext cx="2952329" cy="215445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직사각형 6"/>
          <p:cNvSpPr/>
          <p:nvPr/>
        </p:nvSpPr>
        <p:spPr>
          <a:xfrm>
            <a:off x="2140595" y="2907357"/>
            <a:ext cx="1350950" cy="2160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tx1"/>
                </a:solidFill>
              </a:rPr>
              <a:t>C1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140595" y="3123381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JFOJIG0001J10108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140595" y="3339405"/>
            <a:ext cx="1350950" cy="216024"/>
          </a:xfrm>
          <a:prstGeom prst="rect">
            <a:avLst/>
          </a:prstGeom>
          <a:solidFill>
            <a:srgbClr val="DAA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D1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140595" y="3555429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JFOJIG0001J10107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2140595" y="3771453"/>
            <a:ext cx="1350950" cy="2160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140595" y="3987477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JFOJIG0001J10106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140595" y="4203501"/>
            <a:ext cx="1350950" cy="216024"/>
          </a:xfrm>
          <a:prstGeom prst="rect">
            <a:avLst/>
          </a:prstGeom>
          <a:solidFill>
            <a:srgbClr val="BA8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140595" y="4419525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2140595" y="4635549"/>
            <a:ext cx="1350950" cy="2160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140595" y="4851573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JFOJIG0001J10104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140595" y="5067597"/>
            <a:ext cx="1350950" cy="2160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140595" y="5283621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JFOJIG0001J10103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140595" y="5499645"/>
            <a:ext cx="1350950" cy="2160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140595" y="5715669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JFOJIG0001J10102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140595" y="5931693"/>
            <a:ext cx="1350950" cy="216024"/>
          </a:xfrm>
          <a:prstGeom prst="rect">
            <a:avLst/>
          </a:prstGeom>
          <a:solidFill>
            <a:srgbClr val="BA8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140595" y="6147717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3940795" y="2907357"/>
            <a:ext cx="1350950" cy="2160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3940795" y="3123381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JFOJIG0001J10208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940795" y="3339405"/>
            <a:ext cx="1350950" cy="216024"/>
          </a:xfrm>
          <a:prstGeom prst="rect">
            <a:avLst/>
          </a:prstGeom>
          <a:solidFill>
            <a:srgbClr val="BA8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940795" y="3555429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3940795" y="3771453"/>
            <a:ext cx="1350950" cy="216024"/>
          </a:xfrm>
          <a:prstGeom prst="rect">
            <a:avLst/>
          </a:prstGeom>
          <a:solidFill>
            <a:srgbClr val="0DFF7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O1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3940795" y="3987477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JFOJIG0001J10206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3940795" y="4203501"/>
            <a:ext cx="1350950" cy="21602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940795" y="4419525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JFOJIG0001J10205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3940795" y="4635549"/>
            <a:ext cx="1350950" cy="216024"/>
          </a:xfrm>
          <a:prstGeom prst="rect">
            <a:avLst/>
          </a:prstGeom>
          <a:solidFill>
            <a:srgbClr val="DAA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3940795" y="4851573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JFOJIG0001J10204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3940795" y="5067597"/>
            <a:ext cx="1350950" cy="216024"/>
          </a:xfrm>
          <a:prstGeom prst="rect">
            <a:avLst/>
          </a:prstGeom>
          <a:solidFill>
            <a:srgbClr val="BA8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940795" y="5283621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3940795" y="5499645"/>
            <a:ext cx="1350950" cy="216024"/>
          </a:xfrm>
          <a:prstGeom prst="rect">
            <a:avLst/>
          </a:prstGeom>
          <a:solidFill>
            <a:srgbClr val="BA8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940795" y="5715669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>
            <a:off x="3940795" y="5931693"/>
            <a:ext cx="1350950" cy="216024"/>
          </a:xfrm>
          <a:prstGeom prst="rect">
            <a:avLst/>
          </a:prstGeom>
          <a:solidFill>
            <a:srgbClr val="BA8C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3940795" y="6147717"/>
            <a:ext cx="1350950" cy="216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/>
          <p:cNvSpPr/>
          <p:nvPr/>
        </p:nvSpPr>
        <p:spPr>
          <a:xfrm>
            <a:off x="7037139" y="2158426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8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40795" y="1107157"/>
            <a:ext cx="864096" cy="259342"/>
          </a:xfrm>
        </p:spPr>
        <p:txBody>
          <a:bodyPr/>
          <a:lstStyle/>
          <a:p>
            <a:r>
              <a:rPr lang="en-US" altLang="ko-KR" dirty="0" smtClean="0"/>
              <a:t>MON-02</a:t>
            </a:r>
            <a:endParaRPr lang="ko-KR" altLang="en-US" dirty="0"/>
          </a:p>
        </p:txBody>
      </p:sp>
      <p:grpSp>
        <p:nvGrpSpPr>
          <p:cNvPr id="85" name="그룹 84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86" name="위쪽 화살표 85">
              <a:hlinkClick r:id="rId8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Jig Formation Monitoring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2024.04.09</a:t>
            </a:r>
            <a:endParaRPr lang="en-US" altLang="ko-KR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Jig Formation </a:t>
            </a:r>
            <a:r>
              <a:rPr lang="ko-KR" altLang="en-US" dirty="0"/>
              <a:t>설비의 </a:t>
            </a:r>
            <a:r>
              <a:rPr lang="en-US" altLang="ko-KR" dirty="0"/>
              <a:t>Cell </a:t>
            </a:r>
            <a:r>
              <a:rPr lang="ko-KR" altLang="en-US" dirty="0"/>
              <a:t>현황 및 상태 정보를 모니터링 하는 화면</a:t>
            </a:r>
            <a:r>
              <a:rPr lang="en-US" altLang="ko-KR" dirty="0"/>
              <a:t>(</a:t>
            </a:r>
            <a:r>
              <a:rPr lang="ko-KR" altLang="en-US" dirty="0"/>
              <a:t>모든 데이터 정보는 </a:t>
            </a:r>
            <a:r>
              <a:rPr lang="en-US" altLang="ko-KR" dirty="0"/>
              <a:t>5</a:t>
            </a:r>
            <a:r>
              <a:rPr lang="ko-KR" altLang="en-US" dirty="0"/>
              <a:t>초 주기로 갱신해서 보여준다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 smtClean="0"/>
              <a:t>모니터링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Jig Formation Monitoring</a:t>
            </a:r>
            <a:r>
              <a:rPr lang="ko-KR" altLang="en-US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455" y="1861820"/>
            <a:ext cx="7183120" cy="348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[Jason  </a:t>
            </a:r>
            <a:r>
              <a:rPr lang="ko-KR" altLang="en-US" sz="1050" b="1" dirty="0" smtClean="0">
                <a:solidFill>
                  <a:srgbClr val="0000FF"/>
                </a:solidFill>
                <a:latin typeface="+mn-ea"/>
              </a:rPr>
              <a:t>호출</a:t>
            </a: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]</a:t>
            </a:r>
            <a:endParaRPr lang="en-US" altLang="ko-KR" sz="1050" b="1" dirty="0">
              <a:solidFill>
                <a:srgbClr val="0000FF"/>
              </a:solidFill>
              <a:latin typeface="+mn-ea"/>
            </a:endParaRPr>
          </a:p>
          <a:p>
            <a:pPr marL="228600" lvl="0" indent="-22860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AutoNum type="arabicPeriod"/>
              <a:defRPr/>
            </a:pPr>
            <a:r>
              <a:rPr lang="en-US" altLang="ko-KR" sz="1050" dirty="0" err="1" smtClean="0">
                <a:latin typeface="+mn-ea"/>
              </a:rPr>
              <a:t>Json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ko-KR" altLang="en-US" sz="1050" dirty="0" smtClean="0">
                <a:latin typeface="+mn-ea"/>
              </a:rPr>
              <a:t>호출</a:t>
            </a:r>
          </a:p>
          <a:p>
            <a:pPr marL="228600" lvl="0" indent="-22860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AutoNum type="arabicPeriod"/>
              <a:defRPr/>
            </a:pPr>
            <a:r>
              <a:rPr lang="ko-KR" altLang="en-US" sz="1050" b="1" dirty="0" smtClean="0">
                <a:latin typeface="+mn-ea"/>
              </a:rPr>
              <a:t>클래스 기술</a:t>
            </a:r>
            <a:r>
              <a:rPr lang="en-US" altLang="ko-KR" sz="1050" b="1" dirty="0" smtClean="0">
                <a:latin typeface="+mn-ea"/>
              </a:rPr>
              <a:t> : JsonConvert.SerializeObject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</a:rPr>
              <a:t>    1&gt; public class TABLE_SELECT_tMstEquipment : TableClass	// </a:t>
            </a:r>
            <a:r>
              <a:rPr lang="ko-KR" altLang="en-US" sz="1050" b="1" dirty="0" smtClean="0">
                <a:latin typeface="+mn-ea"/>
              </a:rPr>
              <a:t>필요한</a:t>
            </a:r>
            <a:r>
              <a:rPr lang="en-US" altLang="ko-KR" sz="1050" b="1" dirty="0" smtClean="0">
                <a:latin typeface="+mn-ea"/>
              </a:rPr>
              <a:t> </a:t>
            </a:r>
            <a:r>
              <a:rPr lang="ko-KR" altLang="en-US" sz="1050" b="1" dirty="0" smtClean="0">
                <a:latin typeface="+mn-ea"/>
              </a:rPr>
              <a:t>필드</a:t>
            </a:r>
            <a:r>
              <a:rPr lang="en-US" altLang="ko-KR" sz="1050" b="1" dirty="0" smtClean="0">
                <a:latin typeface="+mn-ea"/>
              </a:rPr>
              <a:t> </a:t>
            </a:r>
            <a:r>
              <a:rPr lang="ko-KR" altLang="en-US" sz="1050" b="1" dirty="0" smtClean="0">
                <a:latin typeface="+mn-ea"/>
              </a:rPr>
              <a:t>멤버로</a:t>
            </a:r>
            <a:r>
              <a:rPr lang="en-US" altLang="ko-KR" sz="1050" b="1" dirty="0" smtClean="0">
                <a:latin typeface="+mn-ea"/>
              </a:rPr>
              <a:t> </a:t>
            </a:r>
            <a:r>
              <a:rPr lang="ko-KR" altLang="en-US" sz="1050" b="1" dirty="0" smtClean="0">
                <a:latin typeface="+mn-ea"/>
              </a:rPr>
              <a:t>추가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ko-KR" altLang="en-US" sz="1050" b="1" dirty="0" smtClean="0">
                <a:latin typeface="+mn-ea"/>
              </a:rPr>
              <a:t> </a:t>
            </a:r>
            <a:r>
              <a:rPr lang="en-US" altLang="ko-KR" sz="1050" b="1" dirty="0" smtClean="0">
                <a:latin typeface="+mn-ea"/>
              </a:rPr>
              <a:t>   2&gt; public class TABLE_UPDATE_tMstEquipment : TableClass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</a:rPr>
              <a:t>    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</a:rPr>
              <a:t>    3&gt; public class TABLE_SELECT_tTrayCurr : TableClass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</a:rPr>
              <a:t>    4&gt; public class TABLE_UPDATE_tTrayCurr : TableClass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endParaRPr lang="en-US" altLang="ko-KR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</a:rPr>
              <a:t>    5&gt; public class TABLE_SELECT_tCellCurr : TableClass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</a:rPr>
              <a:t>    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  <a:sym typeface="+mn-ea"/>
              </a:rPr>
              <a:t>2. Return </a:t>
            </a:r>
            <a:r>
              <a:rPr lang="ko-KR" altLang="en-US" sz="1050" b="1" dirty="0" smtClean="0">
                <a:latin typeface="+mn-ea"/>
                <a:sym typeface="+mn-ea"/>
              </a:rPr>
              <a:t>형식</a:t>
            </a:r>
            <a:endParaRPr lang="ko-KR" altLang="en-US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ko-KR" altLang="en-US" sz="1050" b="1" dirty="0" smtClean="0">
                <a:latin typeface="+mn-ea"/>
                <a:sym typeface="+mn-ea"/>
              </a:rPr>
              <a:t> </a:t>
            </a:r>
            <a:r>
              <a:rPr lang="en-US" altLang="ko-KR" sz="1050" b="1" dirty="0" smtClean="0">
                <a:latin typeface="+mn-ea"/>
                <a:sym typeface="+mn-ea"/>
              </a:rPr>
              <a:t>   1&gt; </a:t>
            </a:r>
            <a:r>
              <a:rPr lang="ko-KR" altLang="en-US" sz="1050" b="1" dirty="0" smtClean="0">
                <a:latin typeface="+mn-ea"/>
                <a:sym typeface="+mn-ea"/>
              </a:rPr>
              <a:t>정상</a:t>
            </a:r>
            <a:r>
              <a:rPr lang="en-US" altLang="ko-KR" sz="1050" b="1" dirty="0" smtClean="0">
                <a:latin typeface="+mn-ea"/>
                <a:sym typeface="+mn-ea"/>
              </a:rPr>
              <a:t> :  {    "resource": [],    "count": 0,    "code": 0}</a:t>
            </a:r>
            <a:endParaRPr lang="en-US" altLang="ko-KR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  <a:sym typeface="+mn-ea"/>
              </a:rPr>
              <a:t>    2&gt; </a:t>
            </a:r>
            <a:r>
              <a:rPr lang="ko-KR" altLang="en-US" sz="1050" b="1" dirty="0" smtClean="0">
                <a:latin typeface="+mn-ea"/>
                <a:sym typeface="+mn-ea"/>
              </a:rPr>
              <a:t>에러</a:t>
            </a:r>
            <a:r>
              <a:rPr lang="en-US" altLang="ko-KR" sz="1050" b="1" dirty="0" smtClean="0">
                <a:latin typeface="+mn-ea"/>
                <a:sym typeface="+mn-ea"/>
              </a:rPr>
              <a:t> :   {    "code": -600,    "message": "Application Key Error, (Invalid APIKey)"}</a:t>
            </a:r>
            <a:endParaRPr lang="en-US" altLang="ko-KR" sz="1050" b="1" dirty="0" smtClean="0">
              <a:latin typeface="+mn-ea"/>
            </a:endParaRPr>
          </a:p>
          <a:p>
            <a:pPr marL="228600" lvl="0" indent="-22860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defRPr/>
            </a:pPr>
            <a:endParaRPr kumimoji="1" lang="en-US" altLang="ko-KR" sz="1050" kern="0" dirty="0">
              <a:solidFill>
                <a:srgbClr val="000000"/>
              </a:solidFill>
              <a:latin typeface="+mn-ea"/>
            </a:endParaRPr>
          </a:p>
          <a:p>
            <a:pPr lvl="0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50" dirty="0" smtClean="0"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7478843" y="1742241"/>
            <a:ext cx="0" cy="4946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98891" y="1831323"/>
            <a:ext cx="4728519" cy="267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defRPr/>
            </a:pP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[</a:t>
            </a:r>
            <a:endParaRPr lang="ko-KR" altLang="en-US" sz="1050" dirty="0">
              <a:latin typeface="+mn-ea"/>
            </a:endParaRP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796779" y="1207855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MON-02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 smtClean="0"/>
              <a:t>Jig Formation 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DSF </a:t>
            </a:r>
            <a:r>
              <a:rPr lang="ko-KR" altLang="en-US" dirty="0" smtClean="0"/>
              <a:t>설비 상태를 모니터링 하는 화면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충방전기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화재상태 표시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로그인 사용자와 로그인 시간 표시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범례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Eqp Status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Formation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DSF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 상태 표시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로그아웃 버튼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tMstEquipment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Total Monitoring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Jig Formation Monitoring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모니터링</a:t>
            </a:r>
            <a:endParaRPr lang="ko-KR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11" y="3037234"/>
            <a:ext cx="864096" cy="2822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40795" y="1107157"/>
            <a:ext cx="864096" cy="259342"/>
          </a:xfrm>
        </p:spPr>
        <p:txBody>
          <a:bodyPr/>
          <a:lstStyle/>
          <a:p>
            <a:r>
              <a:rPr lang="en-US" altLang="ko-KR" dirty="0" smtClean="0"/>
              <a:t>MON-03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417554" y="1971254"/>
            <a:ext cx="6979625" cy="64807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6" y="2232519"/>
            <a:ext cx="76200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타원 14"/>
          <p:cNvSpPr/>
          <p:nvPr/>
        </p:nvSpPr>
        <p:spPr>
          <a:xfrm>
            <a:off x="1727192" y="189924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1492523" y="2117815"/>
            <a:ext cx="5544616" cy="365102"/>
            <a:chOff x="1492523" y="2117815"/>
            <a:chExt cx="5544616" cy="365102"/>
          </a:xfrm>
        </p:grpSpPr>
        <p:pic>
          <p:nvPicPr>
            <p:cNvPr id="18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1639" y="2158426"/>
              <a:ext cx="2095500" cy="272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2523" y="2117815"/>
              <a:ext cx="1666238" cy="365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743" y="2294691"/>
              <a:ext cx="1417124" cy="136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직사각형 20"/>
          <p:cNvSpPr/>
          <p:nvPr/>
        </p:nvSpPr>
        <p:spPr>
          <a:xfrm>
            <a:off x="417554" y="2665209"/>
            <a:ext cx="6979625" cy="413058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5879571" y="1971254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7037139" y="2158426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5552679" y="4730499"/>
            <a:ext cx="856769" cy="1786823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2428627" y="3051088"/>
            <a:ext cx="4040137" cy="72008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2239548" y="3051088"/>
            <a:ext cx="182151" cy="72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IR/OCV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228827" y="4730499"/>
            <a:ext cx="856769" cy="1786823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5552679" y="4563540"/>
            <a:ext cx="856769" cy="1509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</a:rPr>
              <a:t>J/F #01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228827" y="4563541"/>
            <a:ext cx="856769" cy="15039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J/F #</a:t>
            </a:r>
            <a:r>
              <a:rPr lang="en-US" altLang="ko-KR" sz="800" b="1" dirty="0" smtClean="0">
                <a:solidFill>
                  <a:schemeClr val="tx1"/>
                </a:solidFill>
              </a:rPr>
              <a:t>02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552679" y="4412598"/>
            <a:ext cx="856769" cy="1509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228827" y="4405671"/>
            <a:ext cx="856769" cy="1509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651365" y="4995589"/>
            <a:ext cx="808235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Total : 8</a:t>
            </a:r>
          </a:p>
          <a:p>
            <a:r>
              <a:rPr lang="en-US" altLang="ko-KR" sz="900" dirty="0" smtClean="0"/>
              <a:t>Idle : 2</a:t>
            </a:r>
          </a:p>
          <a:p>
            <a:r>
              <a:rPr lang="en-US" altLang="ko-KR" sz="900" dirty="0" smtClean="0"/>
              <a:t>Running : 6</a:t>
            </a:r>
          </a:p>
          <a:p>
            <a:endParaRPr lang="en-US" altLang="ko-KR" sz="800" dirty="0"/>
          </a:p>
          <a:p>
            <a:endParaRPr lang="en-US" altLang="ko-KR" sz="800" dirty="0" smtClean="0"/>
          </a:p>
          <a:p>
            <a:endParaRPr lang="en-US" altLang="ko-KR" sz="800" dirty="0"/>
          </a:p>
          <a:p>
            <a:endParaRPr lang="en-US" altLang="ko-KR" sz="800" dirty="0" smtClean="0"/>
          </a:p>
          <a:p>
            <a:endParaRPr lang="en-US" altLang="ko-KR" sz="800" dirty="0" smtClean="0"/>
          </a:p>
          <a:p>
            <a:r>
              <a:rPr lang="en-US" altLang="ko-KR" sz="1000" b="1" dirty="0" smtClean="0"/>
              <a:t> J/F #1</a:t>
            </a:r>
            <a:endParaRPr lang="ko-KR" altLang="en-US" sz="10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283213" y="5067597"/>
            <a:ext cx="808235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/>
              <a:t>Total : 8</a:t>
            </a:r>
          </a:p>
          <a:p>
            <a:r>
              <a:rPr lang="en-US" altLang="ko-KR" sz="900" dirty="0" smtClean="0"/>
              <a:t>Idle : 8</a:t>
            </a:r>
          </a:p>
          <a:p>
            <a:r>
              <a:rPr lang="en-US" altLang="ko-KR" sz="900" dirty="0" smtClean="0"/>
              <a:t>Running : 0</a:t>
            </a:r>
          </a:p>
          <a:p>
            <a:endParaRPr lang="en-US" altLang="ko-KR" sz="800" dirty="0"/>
          </a:p>
          <a:p>
            <a:endParaRPr lang="en-US" altLang="ko-KR" sz="800" dirty="0" smtClean="0"/>
          </a:p>
          <a:p>
            <a:endParaRPr lang="en-US" altLang="ko-KR" sz="800" dirty="0"/>
          </a:p>
          <a:p>
            <a:endParaRPr lang="en-US" altLang="ko-KR" sz="800" dirty="0" smtClean="0"/>
          </a:p>
          <a:p>
            <a:endParaRPr lang="en-US" altLang="ko-KR" sz="800" dirty="0" smtClean="0"/>
          </a:p>
          <a:p>
            <a:r>
              <a:rPr lang="en-US" altLang="ko-KR" sz="1000" b="1" dirty="0" smtClean="0"/>
              <a:t> J/F #2</a:t>
            </a:r>
            <a:endParaRPr lang="ko-KR" altLang="en-US" sz="1000" b="1" dirty="0"/>
          </a:p>
        </p:txBody>
      </p:sp>
      <p:sp>
        <p:nvSpPr>
          <p:cNvPr id="32" name="직사각형 31"/>
          <p:cNvSpPr/>
          <p:nvPr/>
        </p:nvSpPr>
        <p:spPr>
          <a:xfrm>
            <a:off x="2054733" y="3051088"/>
            <a:ext cx="182151" cy="7203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3693562" y="3051087"/>
            <a:ext cx="182151" cy="72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</a:rPr>
              <a:t>DSF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508747" y="3051087"/>
            <a:ext cx="182151" cy="720365"/>
          </a:xfrm>
          <a:prstGeom prst="rect">
            <a:avLst/>
          </a:prstGeom>
          <a:solidFill>
            <a:srgbClr val="2C9424"/>
          </a:solidFill>
          <a:ln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49217" y="2777454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6514700" y="2826596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38" name="위쪽 화살표 37">
              <a:hlinkClick r:id="rId8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/>
              <a:t>Formation </a:t>
            </a:r>
            <a:r>
              <a:rPr lang="en-US" altLang="ko-KR" dirty="0" smtClean="0"/>
              <a:t>Jig Box Manual </a:t>
            </a:r>
            <a:r>
              <a:rPr lang="ko-KR" altLang="en-US" dirty="0"/>
              <a:t>작업 </a:t>
            </a:r>
            <a:r>
              <a:rPr lang="ko-KR" altLang="en-US" dirty="0" smtClean="0"/>
              <a:t>설정</a:t>
            </a:r>
            <a:r>
              <a:rPr lang="en-US" altLang="ko-KR" dirty="0" smtClean="0"/>
              <a:t>(Jig Formation Monitoring </a:t>
            </a:r>
            <a:r>
              <a:rPr lang="ko-KR" altLang="en-US" dirty="0" smtClean="0"/>
              <a:t>화면에서 </a:t>
            </a:r>
            <a:r>
              <a:rPr lang="en-US" altLang="ko-KR" dirty="0" smtClean="0"/>
              <a:t>Jig Box </a:t>
            </a:r>
            <a:r>
              <a:rPr lang="ko-KR" altLang="en-US" dirty="0" smtClean="0"/>
              <a:t>하단 더블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조회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~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운영모드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Read Only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ID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설비가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Box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인 경우에만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연속 시작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Cmd133(Status = ‘P’)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재시작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Cmd133(Status = ‘R’)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배출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Cmd137(Tray Unload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요청 지시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작업종료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Cmd129(Status = ‘E’)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일시정지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Cmd129(Status =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‘P’)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설비정보 초기화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tMstEquipment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TrayID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= 'null',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UnitStatus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= 'null',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ProcessStatus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= 'null',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FireStatus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'null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처리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화재정보 초기화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tMstEquipment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TrayID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= null,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FireStatus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= null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처리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화재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오감지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해제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tMstEquipment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 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FireStatus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= null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처리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실처리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재요청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Cmd911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 설정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 설정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Dialog Box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실행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 항목 저장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설비에 해당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Command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전송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 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tMstEquipment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Formation Manual Job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2024.03.23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Manual </a:t>
            </a:r>
            <a:r>
              <a:rPr lang="ko-KR" altLang="en-US" dirty="0" smtClean="0"/>
              <a:t>작업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34388" y="1102584"/>
            <a:ext cx="1430743" cy="259342"/>
          </a:xfrm>
        </p:spPr>
        <p:txBody>
          <a:bodyPr/>
          <a:lstStyle/>
          <a:p>
            <a:r>
              <a:rPr lang="ko-KR" altLang="en-US" smtClean="0"/>
              <a:t>모니터링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1479278" y="2403301"/>
            <a:ext cx="4333725" cy="3168352"/>
          </a:xfrm>
          <a:prstGeom prst="rect">
            <a:avLst/>
          </a:prstGeom>
          <a:solidFill>
            <a:srgbClr val="FFFFF8"/>
          </a:solidFill>
          <a:ln w="12700" algn="ctr">
            <a:solidFill>
              <a:srgbClr val="000000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3" name="그룹 94"/>
          <p:cNvGrpSpPr/>
          <p:nvPr/>
        </p:nvGrpSpPr>
        <p:grpSpPr>
          <a:xfrm>
            <a:off x="4778944" y="5179285"/>
            <a:ext cx="818035" cy="320360"/>
            <a:chOff x="7184999" y="5833168"/>
            <a:chExt cx="818035" cy="32036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종료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17" name="직사각형 16"/>
          <p:cNvSpPr/>
          <p:nvPr/>
        </p:nvSpPr>
        <p:spPr bwMode="auto">
          <a:xfrm>
            <a:off x="1469753" y="2338327"/>
            <a:ext cx="4343250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Manual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작업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18" name="그룹 98"/>
          <p:cNvGrpSpPr/>
          <p:nvPr/>
        </p:nvGrpSpPr>
        <p:grpSpPr>
          <a:xfrm>
            <a:off x="3878844" y="5179285"/>
            <a:ext cx="818035" cy="320360"/>
            <a:chOff x="7184999" y="5833168"/>
            <a:chExt cx="818035" cy="320360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20" name="직사각형 1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실</a:t>
              </a:r>
              <a:r>
                <a:rPr kumimoji="1" lang="ko-KR" altLang="en-US" sz="1100" b="1" dirty="0">
                  <a:solidFill>
                    <a:srgbClr val="FFFFFF"/>
                  </a:solidFill>
                  <a:latin typeface="+mn-ea"/>
                </a:rPr>
                <a:t>행</a:t>
              </a:r>
            </a:p>
          </p:txBody>
        </p:sp>
      </p:grpSp>
      <p:sp>
        <p:nvSpPr>
          <p:cNvPr id="21" name="직사각형 20"/>
          <p:cNvSpPr/>
          <p:nvPr/>
        </p:nvSpPr>
        <p:spPr bwMode="auto">
          <a:xfrm>
            <a:off x="2324200" y="2731636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ABC116102305PC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4520444" y="2739406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ALL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2328284" y="3027434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ALL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530610" y="2709306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모</a:t>
            </a:r>
            <a:r>
              <a:rPr kumimoji="1" lang="ko-KR" altLang="en-US" sz="800" b="1" dirty="0">
                <a:solidFill>
                  <a:srgbClr val="000000"/>
                </a:solidFill>
                <a:latin typeface="+mn-ea"/>
              </a:rPr>
              <a:t>델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511697" y="272365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Route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526896" y="300080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 </a:t>
            </a: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Cell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832269" y="293897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511697" y="301168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err="1" smtClean="0">
                <a:solidFill>
                  <a:srgbClr val="000000"/>
                </a:solidFill>
                <a:latin typeface="+mn-ea"/>
              </a:rPr>
              <a:t>설비명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4517258" y="3023720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1Line-01Bay-01Jig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4510255" y="3786909"/>
            <a:ext cx="1024133" cy="2006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Control Mode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536677" y="350726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현재 상태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544312" y="4129667"/>
            <a:ext cx="1089589" cy="281283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FFFF">
                  <a:lumMod val="75000"/>
                </a:srgbClr>
              </a:buClr>
              <a:buSzPct val="100000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Manual </a:t>
            </a: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작업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506541" y="3746996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운영모드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692391" y="4506285"/>
            <a:ext cx="812074" cy="273280"/>
            <a:chOff x="828295" y="3952973"/>
            <a:chExt cx="812074" cy="273280"/>
          </a:xfrm>
        </p:grpSpPr>
        <p:sp>
          <p:nvSpPr>
            <p:cNvPr id="41" name="직사각형 40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연속 시작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44" name="그림 43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sp>
        <p:nvSpPr>
          <p:cNvPr id="45" name="타원 44"/>
          <p:cNvSpPr/>
          <p:nvPr/>
        </p:nvSpPr>
        <p:spPr>
          <a:xfrm>
            <a:off x="2936500" y="2703581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5120114" y="3015240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5306670" y="3763052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7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144281" y="2724916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2943498" y="3026913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1914018" y="4348606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8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8" name="직사각형 57"/>
          <p:cNvSpPr/>
          <p:nvPr/>
        </p:nvSpPr>
        <p:spPr bwMode="auto">
          <a:xfrm>
            <a:off x="2356619" y="3758833"/>
            <a:ext cx="1046530" cy="1906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Running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4372843" y="4202410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9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69" name="그룹 98"/>
          <p:cNvGrpSpPr/>
          <p:nvPr/>
        </p:nvGrpSpPr>
        <p:grpSpPr>
          <a:xfrm>
            <a:off x="1681853" y="5179285"/>
            <a:ext cx="818035" cy="320360"/>
            <a:chOff x="7184999" y="5833168"/>
            <a:chExt cx="818035" cy="320360"/>
          </a:xfrm>
        </p:grpSpPr>
        <p:pic>
          <p:nvPicPr>
            <p:cNvPr id="70" name="그림 69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71" name="직사각형 70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설비 설정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1688561" y="4722309"/>
            <a:ext cx="735130" cy="300082"/>
            <a:chOff x="828295" y="3952973"/>
            <a:chExt cx="735130" cy="300082"/>
          </a:xfrm>
        </p:grpSpPr>
        <p:sp>
          <p:nvSpPr>
            <p:cNvPr id="73" name="직사각형 72"/>
            <p:cNvSpPr/>
            <p:nvPr/>
          </p:nvSpPr>
          <p:spPr>
            <a:xfrm>
              <a:off x="953963" y="3952973"/>
              <a:ext cx="609462" cy="30008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900" b="1" dirty="0" smtClean="0">
                  <a:solidFill>
                    <a:srgbClr val="000000"/>
                  </a:solidFill>
                  <a:latin typeface="+mn-ea"/>
                </a:rPr>
                <a:t>Jig </a:t>
              </a: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배출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74" name="그림 73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75" name="그룹 74"/>
          <p:cNvGrpSpPr/>
          <p:nvPr/>
        </p:nvGrpSpPr>
        <p:grpSpPr>
          <a:xfrm>
            <a:off x="2624665" y="4506285"/>
            <a:ext cx="656583" cy="273280"/>
            <a:chOff x="828295" y="3952973"/>
            <a:chExt cx="656583" cy="273280"/>
          </a:xfrm>
        </p:grpSpPr>
        <p:sp>
          <p:nvSpPr>
            <p:cNvPr id="76" name="직사각형 75"/>
            <p:cNvSpPr/>
            <p:nvPr/>
          </p:nvSpPr>
          <p:spPr>
            <a:xfrm>
              <a:off x="953963" y="3952973"/>
              <a:ext cx="530915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err="1" smtClean="0">
                  <a:solidFill>
                    <a:srgbClr val="000000"/>
                  </a:solidFill>
                  <a:latin typeface="+mn-ea"/>
                </a:rPr>
                <a:t>재시작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77" name="그림 76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78" name="그룹 77"/>
          <p:cNvGrpSpPr/>
          <p:nvPr/>
        </p:nvGrpSpPr>
        <p:grpSpPr>
          <a:xfrm>
            <a:off x="3788268" y="4491533"/>
            <a:ext cx="771999" cy="273280"/>
            <a:chOff x="828295" y="3952973"/>
            <a:chExt cx="771999" cy="273280"/>
          </a:xfrm>
        </p:grpSpPr>
        <p:sp>
          <p:nvSpPr>
            <p:cNvPr id="79" name="직사각형 78"/>
            <p:cNvSpPr/>
            <p:nvPr/>
          </p:nvSpPr>
          <p:spPr>
            <a:xfrm>
              <a:off x="953963" y="3952973"/>
              <a:ext cx="646331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err="1" smtClean="0">
                  <a:solidFill>
                    <a:srgbClr val="000000"/>
                  </a:solidFill>
                  <a:latin typeface="+mn-ea"/>
                </a:rPr>
                <a:t>일시정지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80" name="그림 79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81" name="그룹 80"/>
          <p:cNvGrpSpPr/>
          <p:nvPr/>
        </p:nvGrpSpPr>
        <p:grpSpPr>
          <a:xfrm>
            <a:off x="4588867" y="4491533"/>
            <a:ext cx="1158323" cy="273280"/>
            <a:chOff x="828295" y="3952973"/>
            <a:chExt cx="1158323" cy="273280"/>
          </a:xfrm>
        </p:grpSpPr>
        <p:sp>
          <p:nvSpPr>
            <p:cNvPr id="82" name="직사각형 81"/>
            <p:cNvSpPr/>
            <p:nvPr/>
          </p:nvSpPr>
          <p:spPr>
            <a:xfrm>
              <a:off x="953963" y="3952973"/>
              <a:ext cx="1032655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smtClean="0">
                  <a:solidFill>
                    <a:srgbClr val="000000"/>
                  </a:solidFill>
                  <a:latin typeface="+mn-ea"/>
                </a:rPr>
                <a:t>화재정보 초기화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83" name="그림 82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84" name="그룹 83"/>
          <p:cNvGrpSpPr/>
          <p:nvPr/>
        </p:nvGrpSpPr>
        <p:grpSpPr>
          <a:xfrm>
            <a:off x="4588867" y="4676179"/>
            <a:ext cx="1158323" cy="273280"/>
            <a:chOff x="828295" y="3952973"/>
            <a:chExt cx="1158323" cy="273280"/>
          </a:xfrm>
        </p:grpSpPr>
        <p:sp>
          <p:nvSpPr>
            <p:cNvPr id="85" name="직사각형 84"/>
            <p:cNvSpPr/>
            <p:nvPr/>
          </p:nvSpPr>
          <p:spPr>
            <a:xfrm>
              <a:off x="953963" y="3952973"/>
              <a:ext cx="1032655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err="1" smtClean="0">
                  <a:solidFill>
                    <a:srgbClr val="000000"/>
                  </a:solidFill>
                  <a:latin typeface="+mn-ea"/>
                </a:rPr>
                <a:t>화재오감지</a:t>
              </a: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 해제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86" name="그림 85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87" name="그룹 86"/>
          <p:cNvGrpSpPr/>
          <p:nvPr/>
        </p:nvGrpSpPr>
        <p:grpSpPr>
          <a:xfrm>
            <a:off x="4588867" y="4866325"/>
            <a:ext cx="1042907" cy="273280"/>
            <a:chOff x="828295" y="3952973"/>
            <a:chExt cx="1042907" cy="273280"/>
          </a:xfrm>
        </p:grpSpPr>
        <p:sp>
          <p:nvSpPr>
            <p:cNvPr id="88" name="직사각형 87"/>
            <p:cNvSpPr/>
            <p:nvPr/>
          </p:nvSpPr>
          <p:spPr>
            <a:xfrm>
              <a:off x="953963" y="3952973"/>
              <a:ext cx="917239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err="1" smtClean="0">
                  <a:solidFill>
                    <a:srgbClr val="000000"/>
                  </a:solidFill>
                  <a:latin typeface="+mn-ea"/>
                </a:rPr>
                <a:t>실처리</a:t>
              </a: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kumimoji="1" lang="ko-KR" altLang="en-US" sz="900" b="1" dirty="0" err="1" smtClean="0">
                  <a:solidFill>
                    <a:srgbClr val="000000"/>
                  </a:solidFill>
                  <a:latin typeface="+mn-ea"/>
                </a:rPr>
                <a:t>재요청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89" name="그림 88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90" name="그룹 89"/>
          <p:cNvGrpSpPr/>
          <p:nvPr/>
        </p:nvGrpSpPr>
        <p:grpSpPr>
          <a:xfrm>
            <a:off x="4588867" y="4290261"/>
            <a:ext cx="1158323" cy="273280"/>
            <a:chOff x="828295" y="3952973"/>
            <a:chExt cx="1158323" cy="273280"/>
          </a:xfrm>
        </p:grpSpPr>
        <p:sp>
          <p:nvSpPr>
            <p:cNvPr id="91" name="직사각형 90"/>
            <p:cNvSpPr/>
            <p:nvPr/>
          </p:nvSpPr>
          <p:spPr>
            <a:xfrm>
              <a:off x="953963" y="3952973"/>
              <a:ext cx="1032655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설비정보 초기화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92" name="그림 91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93" name="그룹 92"/>
          <p:cNvGrpSpPr/>
          <p:nvPr/>
        </p:nvGrpSpPr>
        <p:grpSpPr>
          <a:xfrm>
            <a:off x="3796779" y="4290261"/>
            <a:ext cx="771999" cy="273280"/>
            <a:chOff x="828295" y="3952973"/>
            <a:chExt cx="771999" cy="273280"/>
          </a:xfrm>
        </p:grpSpPr>
        <p:sp>
          <p:nvSpPr>
            <p:cNvPr id="94" name="직사각형 93"/>
            <p:cNvSpPr/>
            <p:nvPr/>
          </p:nvSpPr>
          <p:spPr>
            <a:xfrm>
              <a:off x="953963" y="3952973"/>
              <a:ext cx="646331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작업종료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95" name="그림 94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sp>
        <p:nvSpPr>
          <p:cNvPr id="96" name="직사각형 95"/>
          <p:cNvSpPr/>
          <p:nvPr/>
        </p:nvSpPr>
        <p:spPr>
          <a:xfrm>
            <a:off x="1549091" y="3746996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설비상태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1549091" y="2678940"/>
            <a:ext cx="4085697" cy="82832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/>
          <p:cNvSpPr/>
          <p:nvPr/>
        </p:nvSpPr>
        <p:spPr>
          <a:xfrm>
            <a:off x="1549091" y="3555429"/>
            <a:ext cx="4085697" cy="5402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1549091" y="4167266"/>
            <a:ext cx="4085697" cy="9495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/>
          <p:cNvSpPr/>
          <p:nvPr/>
        </p:nvSpPr>
        <p:spPr>
          <a:xfrm>
            <a:off x="2081090" y="495479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4153208" y="495479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9" name="타원 98"/>
          <p:cNvSpPr/>
          <p:nvPr/>
        </p:nvSpPr>
        <p:spPr>
          <a:xfrm>
            <a:off x="5534388" y="502735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3140747" y="3763224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6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00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MON-04</a:t>
            </a:r>
            <a:endParaRPr lang="ko-KR" altLang="en-US" dirty="0"/>
          </a:p>
        </p:txBody>
      </p:sp>
      <p:sp>
        <p:nvSpPr>
          <p:cNvPr id="101" name="직사각형 100"/>
          <p:cNvSpPr/>
          <p:nvPr/>
        </p:nvSpPr>
        <p:spPr bwMode="auto">
          <a:xfrm>
            <a:off x="2337041" y="3288844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/>
              <a:t>JFOJIG000101011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1535653" y="326221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Jig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6" name="타원 105"/>
          <p:cNvSpPr/>
          <p:nvPr/>
        </p:nvSpPr>
        <p:spPr>
          <a:xfrm>
            <a:off x="2952255" y="3288323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108" name="위쪽 화살표 107">
              <a:hlinkClick r:id="rId5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/>
              <a:t>설비에서 작업 가능한 모델</a:t>
            </a:r>
            <a:r>
              <a:rPr lang="en-US" altLang="ko-KR" dirty="0"/>
              <a:t>, Route ID</a:t>
            </a:r>
            <a:r>
              <a:rPr lang="ko-KR" altLang="en-US" dirty="0"/>
              <a:t>를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(Manual </a:t>
            </a:r>
            <a:r>
              <a:rPr lang="ko-KR" altLang="en-US" dirty="0" smtClean="0"/>
              <a:t>작업 화면에서 정보 수정 버튼 </a:t>
            </a:r>
            <a:r>
              <a:rPr lang="ko-KR" altLang="en-US" dirty="0" err="1" smtClean="0"/>
              <a:t>클릭시</a:t>
            </a:r>
            <a:r>
              <a:rPr lang="ko-KR" altLang="en-US" dirty="0" smtClean="0"/>
              <a:t> 조회</a:t>
            </a:r>
            <a:r>
              <a:rPr lang="en-US" altLang="ko-KR" dirty="0" smtClean="0"/>
              <a:t>)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선택된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설비사용 여부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Trouble Jig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삭제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설비에서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작업중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 사항 저장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설비 설정 화면 종료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 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 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tMstEquipment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spSetEqpStatus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설비 설정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설비 설정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sp>
        <p:nvSpPr>
          <p:cNvPr id="77" name="직사각형 76"/>
          <p:cNvSpPr/>
          <p:nvPr/>
        </p:nvSpPr>
        <p:spPr bwMode="auto">
          <a:xfrm>
            <a:off x="1924571" y="2403301"/>
            <a:ext cx="3312368" cy="3247316"/>
          </a:xfrm>
          <a:prstGeom prst="rect">
            <a:avLst/>
          </a:prstGeom>
          <a:solidFill>
            <a:srgbClr val="FFFFF8"/>
          </a:solidFill>
          <a:ln w="12700" algn="ctr">
            <a:solidFill>
              <a:srgbClr val="000000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78" name="그룹 94"/>
          <p:cNvGrpSpPr/>
          <p:nvPr/>
        </p:nvGrpSpPr>
        <p:grpSpPr>
          <a:xfrm>
            <a:off x="3881769" y="5107277"/>
            <a:ext cx="1067138" cy="320360"/>
            <a:chOff x="7184999" y="5833168"/>
            <a:chExt cx="818035" cy="320360"/>
          </a:xfrm>
        </p:grpSpPr>
        <p:pic>
          <p:nvPicPr>
            <p:cNvPr id="79" name="그림 78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80" name="직사각형 7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종료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81" name="직사각형 80"/>
          <p:cNvSpPr/>
          <p:nvPr/>
        </p:nvSpPr>
        <p:spPr bwMode="auto">
          <a:xfrm>
            <a:off x="1924571" y="2338327"/>
            <a:ext cx="3312368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설비 설정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82" name="그룹 98"/>
          <p:cNvGrpSpPr/>
          <p:nvPr/>
        </p:nvGrpSpPr>
        <p:grpSpPr>
          <a:xfrm>
            <a:off x="2644651" y="5107277"/>
            <a:ext cx="1080120" cy="320360"/>
            <a:chOff x="7184999" y="5833168"/>
            <a:chExt cx="818035" cy="320360"/>
          </a:xfrm>
        </p:grpSpPr>
        <p:pic>
          <p:nvPicPr>
            <p:cNvPr id="83" name="그림 82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84" name="직사각형 83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저</a:t>
              </a:r>
              <a:r>
                <a:rPr kumimoji="1" lang="ko-KR" altLang="en-US" sz="1100" b="1" dirty="0">
                  <a:solidFill>
                    <a:srgbClr val="FFFFFF"/>
                  </a:solidFill>
                  <a:latin typeface="+mn-ea"/>
                </a:rPr>
                <a:t>장</a:t>
              </a:r>
            </a:p>
          </p:txBody>
        </p:sp>
      </p:grpSp>
      <p:sp>
        <p:nvSpPr>
          <p:cNvPr id="85" name="직사각형 84"/>
          <p:cNvSpPr/>
          <p:nvPr/>
        </p:nvSpPr>
        <p:spPr bwMode="auto">
          <a:xfrm>
            <a:off x="3292723" y="2706995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1Line-01Bay-01Jig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616382" y="268466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err="1" smtClean="0">
                <a:solidFill>
                  <a:srgbClr val="000000"/>
                </a:solidFill>
                <a:latin typeface="+mn-ea"/>
              </a:rPr>
              <a:t>설비명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832269" y="293897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3398321" y="3714835"/>
            <a:ext cx="1046530" cy="200634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ALL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059118" y="2914106"/>
            <a:ext cx="1089589" cy="281283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FFFF">
                  <a:lumMod val="75000"/>
                </a:srgbClr>
              </a:buClr>
              <a:buSzPct val="100000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설비 사용 여부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2616382" y="3411413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모델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4215003" y="2617560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02" name="타원 101"/>
          <p:cNvSpPr/>
          <p:nvPr/>
        </p:nvSpPr>
        <p:spPr>
          <a:xfrm>
            <a:off x="3361119" y="4915114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03" name="타원 102"/>
          <p:cNvSpPr/>
          <p:nvPr/>
        </p:nvSpPr>
        <p:spPr>
          <a:xfrm>
            <a:off x="4945295" y="5131138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4195119" y="369097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10" name="직사각형 109"/>
          <p:cNvSpPr/>
          <p:nvPr/>
        </p:nvSpPr>
        <p:spPr bwMode="auto">
          <a:xfrm>
            <a:off x="3398321" y="3424339"/>
            <a:ext cx="1046530" cy="190609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IEP116102305PC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12" name="그룹 98"/>
          <p:cNvGrpSpPr/>
          <p:nvPr/>
        </p:nvGrpSpPr>
        <p:grpSpPr>
          <a:xfrm>
            <a:off x="3868786" y="4707557"/>
            <a:ext cx="1054869" cy="320360"/>
            <a:chOff x="7184999" y="5833168"/>
            <a:chExt cx="818035" cy="320360"/>
          </a:xfrm>
        </p:grpSpPr>
        <p:pic>
          <p:nvPicPr>
            <p:cNvPr id="113" name="그림 11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14" name="직사각형 113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100" b="1" dirty="0" smtClean="0">
                  <a:solidFill>
                    <a:srgbClr val="FFFFFF"/>
                  </a:solidFill>
                  <a:latin typeface="+mn-ea"/>
                </a:rPr>
                <a:t>Trouble Jig </a:t>
              </a: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정보 삭제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139" name="직사각형 138"/>
          <p:cNvSpPr/>
          <p:nvPr/>
        </p:nvSpPr>
        <p:spPr>
          <a:xfrm>
            <a:off x="2616382" y="3699445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Route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4732882" y="4483066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2059118" y="2979365"/>
            <a:ext cx="2961797" cy="35895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/>
          <p:cNvSpPr/>
          <p:nvPr/>
        </p:nvSpPr>
        <p:spPr>
          <a:xfrm>
            <a:off x="2059118" y="4059485"/>
            <a:ext cx="2961797" cy="55331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4" name="그룹 143"/>
          <p:cNvGrpSpPr/>
          <p:nvPr/>
        </p:nvGrpSpPr>
        <p:grpSpPr>
          <a:xfrm>
            <a:off x="2711978" y="3065036"/>
            <a:ext cx="812074" cy="273280"/>
            <a:chOff x="828295" y="3952973"/>
            <a:chExt cx="812074" cy="273280"/>
          </a:xfrm>
        </p:grpSpPr>
        <p:sp>
          <p:nvSpPr>
            <p:cNvPr id="145" name="직사각형 144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사용 가능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146" name="그림 145"/>
            <p:cNvPicPr>
              <a:picLocks noChangeAspect="1"/>
            </p:cNvPicPr>
            <p:nvPr/>
          </p:nvPicPr>
          <p:blipFill rotWithShape="1">
            <a:blip r:embed="rId6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sp>
        <p:nvSpPr>
          <p:cNvPr id="151" name="직사각형 150"/>
          <p:cNvSpPr/>
          <p:nvPr/>
        </p:nvSpPr>
        <p:spPr>
          <a:xfrm>
            <a:off x="2059118" y="3412501"/>
            <a:ext cx="2961797" cy="5749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8" name="그룹 147"/>
          <p:cNvGrpSpPr/>
          <p:nvPr/>
        </p:nvGrpSpPr>
        <p:grpSpPr>
          <a:xfrm>
            <a:off x="3644252" y="3065036"/>
            <a:ext cx="812074" cy="273280"/>
            <a:chOff x="828295" y="3952973"/>
            <a:chExt cx="812074" cy="273280"/>
          </a:xfrm>
        </p:grpSpPr>
        <p:sp>
          <p:nvSpPr>
            <p:cNvPr id="149" name="직사각형 148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사용 </a:t>
              </a:r>
              <a:r>
                <a:rPr kumimoji="1" lang="ko-KR" altLang="en-US" sz="900" b="1" dirty="0" err="1" smtClean="0">
                  <a:solidFill>
                    <a:srgbClr val="000000"/>
                  </a:solidFill>
                  <a:latin typeface="+mn-ea"/>
                </a:rPr>
                <a:t>안함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150" name="그림 149"/>
            <p:cNvPicPr>
              <a:picLocks noChangeAspect="1"/>
            </p:cNvPicPr>
            <p:nvPr/>
          </p:nvPicPr>
          <p:blipFill rotWithShape="1">
            <a:blip r:embed="rId6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sp>
        <p:nvSpPr>
          <p:cNvPr id="108" name="타원 107"/>
          <p:cNvSpPr/>
          <p:nvPr/>
        </p:nvSpPr>
        <p:spPr>
          <a:xfrm>
            <a:off x="4225216" y="339590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5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MON-05</a:t>
            </a:r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2616382" y="4107036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Cell Type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3398321" y="4119962"/>
            <a:ext cx="1046530" cy="190609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ALL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4225216" y="409152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4225216" y="2924766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49" name="그룹 48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50" name="위쪽 화살표 49">
              <a:hlinkClick r:id="rId7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Formation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설비 조회 기간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Trouble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현황</a:t>
            </a:r>
            <a:r>
              <a:rPr lang="en-US" altLang="ko-KR" dirty="0"/>
              <a:t>(Jig Formation Monitoring </a:t>
            </a:r>
            <a:r>
              <a:rPr lang="ko-KR" altLang="en-US" dirty="0"/>
              <a:t>화면에서 </a:t>
            </a:r>
            <a:r>
              <a:rPr lang="en-US" altLang="ko-KR" dirty="0"/>
              <a:t>Jig Box </a:t>
            </a:r>
            <a:r>
              <a:rPr lang="ko-KR" altLang="en-US" dirty="0" smtClean="0"/>
              <a:t>상단 </a:t>
            </a:r>
            <a:r>
              <a:rPr lang="ko-KR" altLang="en-US" dirty="0"/>
              <a:t>더블 </a:t>
            </a:r>
            <a:r>
              <a:rPr lang="ko-KR" altLang="en-US" dirty="0" err="1"/>
              <a:t>클릭시</a:t>
            </a:r>
            <a:r>
              <a:rPr lang="ko-KR" altLang="en-US" dirty="0"/>
              <a:t> 조회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7, To: Today(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기본 일주일 설정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Formation Box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조건으로 검색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 저장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결과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내용 엑셀 파일로 저장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Close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 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tMstTrouble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Trouble Information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Trouble Information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10688" y="1102584"/>
            <a:ext cx="1454443" cy="259342"/>
          </a:xfrm>
        </p:spPr>
        <p:txBody>
          <a:bodyPr/>
          <a:lstStyle/>
          <a:p>
            <a:r>
              <a:rPr lang="ko-KR" altLang="en-US" dirty="0" smtClean="0"/>
              <a:t>모니터링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03" y="2073934"/>
            <a:ext cx="6696744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3148707" y="2038033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4660875" y="2038033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510688" y="196168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068224" y="196168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566938" y="196168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MON-06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1" name="위쪽 화살표 20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최초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Tray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투입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err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리딩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정보 생성 화면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모델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ID: Route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(Active Route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Tray ID: Tray ID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바코드 </a:t>
            </a:r>
            <a:r>
              <a:rPr lang="ko-KR" altLang="en-US" sz="900" kern="0" dirty="0" err="1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리딩</a:t>
            </a:r>
            <a:endParaRPr lang="en-US" altLang="ko-KR" sz="900" kern="0" dirty="0" smtClean="0">
              <a:solidFill>
                <a:srgbClr val="0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Cell ID: Cell ID 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바코드 </a:t>
            </a:r>
            <a:r>
              <a:rPr lang="ko-KR" altLang="en-US" sz="900" kern="0" dirty="0" err="1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리딩</a:t>
            </a:r>
            <a:endParaRPr lang="en-US" altLang="ko-KR" sz="900" kern="0" dirty="0">
              <a:solidFill>
                <a:srgbClr val="000000"/>
              </a:solidFill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리스트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바코드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리딩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시마다 행 추가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    Dummy Cell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리딩시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Dummy  Cell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규칙 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참조하여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Dummy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여부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생성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생성 처리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</a:t>
            </a:r>
            <a:r>
              <a:rPr lang="en-US" altLang="ko-KR" sz="900" b="1" kern="0" dirty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]</a:t>
            </a:r>
            <a:endParaRPr lang="en-US" altLang="ko-KR" sz="900" b="1" kern="0" dirty="0" smtClean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r>
              <a:rPr lang="en-US" altLang="ko-KR" sz="900" kern="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endParaRPr lang="en-US" altLang="ko-KR" sz="900" kern="0" dirty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spSetTrayCellInput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Cell </a:t>
            </a:r>
            <a:r>
              <a:rPr lang="ko-KR" altLang="en-US" dirty="0" smtClean="0"/>
              <a:t>정보 생성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Cell </a:t>
            </a:r>
            <a:r>
              <a:rPr lang="ko-KR" altLang="en-US" dirty="0" smtClean="0"/>
              <a:t>정보 생성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43006" y="1102584"/>
            <a:ext cx="1422125" cy="259342"/>
          </a:xfrm>
        </p:spPr>
        <p:txBody>
          <a:bodyPr/>
          <a:lstStyle/>
          <a:p>
            <a:r>
              <a:rPr lang="ko-KR" altLang="en-US" dirty="0" smtClean="0"/>
              <a:t>작업자 </a:t>
            </a:r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340395" y="2763341"/>
            <a:ext cx="7077095" cy="1804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72000" tIns="36000" rIns="72000" bIns="36000" anchor="ctr" anchorCtr="0">
            <a:sp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ko-KR" altLang="en-US" sz="700" b="1" dirty="0">
                <a:latin typeface="+mn-ea"/>
              </a:rPr>
              <a:t>투입 </a:t>
            </a:r>
            <a:r>
              <a:rPr lang="en-US" altLang="ko-KR" sz="700" b="1" dirty="0" smtClean="0">
                <a:latin typeface="+mn-ea"/>
              </a:rPr>
              <a:t>Cell</a:t>
            </a:r>
            <a:endParaRPr lang="ko-KR" altLang="en-US" sz="700" b="1" baseline="5000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19" name="그룹 89"/>
          <p:cNvGrpSpPr/>
          <p:nvPr/>
        </p:nvGrpSpPr>
        <p:grpSpPr>
          <a:xfrm>
            <a:off x="5543006" y="1971253"/>
            <a:ext cx="1134090" cy="320360"/>
            <a:chOff x="7241338" y="5833168"/>
            <a:chExt cx="818035" cy="320360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241338" y="5833168"/>
              <a:ext cx="818035" cy="320360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7261472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bg1"/>
                  </a:solidFill>
                  <a:latin typeface="+mn-ea"/>
                </a:rPr>
                <a:t>Cell 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+mn-ea"/>
                </a:rPr>
                <a:t>정보 생성</a:t>
              </a:r>
              <a:endParaRPr lang="ko-KR" alt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2" name="타원 21"/>
          <p:cNvSpPr/>
          <p:nvPr/>
        </p:nvSpPr>
        <p:spPr>
          <a:xfrm>
            <a:off x="6317059" y="5271377"/>
            <a:ext cx="219635" cy="22449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1</a:t>
            </a:r>
            <a:endParaRPr lang="ko-KR" altLang="en-US" sz="1400" dirty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2059202" y="2244807"/>
            <a:ext cx="209694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3</a:t>
            </a:r>
            <a:endParaRPr lang="ko-KR" altLang="en-US" sz="1400" dirty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247997" y="2018117"/>
            <a:ext cx="10895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ko-KR" sz="800" b="1" dirty="0" smtClean="0">
                <a:latin typeface="+mn-ea"/>
              </a:rPr>
              <a:t>Route </a:t>
            </a:r>
            <a:r>
              <a:rPr lang="en-US" altLang="ko-KR" sz="800" b="1" dirty="0">
                <a:latin typeface="+mn-ea"/>
              </a:rPr>
              <a:t>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848952" y="1804916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3721160" y="1788324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870806" y="2036403"/>
            <a:ext cx="1188396" cy="219141"/>
            <a:chOff x="870806" y="2036403"/>
            <a:chExt cx="837741" cy="219141"/>
          </a:xfrm>
        </p:grpSpPr>
        <p:sp>
          <p:nvSpPr>
            <p:cNvPr id="33" name="직사각형 32"/>
            <p:cNvSpPr/>
            <p:nvPr/>
          </p:nvSpPr>
          <p:spPr bwMode="auto">
            <a:xfrm>
              <a:off x="870806" y="2047140"/>
              <a:ext cx="693725" cy="197667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r>
                <a:rPr lang="en-US" altLang="ko-KR" sz="800" dirty="0" smtClean="0">
                  <a:latin typeface="+mn-ea"/>
                </a:rPr>
                <a:t>POUCH24011</a:t>
              </a:r>
              <a:endParaRPr lang="ko-KR" altLang="en-US" sz="800" dirty="0">
                <a:latin typeface="+mn-ea"/>
              </a:endParaRPr>
            </a:p>
          </p:txBody>
        </p:sp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0916" y="2036403"/>
              <a:ext cx="187631" cy="219141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chemeClr val="tx1">
                  <a:lumMod val="85000"/>
                  <a:lumOff val="15000"/>
                </a:schemeClr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35" name="직사각형 34"/>
          <p:cNvSpPr/>
          <p:nvPr/>
        </p:nvSpPr>
        <p:spPr>
          <a:xfrm>
            <a:off x="359584" y="2018117"/>
            <a:ext cx="10895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ko-KR" altLang="en-US" sz="800" b="1" dirty="0" smtClean="0">
                <a:latin typeface="+mn-ea"/>
              </a:rPr>
              <a:t>모델 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48044" y="2435621"/>
            <a:ext cx="10895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ko-KR" sz="800" b="1" dirty="0" smtClean="0">
                <a:latin typeface="+mn-ea"/>
              </a:rPr>
              <a:t>Tray 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4444851" y="225928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120760" y="271927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1036489" y="2445570"/>
            <a:ext cx="1032098" cy="197667"/>
          </a:xfrm>
          <a:prstGeom prst="rect">
            <a:avLst/>
          </a:prstGeom>
          <a:solidFill>
            <a:srgbClr val="FFFF00"/>
          </a:solidFill>
          <a:ln w="3175" algn="ctr">
            <a:solidFill>
              <a:srgbClr val="0000FF"/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r>
              <a:rPr lang="en-US" altLang="ko-KR" sz="800" dirty="0" smtClean="0">
                <a:latin typeface="+mn-ea"/>
              </a:rPr>
              <a:t>TABC20240311</a:t>
            </a:r>
            <a:endParaRPr lang="ko-KR" altLang="en-US" sz="800" dirty="0">
              <a:latin typeface="+mn-ea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964605"/>
              </p:ext>
            </p:extLst>
          </p:nvPr>
        </p:nvGraphicFramePr>
        <p:xfrm>
          <a:off x="330926" y="2960076"/>
          <a:ext cx="6884520" cy="3713325"/>
        </p:xfrm>
        <a:graphic>
          <a:graphicData uri="http://schemas.openxmlformats.org/drawingml/2006/table">
            <a:tbl>
              <a:tblPr/>
              <a:tblGrid>
                <a:gridCol w="600433"/>
                <a:gridCol w="5555139"/>
                <a:gridCol w="728948"/>
              </a:tblGrid>
              <a:tr h="1633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No.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  <a:r>
                        <a:rPr lang="en-US" altLang="ko-KR" sz="700" b="1" i="0" u="none" strike="noStrike" baseline="0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ID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Dummy 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여부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dirty="0" smtClean="0"/>
                        <a:t>1</a:t>
                      </a:r>
                      <a:endParaRPr lang="en-US" altLang="ko-KR" sz="7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03VCEA194CA1XT94R0000001</a:t>
                      </a:r>
                      <a:endParaRPr lang="en-US" altLang="ko-KR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03VCEA194CA1XT94R0000002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03VCEA194CA1XT94R0000003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4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03VCEA194CA1XT94R0000004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5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03VCEA194CA1XT94R0000005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6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03VCEA194CA1XT94R0000006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7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03VCEA194CA1XT94R0000007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8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03VCEA194CA1XT94R0000008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D3VCEA194CA1XT94R0000001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Y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10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03VCEA194CA1XT94R0000009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03VCEA194CA1XT94R0000010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12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FF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D3VCEA194CA1XT94R0000022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+mn-ea"/>
                        </a:rPr>
                        <a:t>Y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14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03VCEA194CA1XT94R0000012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96" name="그룹 95"/>
          <p:cNvGrpSpPr/>
          <p:nvPr/>
        </p:nvGrpSpPr>
        <p:grpSpPr>
          <a:xfrm>
            <a:off x="7215446" y="2931117"/>
            <a:ext cx="216024" cy="3792664"/>
            <a:chOff x="7261855" y="2949175"/>
            <a:chExt cx="154789" cy="1566546"/>
          </a:xfrm>
        </p:grpSpPr>
        <p:sp>
          <p:nvSpPr>
            <p:cNvPr id="97" name="직사각형 96"/>
            <p:cNvSpPr/>
            <p:nvPr/>
          </p:nvSpPr>
          <p:spPr bwMode="auto">
            <a:xfrm>
              <a:off x="7277148" y="3049118"/>
              <a:ext cx="124202" cy="1367555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algn="ctr"/>
              <a:endParaRPr lang="ko-KR" altLang="en-US" sz="1000" b="1" dirty="0">
                <a:latin typeface="+mn-ea"/>
                <a:ea typeface="+mn-ea"/>
              </a:endParaRPr>
            </a:p>
          </p:txBody>
        </p:sp>
        <p:pic>
          <p:nvPicPr>
            <p:cNvPr id="98" name="그림 97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261855" y="4350412"/>
              <a:ext cx="154789" cy="1653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9" name="그림 98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 flipV="1">
              <a:off x="7261855" y="2949175"/>
              <a:ext cx="154789" cy="165309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8" name="그룹 89"/>
          <p:cNvGrpSpPr/>
          <p:nvPr/>
        </p:nvGrpSpPr>
        <p:grpSpPr>
          <a:xfrm>
            <a:off x="6731587" y="1971788"/>
            <a:ext cx="630553" cy="320360"/>
            <a:chOff x="7195069" y="5833168"/>
            <a:chExt cx="864304" cy="320360"/>
          </a:xfrm>
        </p:grpSpPr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241338" y="5833168"/>
              <a:ext cx="818035" cy="320360"/>
            </a:xfrm>
            <a:prstGeom prst="rect">
              <a:avLst/>
            </a:prstGeom>
          </p:spPr>
        </p:pic>
        <p:sp>
          <p:nvSpPr>
            <p:cNvPr id="41" name="직사각형 40"/>
            <p:cNvSpPr/>
            <p:nvPr/>
          </p:nvSpPr>
          <p:spPr>
            <a:xfrm>
              <a:off x="7195069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n-ea"/>
                </a:rPr>
                <a:t>종료</a:t>
              </a:r>
              <a:endParaRPr lang="ko-KR" alt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>
            <a:off x="2235633" y="2404600"/>
            <a:ext cx="10895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ko-KR" sz="800" b="1" dirty="0" smtClean="0">
                <a:latin typeface="+mn-ea"/>
              </a:rPr>
              <a:t>Cell 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2837645" y="2433623"/>
            <a:ext cx="1630236" cy="197667"/>
          </a:xfrm>
          <a:prstGeom prst="rect">
            <a:avLst/>
          </a:prstGeom>
          <a:solidFill>
            <a:srgbClr val="FFFF00"/>
          </a:solidFill>
          <a:ln w="3175" algn="ctr">
            <a:solidFill>
              <a:schemeClr val="tx1">
                <a:lumMod val="85000"/>
                <a:lumOff val="15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r>
              <a:rPr lang="en-US" altLang="ko-KR" sz="800" b="1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03VCEA194CA1XT94R0000012</a:t>
            </a:r>
            <a:endParaRPr lang="ko-KR" altLang="en-US" sz="800" b="1" baseline="5000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3066440" y="2036403"/>
            <a:ext cx="837741" cy="219141"/>
            <a:chOff x="870806" y="2036403"/>
            <a:chExt cx="837741" cy="219141"/>
          </a:xfrm>
        </p:grpSpPr>
        <p:sp>
          <p:nvSpPr>
            <p:cNvPr id="70" name="직사각형 69"/>
            <p:cNvSpPr/>
            <p:nvPr/>
          </p:nvSpPr>
          <p:spPr bwMode="auto">
            <a:xfrm>
              <a:off x="870806" y="2047140"/>
              <a:ext cx="693725" cy="197667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r>
                <a:rPr lang="en-US" altLang="ko-KR" sz="800" dirty="0" smtClean="0">
                  <a:latin typeface="+mn-ea"/>
                </a:rPr>
                <a:t>P101</a:t>
              </a:r>
              <a:endParaRPr lang="ko-KR" altLang="en-US" sz="800" dirty="0">
                <a:latin typeface="+mn-ea"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0916" y="2036403"/>
              <a:ext cx="187631" cy="219141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chemeClr val="tx1">
                  <a:lumMod val="85000"/>
                  <a:lumOff val="15000"/>
                </a:schemeClr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72" name="타원 71"/>
          <p:cNvSpPr/>
          <p:nvPr/>
        </p:nvSpPr>
        <p:spPr>
          <a:xfrm>
            <a:off x="6486843" y="1746762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7105536" y="1746762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4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MON-07</a:t>
            </a:r>
            <a:endParaRPr lang="ko-KR" altLang="en-US" dirty="0"/>
          </a:p>
        </p:txBody>
      </p:sp>
      <p:grpSp>
        <p:nvGrpSpPr>
          <p:cNvPr id="45" name="그룹 44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46" name="위쪽 화살표 45">
              <a:hlinkClick r:id="rId5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Cell </a:t>
            </a:r>
            <a:r>
              <a:rPr lang="ko-KR" altLang="en-US" dirty="0" smtClean="0"/>
              <a:t>정보 생성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2024.03.07</a:t>
            </a: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최초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Tray </a:t>
            </a:r>
            <a:r>
              <a:rPr lang="ko-KR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투입 </a:t>
            </a:r>
            <a:r>
              <a:rPr lang="en-US" altLang="ko-KR" dirty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리딩</a:t>
            </a:r>
            <a:r>
              <a:rPr lang="ko-KR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 화면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 smtClean="0"/>
              <a:t>작업자</a:t>
            </a:r>
            <a:r>
              <a:rPr lang="en-US" altLang="ko-KR" dirty="0"/>
              <a:t> </a:t>
            </a:r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Cell </a:t>
            </a:r>
            <a:r>
              <a:rPr lang="ko-KR" altLang="en-US" dirty="0" smtClean="0"/>
              <a:t>정보 생성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11455" y="1861820"/>
            <a:ext cx="7164705" cy="329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[Jason  </a:t>
            </a:r>
            <a:r>
              <a:rPr lang="ko-KR" altLang="en-US" sz="1050" b="1" dirty="0" smtClean="0">
                <a:solidFill>
                  <a:srgbClr val="0000FF"/>
                </a:solidFill>
                <a:latin typeface="+mn-ea"/>
              </a:rPr>
              <a:t>호출</a:t>
            </a: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]</a:t>
            </a:r>
            <a:endParaRPr lang="en-US" altLang="ko-KR" sz="1050" b="1" dirty="0">
              <a:solidFill>
                <a:srgbClr val="0000FF"/>
              </a:solidFill>
              <a:latin typeface="+mn-ea"/>
            </a:endParaRPr>
          </a:p>
          <a:p>
            <a:pPr marL="228600" lvl="0" indent="-22860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AutoNum type="arabicPeriod"/>
              <a:defRPr/>
            </a:pPr>
            <a:r>
              <a:rPr lang="en-US" altLang="ko-KR" sz="1050" dirty="0" err="1" smtClean="0">
                <a:latin typeface="+mn-ea"/>
              </a:rPr>
              <a:t>Json</a:t>
            </a:r>
            <a:r>
              <a:rPr lang="en-US" altLang="ko-KR" sz="1050" dirty="0" smtClean="0">
                <a:latin typeface="+mn-ea"/>
              </a:rPr>
              <a:t> </a:t>
            </a:r>
            <a:r>
              <a:rPr lang="ko-KR" altLang="en-US" sz="1050" dirty="0" smtClean="0">
                <a:latin typeface="+mn-ea"/>
              </a:rPr>
              <a:t>호출</a:t>
            </a:r>
            <a:endParaRPr lang="en-US" altLang="ko-KR" sz="1050" dirty="0" smtClean="0">
              <a:latin typeface="+mn-ea"/>
            </a:endParaRPr>
          </a:p>
          <a:p>
            <a:pPr marL="228600" lvl="0" indent="-22860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AutoNum type="arabicPeriod"/>
              <a:defRPr/>
            </a:pPr>
            <a:r>
              <a:rPr lang="ko-KR" altLang="en-US" sz="1050" b="1" dirty="0" smtClean="0">
                <a:latin typeface="+mn-ea"/>
              </a:rPr>
              <a:t>클래스 기술</a:t>
            </a:r>
            <a:r>
              <a:rPr lang="en-US" altLang="ko-KR" sz="1050" b="1" dirty="0" smtClean="0">
                <a:latin typeface="+mn-ea"/>
              </a:rPr>
              <a:t> : </a:t>
            </a:r>
            <a:r>
              <a:rPr lang="en-US" altLang="ko-KR" sz="1050" b="1" dirty="0" smtClean="0">
                <a:latin typeface="+mn-ea"/>
                <a:sym typeface="+mn-ea"/>
              </a:rPr>
              <a:t>JsonConvert.SerializeObject</a:t>
            </a:r>
            <a:endParaRPr lang="ko-KR" altLang="en-US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</a:rPr>
              <a:t>    1</a:t>
            </a:r>
            <a:r>
              <a:rPr lang="en-US" altLang="ko-KR" sz="1050" b="1" dirty="0" smtClean="0">
                <a:latin typeface="+mn-ea"/>
                <a:sym typeface="+mn-ea"/>
              </a:rPr>
              <a:t>&gt; public class TABLE_SELECT_tTrayCurr : TableClass</a:t>
            </a:r>
            <a:endParaRPr lang="en-US" altLang="ko-KR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  <a:sym typeface="+mn-ea"/>
              </a:rPr>
              <a:t>    2&gt; public class TABLE_UPDATE_tTrayCurr : TableClass</a:t>
            </a:r>
            <a:endParaRPr lang="en-US" altLang="ko-KR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endParaRPr lang="en-US" altLang="ko-KR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  <a:sym typeface="+mn-ea"/>
              </a:rPr>
              <a:t>    3&gt; public class TABLE_SELECT_tCellCurr : TableClass 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    </a:t>
            </a: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dirty="0" smtClean="0">
                <a:latin typeface="+mn-ea"/>
              </a:rPr>
              <a:t>    4&gt; </a:t>
            </a:r>
            <a:r>
              <a:rPr lang="en-US" altLang="ko-KR" sz="1050" dirty="0" smtClean="0">
                <a:latin typeface="+mn-ea"/>
                <a:sym typeface="+mn-ea"/>
              </a:rPr>
              <a:t>public class SP_spSetTrayCellInput : TableClass</a:t>
            </a:r>
            <a:endParaRPr lang="en-US" altLang="ko-KR" sz="1050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endParaRPr lang="en-US" altLang="ko-KR" sz="1050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  <a:sym typeface="+mn-ea"/>
              </a:rPr>
              <a:t>2. Return </a:t>
            </a:r>
            <a:r>
              <a:rPr lang="ko-KR" altLang="en-US" sz="1050" b="1" dirty="0" smtClean="0">
                <a:latin typeface="+mn-ea"/>
                <a:sym typeface="+mn-ea"/>
              </a:rPr>
              <a:t>형식</a:t>
            </a:r>
            <a:endParaRPr lang="ko-KR" altLang="en-US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ko-KR" altLang="en-US" sz="1050" b="1" dirty="0" smtClean="0">
                <a:latin typeface="+mn-ea"/>
                <a:sym typeface="+mn-ea"/>
              </a:rPr>
              <a:t> </a:t>
            </a:r>
            <a:r>
              <a:rPr lang="en-US" altLang="ko-KR" sz="1050" b="1" dirty="0" smtClean="0">
                <a:latin typeface="+mn-ea"/>
                <a:sym typeface="+mn-ea"/>
              </a:rPr>
              <a:t>   1&gt; </a:t>
            </a:r>
            <a:r>
              <a:rPr lang="ko-KR" altLang="en-US" sz="1050" b="1" dirty="0" smtClean="0">
                <a:latin typeface="+mn-ea"/>
                <a:sym typeface="+mn-ea"/>
              </a:rPr>
              <a:t>정상</a:t>
            </a:r>
            <a:r>
              <a:rPr lang="en-US" altLang="ko-KR" sz="1050" b="1" dirty="0" smtClean="0">
                <a:latin typeface="+mn-ea"/>
                <a:sym typeface="+mn-ea"/>
              </a:rPr>
              <a:t> :  {    "resource": [],    "count": 0,    "code": 0}</a:t>
            </a:r>
            <a:endParaRPr lang="en-US" altLang="ko-KR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r>
              <a:rPr lang="en-US" altLang="ko-KR" sz="1050" b="1" dirty="0" smtClean="0">
                <a:latin typeface="+mn-ea"/>
                <a:sym typeface="+mn-ea"/>
              </a:rPr>
              <a:t>    2&gt; </a:t>
            </a:r>
            <a:r>
              <a:rPr lang="ko-KR" altLang="en-US" sz="1050" b="1" dirty="0" smtClean="0">
                <a:latin typeface="+mn-ea"/>
                <a:sym typeface="+mn-ea"/>
              </a:rPr>
              <a:t>에러</a:t>
            </a:r>
            <a:r>
              <a:rPr lang="en-US" altLang="ko-KR" sz="1050" b="1" dirty="0" smtClean="0">
                <a:latin typeface="+mn-ea"/>
                <a:sym typeface="+mn-ea"/>
              </a:rPr>
              <a:t> :   {    "code": -600,    "message": "Application Key Error, (Invalid APIKey)"}</a:t>
            </a:r>
            <a:endParaRPr lang="en-US" altLang="ko-KR" sz="1050" b="1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endParaRPr lang="en-US" altLang="ko-KR" sz="1050" dirty="0" smtClean="0">
              <a:latin typeface="+mn-ea"/>
            </a:endParaRPr>
          </a:p>
          <a:p>
            <a:pPr lvl="0" indent="0" defTabSz="911225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buNone/>
              <a:defRPr/>
            </a:pPr>
            <a:endParaRPr lang="en-US" altLang="ko-KR" sz="1050" dirty="0" smtClean="0">
              <a:latin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7478843" y="1742241"/>
            <a:ext cx="0" cy="4946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98891" y="1831323"/>
            <a:ext cx="4728519" cy="267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66700" eaLnBrk="0" fontAlgn="base" latinLnBrk="1" hangingPunct="0">
              <a:lnSpc>
                <a:spcPct val="120000"/>
              </a:lnSpc>
              <a:spcAft>
                <a:spcPts val="200"/>
              </a:spcAft>
              <a:buClr>
                <a:srgbClr val="000000">
                  <a:lumMod val="75000"/>
                  <a:lumOff val="25000"/>
                </a:srgbClr>
              </a:buClr>
              <a:buSzPct val="125000"/>
              <a:defRPr/>
            </a:pPr>
            <a:r>
              <a:rPr lang="en-US" altLang="ko-KR" sz="1050" b="1" dirty="0" smtClean="0">
                <a:solidFill>
                  <a:srgbClr val="0000FF"/>
                </a:solidFill>
                <a:latin typeface="+mn-ea"/>
              </a:rPr>
              <a:t>[</a:t>
            </a:r>
            <a:endParaRPr lang="ko-KR" altLang="en-US" sz="1050" dirty="0">
              <a:latin typeface="+mn-ea"/>
            </a:endParaRP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796779" y="1207855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MON-07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투입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재구성 화면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모델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ID: Route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(Active Route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투입공정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투입공정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Tray ID: Tray ID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바코드 </a:t>
            </a:r>
            <a:r>
              <a:rPr lang="ko-KR" altLang="en-US" sz="900" kern="0" dirty="0" err="1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리딩</a:t>
            </a:r>
            <a:endParaRPr lang="en-US" altLang="ko-KR" sz="900" kern="0" dirty="0" smtClean="0">
              <a:solidFill>
                <a:srgbClr val="0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Cell ID: Cell ID 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바코드 </a:t>
            </a:r>
            <a:r>
              <a:rPr lang="ko-KR" altLang="en-US" sz="900" kern="0" dirty="0" err="1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리딩</a:t>
            </a:r>
            <a:endParaRPr lang="en-US" altLang="ko-KR" sz="900" kern="0" dirty="0">
              <a:solidFill>
                <a:srgbClr val="000000"/>
              </a:solidFill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리스트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바코드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리딩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시마다 행 추가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    Dummy Cell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리딩시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Dummy  Cell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규칙 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참조하여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Dummy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여부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생성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생성 처리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</a:t>
            </a:r>
            <a:r>
              <a:rPr lang="en-US" altLang="ko-KR" sz="900" b="1" kern="0" dirty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]</a:t>
            </a:r>
            <a:endParaRPr lang="en-US" altLang="ko-KR" sz="900" b="1" kern="0" dirty="0" smtClean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r>
              <a:rPr lang="en-US" altLang="ko-KR" sz="900" kern="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endParaRPr lang="en-US" altLang="ko-KR" sz="900" kern="0" dirty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spSetTrayCellInput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투입 </a:t>
            </a:r>
            <a:r>
              <a:rPr lang="en-US" altLang="ko-KR" dirty="0" smtClean="0"/>
              <a:t>Cell </a:t>
            </a:r>
            <a:r>
              <a:rPr lang="ko-KR" altLang="en-US" dirty="0" smtClean="0"/>
              <a:t>재구성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2024.04.15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투입 </a:t>
            </a:r>
            <a:r>
              <a:rPr lang="en-US" altLang="ko-KR" dirty="0" smtClean="0"/>
              <a:t>Cell </a:t>
            </a:r>
            <a:r>
              <a:rPr lang="ko-KR" altLang="en-US" dirty="0" smtClean="0"/>
              <a:t>재구성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43006" y="1102584"/>
            <a:ext cx="1422125" cy="259342"/>
          </a:xfrm>
        </p:spPr>
        <p:txBody>
          <a:bodyPr/>
          <a:lstStyle/>
          <a:p>
            <a:r>
              <a:rPr lang="ko-KR" altLang="en-US" dirty="0" smtClean="0"/>
              <a:t>작업자 </a:t>
            </a:r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340395" y="2763341"/>
            <a:ext cx="7077095" cy="1804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72000" tIns="36000" rIns="72000" bIns="36000" anchor="ctr" anchorCtr="0">
            <a:sp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ko-KR" altLang="en-US" sz="700" b="1" dirty="0">
                <a:latin typeface="+mn-ea"/>
              </a:rPr>
              <a:t>투입 </a:t>
            </a:r>
            <a:r>
              <a:rPr lang="en-US" altLang="ko-KR" sz="700" b="1" dirty="0" smtClean="0">
                <a:latin typeface="+mn-ea"/>
              </a:rPr>
              <a:t>Cell</a:t>
            </a:r>
            <a:endParaRPr lang="ko-KR" altLang="en-US" sz="700" b="1" baseline="5000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19" name="그룹 89"/>
          <p:cNvGrpSpPr/>
          <p:nvPr/>
        </p:nvGrpSpPr>
        <p:grpSpPr>
          <a:xfrm>
            <a:off x="5543006" y="1971253"/>
            <a:ext cx="1134090" cy="320360"/>
            <a:chOff x="7241338" y="5833168"/>
            <a:chExt cx="818035" cy="320360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241338" y="5833168"/>
              <a:ext cx="818035" cy="320360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7261472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bg1"/>
                  </a:solidFill>
                  <a:latin typeface="+mn-ea"/>
                </a:rPr>
                <a:t>Cell 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+mn-ea"/>
                </a:rPr>
                <a:t>정보 생성</a:t>
              </a:r>
              <a:endParaRPr lang="ko-KR" alt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2" name="타원 21"/>
          <p:cNvSpPr/>
          <p:nvPr/>
        </p:nvSpPr>
        <p:spPr>
          <a:xfrm>
            <a:off x="6317059" y="5271377"/>
            <a:ext cx="219635" cy="22449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1</a:t>
            </a:r>
            <a:endParaRPr lang="ko-KR" altLang="en-US" sz="1400" dirty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1979545" y="2244807"/>
            <a:ext cx="209694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4</a:t>
            </a:r>
            <a:endParaRPr lang="ko-KR" altLang="en-US" sz="1400" dirty="0"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068587" y="2018117"/>
            <a:ext cx="10895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ko-KR" sz="800" b="1" dirty="0" smtClean="0">
                <a:latin typeface="+mn-ea"/>
              </a:rPr>
              <a:t>Route </a:t>
            </a:r>
            <a:r>
              <a:rPr lang="en-US" altLang="ko-KR" sz="800" b="1" dirty="0">
                <a:latin typeface="+mn-ea"/>
              </a:rPr>
              <a:t>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1769295" y="1804916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3541750" y="1788324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91149" y="2036403"/>
            <a:ext cx="1188396" cy="219141"/>
            <a:chOff x="870806" y="2036403"/>
            <a:chExt cx="837741" cy="219141"/>
          </a:xfrm>
        </p:grpSpPr>
        <p:sp>
          <p:nvSpPr>
            <p:cNvPr id="33" name="직사각형 32"/>
            <p:cNvSpPr/>
            <p:nvPr/>
          </p:nvSpPr>
          <p:spPr bwMode="auto">
            <a:xfrm>
              <a:off x="870806" y="2047140"/>
              <a:ext cx="693725" cy="197667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r>
                <a:rPr lang="en-US" altLang="ko-KR" sz="800" dirty="0" smtClean="0">
                  <a:latin typeface="+mn-ea"/>
                </a:rPr>
                <a:t>POUCH24011</a:t>
              </a:r>
              <a:endParaRPr lang="ko-KR" altLang="en-US" sz="800" dirty="0">
                <a:latin typeface="+mn-ea"/>
              </a:endParaRPr>
            </a:p>
          </p:txBody>
        </p:sp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4531" y="2036403"/>
              <a:ext cx="144016" cy="219141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chemeClr val="tx1">
                  <a:lumMod val="85000"/>
                  <a:lumOff val="15000"/>
                </a:schemeClr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35" name="직사각형 34"/>
          <p:cNvSpPr/>
          <p:nvPr/>
        </p:nvSpPr>
        <p:spPr>
          <a:xfrm>
            <a:off x="279927" y="2018117"/>
            <a:ext cx="10895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ko-KR" altLang="en-US" sz="800" b="1" dirty="0" smtClean="0">
                <a:latin typeface="+mn-ea"/>
              </a:rPr>
              <a:t>모델 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68387" y="2435621"/>
            <a:ext cx="10895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ko-KR" sz="800" b="1" dirty="0" smtClean="0">
                <a:latin typeface="+mn-ea"/>
              </a:rPr>
              <a:t>Tray 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4265441" y="225928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120760" y="271927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6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956832" y="2445570"/>
            <a:ext cx="1032098" cy="197667"/>
          </a:xfrm>
          <a:prstGeom prst="rect">
            <a:avLst/>
          </a:prstGeom>
          <a:solidFill>
            <a:srgbClr val="FFFF00"/>
          </a:solidFill>
          <a:ln w="3175" algn="ctr">
            <a:solidFill>
              <a:srgbClr val="0000FF"/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r>
              <a:rPr lang="en-US" altLang="ko-KR" sz="800" dirty="0" smtClean="0">
                <a:latin typeface="+mn-ea"/>
              </a:rPr>
              <a:t>TABC20240311</a:t>
            </a:r>
            <a:endParaRPr lang="ko-KR" altLang="en-US" sz="800" dirty="0">
              <a:latin typeface="+mn-ea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69992"/>
              </p:ext>
            </p:extLst>
          </p:nvPr>
        </p:nvGraphicFramePr>
        <p:xfrm>
          <a:off x="492720" y="2965797"/>
          <a:ext cx="6734735" cy="3763380"/>
        </p:xfrm>
        <a:graphic>
          <a:graphicData uri="http://schemas.openxmlformats.org/drawingml/2006/table">
            <a:tbl>
              <a:tblPr/>
              <a:tblGrid>
                <a:gridCol w="139001"/>
                <a:gridCol w="932810"/>
                <a:gridCol w="432048"/>
                <a:gridCol w="1512168"/>
                <a:gridCol w="936104"/>
                <a:gridCol w="792088"/>
                <a:gridCol w="1080120"/>
                <a:gridCol w="910396"/>
              </a:tblGrid>
              <a:tr h="1633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No.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모델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Route ID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Cell</a:t>
                      </a:r>
                      <a:r>
                        <a:rPr lang="en-US" altLang="ko-KR" sz="700" b="1" i="0" u="none" strike="noStrike" baseline="0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 ID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마지막 공정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변경 </a:t>
                      </a:r>
                      <a:r>
                        <a:rPr lang="en-US" altLang="ko-KR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Route ID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변경 투입 공정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Dummy 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여부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3F1"/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dirty="0" smtClean="0"/>
                        <a:t>1</a:t>
                      </a:r>
                      <a:endParaRPr lang="en-US" altLang="ko-KR" sz="7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en-US" altLang="ko-KR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P101</a:t>
                      </a:r>
                      <a:endParaRPr lang="en-US" altLang="ko-KR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03VCEA194CA1XT94R0000001</a:t>
                      </a:r>
                      <a:endParaRPr lang="en-US" altLang="ko-KR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en-US" altLang="ko-KR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en-US" altLang="ko-KR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en-US" altLang="ko-KR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2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03VCEA194CA1XT94R0000002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en-US" altLang="ko-KR" sz="7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en-US" altLang="ko-KR" sz="7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03VCEA194CA1XT94R0000003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4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03VCEA194CA1XT94R0000004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5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03VCEA194CA1XT94R0000005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6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03VCEA194CA1XT94R0000006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7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03VCEA194CA1XT94R0000007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8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03VCEA194CA1XT94R0000008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9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D3VCEA194CA1XT94R0000101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10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03VCEA194CA1XT94R0000009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03VCEA194CA1XT94R0000010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12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D3VCEA194CA1XT94R0000105</a:t>
                      </a:r>
                      <a:endParaRPr lang="ko-KR" altLang="en-US" sz="700" b="1" i="0" u="none" strike="noStrike" kern="1200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FF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14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POUCH24011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</a:rPr>
                        <a:t>P101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03VCEA194CA1XT94R0000012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Form-OCV #3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R101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Charge 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Noto Sans CJK KR Regular" panose="020B0500000000000000" pitchFamily="34" charset="-127"/>
                          <a:ea typeface="Noto Sans CJK KR Regular" panose="020B0500000000000000" pitchFamily="34" charset="-127"/>
                          <a:cs typeface="+mn-cs"/>
                        </a:rPr>
                        <a:t>#1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 smtClean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7501"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96" name="그룹 95"/>
          <p:cNvGrpSpPr/>
          <p:nvPr/>
        </p:nvGrpSpPr>
        <p:grpSpPr>
          <a:xfrm>
            <a:off x="7215446" y="2931117"/>
            <a:ext cx="216024" cy="3792664"/>
            <a:chOff x="7261855" y="2949175"/>
            <a:chExt cx="154789" cy="1566546"/>
          </a:xfrm>
        </p:grpSpPr>
        <p:sp>
          <p:nvSpPr>
            <p:cNvPr id="97" name="직사각형 96"/>
            <p:cNvSpPr/>
            <p:nvPr/>
          </p:nvSpPr>
          <p:spPr bwMode="auto">
            <a:xfrm>
              <a:off x="7277148" y="3049118"/>
              <a:ext cx="124202" cy="1367555"/>
            </a:xfrm>
            <a:prstGeom prst="rect">
              <a:avLst/>
            </a:prstGeom>
            <a:solidFill>
              <a:schemeClr val="bg1"/>
            </a:solidFill>
            <a:ln w="3175" algn="ctr">
              <a:solidFill>
                <a:schemeClr val="tx1">
                  <a:lumMod val="50000"/>
                  <a:lumOff val="50000"/>
                </a:scheme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algn="ctr"/>
              <a:endParaRPr lang="ko-KR" altLang="en-US" sz="1000" b="1" dirty="0">
                <a:latin typeface="+mn-ea"/>
                <a:ea typeface="+mn-ea"/>
              </a:endParaRPr>
            </a:p>
          </p:txBody>
        </p:sp>
        <p:pic>
          <p:nvPicPr>
            <p:cNvPr id="98" name="그림 97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7261855" y="4350412"/>
              <a:ext cx="154789" cy="1653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9" name="그림 98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 flipV="1">
              <a:off x="7261855" y="2949175"/>
              <a:ext cx="154789" cy="165309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8" name="그룹 89"/>
          <p:cNvGrpSpPr/>
          <p:nvPr/>
        </p:nvGrpSpPr>
        <p:grpSpPr>
          <a:xfrm>
            <a:off x="6731587" y="1971788"/>
            <a:ext cx="630553" cy="320360"/>
            <a:chOff x="7195069" y="5833168"/>
            <a:chExt cx="864304" cy="320360"/>
          </a:xfrm>
        </p:grpSpPr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241338" y="5833168"/>
              <a:ext cx="818035" cy="320360"/>
            </a:xfrm>
            <a:prstGeom prst="rect">
              <a:avLst/>
            </a:prstGeom>
          </p:spPr>
        </p:pic>
        <p:sp>
          <p:nvSpPr>
            <p:cNvPr id="41" name="직사각형 40"/>
            <p:cNvSpPr/>
            <p:nvPr/>
          </p:nvSpPr>
          <p:spPr>
            <a:xfrm>
              <a:off x="7195069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n-ea"/>
                </a:rPr>
                <a:t>종료</a:t>
              </a:r>
              <a:endParaRPr lang="ko-KR" alt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>
            <a:off x="2068587" y="2404600"/>
            <a:ext cx="10895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lang="en-US" altLang="ko-KR" sz="800" b="1" dirty="0" smtClean="0">
                <a:latin typeface="+mn-ea"/>
              </a:rPr>
              <a:t>Cell 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2670599" y="2433623"/>
            <a:ext cx="1630236" cy="197667"/>
          </a:xfrm>
          <a:prstGeom prst="rect">
            <a:avLst/>
          </a:prstGeom>
          <a:solidFill>
            <a:srgbClr val="FFFF00"/>
          </a:solidFill>
          <a:ln w="3175" algn="ctr">
            <a:solidFill>
              <a:schemeClr val="tx1">
                <a:lumMod val="85000"/>
                <a:lumOff val="15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r>
              <a:rPr lang="en-US" altLang="ko-KR" sz="800" b="1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03VCEA194CA1XT94R0000012</a:t>
            </a:r>
            <a:endParaRPr lang="ko-KR" altLang="en-US" sz="800" b="1" baseline="5000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2887030" y="2036403"/>
            <a:ext cx="837741" cy="219141"/>
            <a:chOff x="870806" y="2036403"/>
            <a:chExt cx="837741" cy="219141"/>
          </a:xfrm>
        </p:grpSpPr>
        <p:sp>
          <p:nvSpPr>
            <p:cNvPr id="70" name="직사각형 69"/>
            <p:cNvSpPr/>
            <p:nvPr/>
          </p:nvSpPr>
          <p:spPr bwMode="auto">
            <a:xfrm>
              <a:off x="870806" y="2047140"/>
              <a:ext cx="693725" cy="197667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r>
                <a:rPr lang="en-US" altLang="ko-KR" sz="800" dirty="0" smtClean="0">
                  <a:latin typeface="+mn-ea"/>
                </a:rPr>
                <a:t>R101</a:t>
              </a:r>
              <a:endParaRPr lang="ko-KR" altLang="en-US" sz="800" dirty="0">
                <a:latin typeface="+mn-ea"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0916" y="2036403"/>
              <a:ext cx="187631" cy="219141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chemeClr val="tx1">
                  <a:lumMod val="85000"/>
                  <a:lumOff val="15000"/>
                </a:schemeClr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72" name="타원 71"/>
          <p:cNvSpPr/>
          <p:nvPr/>
        </p:nvSpPr>
        <p:spPr>
          <a:xfrm>
            <a:off x="6486843" y="1746762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7105536" y="1746762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4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MON-08</a:t>
            </a:r>
            <a:endParaRPr lang="ko-KR" altLang="en-US" dirty="0"/>
          </a:p>
        </p:txBody>
      </p:sp>
      <p:grpSp>
        <p:nvGrpSpPr>
          <p:cNvPr id="45" name="그룹 44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46" name="위쪽 화살표 45">
              <a:hlinkClick r:id="rId5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485077" y="2015687"/>
            <a:ext cx="938802" cy="219141"/>
            <a:chOff x="1633766" y="2256925"/>
            <a:chExt cx="941239" cy="219141"/>
          </a:xfrm>
        </p:grpSpPr>
        <p:sp>
          <p:nvSpPr>
            <p:cNvPr id="49" name="직사각형 48"/>
            <p:cNvSpPr/>
            <p:nvPr/>
          </p:nvSpPr>
          <p:spPr bwMode="auto">
            <a:xfrm>
              <a:off x="1633766" y="2274486"/>
              <a:ext cx="780561" cy="181625"/>
            </a:xfrm>
            <a:prstGeom prst="rect">
              <a:avLst/>
            </a:prstGeom>
            <a:solidFill>
              <a:srgbClr val="FFFF00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</a:rPr>
                <a:t>Charge #1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51" name="직사각형 50"/>
          <p:cNvSpPr/>
          <p:nvPr/>
        </p:nvSpPr>
        <p:spPr>
          <a:xfrm>
            <a:off x="3796779" y="2018804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투입공정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5236939" y="175522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223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/>
          <p:cNvSpPr/>
          <p:nvPr/>
        </p:nvSpPr>
        <p:spPr bwMode="auto">
          <a:xfrm>
            <a:off x="340395" y="1881345"/>
            <a:ext cx="709227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Jig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정보 조회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Jig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작업 정보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7, To: Today(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기본 일주일 설정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 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생산중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생산완료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ID : Tray ID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란에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(Key Down)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생산중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생산완료 옵션을 제외한 모든 조회조건이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Unvisible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함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공정검색 옵션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공정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완료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엑셀저장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결과 엑셀 파일로 저장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 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Jig </a:t>
            </a:r>
            <a:r>
              <a:rPr lang="ko-KR" altLang="en-US" dirty="0" smtClean="0"/>
              <a:t>정보 조회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Jig </a:t>
            </a:r>
            <a:r>
              <a:rPr lang="ko-KR" altLang="en-US" dirty="0" smtClean="0"/>
              <a:t>정보 조회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 bwMode="auto">
          <a:xfrm>
            <a:off x="340395" y="2114393"/>
            <a:ext cx="7092279" cy="968025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92293" y="2135527"/>
            <a:ext cx="72973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조회 기간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736911" y="2135527"/>
            <a:ext cx="544795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모델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3307614" y="2165675"/>
            <a:ext cx="585751" cy="219141"/>
            <a:chOff x="1521240" y="2256925"/>
            <a:chExt cx="1053765" cy="219141"/>
          </a:xfrm>
        </p:grpSpPr>
        <p:sp>
          <p:nvSpPr>
            <p:cNvPr id="29" name="직사각형 28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aphicFrame>
        <p:nvGraphicFramePr>
          <p:cNvPr id="31" name="표 30"/>
          <p:cNvGraphicFramePr>
            <a:graphicFrameLocks noGrp="1"/>
          </p:cNvGraphicFramePr>
          <p:nvPr/>
        </p:nvGraphicFramePr>
        <p:xfrm>
          <a:off x="340395" y="3194665"/>
          <a:ext cx="7140379" cy="3148458"/>
        </p:xfrm>
        <a:graphic>
          <a:graphicData uri="http://schemas.openxmlformats.org/drawingml/2006/table">
            <a:tbl>
              <a:tblPr/>
              <a:tblGrid>
                <a:gridCol w="720080"/>
                <a:gridCol w="432048"/>
                <a:gridCol w="504056"/>
                <a:gridCol w="648072"/>
                <a:gridCol w="35814"/>
                <a:gridCol w="612258"/>
                <a:gridCol w="432048"/>
                <a:gridCol w="485998"/>
                <a:gridCol w="472770"/>
                <a:gridCol w="569253"/>
                <a:gridCol w="521012"/>
                <a:gridCol w="744303"/>
                <a:gridCol w="446582"/>
                <a:gridCol w="516085"/>
              </a:tblGrid>
              <a:tr h="25471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Jig ID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생산 모델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Route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설비 투입 일자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설비 투입 시간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투입 수량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현재 수량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불량 수량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현재 공정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다음 공정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설비명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시작 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종료 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2024.03.17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15:16:00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Discharge#1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OCV#2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1Line-01Bay-01Jig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dirty="0" smtClean="0"/>
                        <a:t>JFOJIG00010102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JFOJIG00010103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JFOJIG00010104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JFOJIG00010105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JFOJIG00010106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JFOJIG00010107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JFOJIG00010108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  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JFOJIG00010201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  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JFOJIG00010202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  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JFOJIG00010203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  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1" dirty="0" smtClean="0"/>
                        <a:t>JFOJIG00010204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  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008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" name="타원 33"/>
          <p:cNvSpPr/>
          <p:nvPr/>
        </p:nvSpPr>
        <p:spPr>
          <a:xfrm>
            <a:off x="6058452" y="24524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989441" y="190571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3514727" y="2118578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grpSp>
        <p:nvGrpSpPr>
          <p:cNvPr id="40" name="그룹 39"/>
          <p:cNvGrpSpPr/>
          <p:nvPr/>
        </p:nvGrpSpPr>
        <p:grpSpPr>
          <a:xfrm>
            <a:off x="1022031" y="2164550"/>
            <a:ext cx="778776" cy="190844"/>
            <a:chOff x="2600786" y="2524392"/>
            <a:chExt cx="1032098" cy="197667"/>
          </a:xfrm>
        </p:grpSpPr>
        <p:sp>
          <p:nvSpPr>
            <p:cNvPr id="41" name="직사각형 40"/>
            <p:cNvSpPr/>
            <p:nvPr/>
          </p:nvSpPr>
          <p:spPr bwMode="auto">
            <a:xfrm>
              <a:off x="2600786" y="2524392"/>
              <a:ext cx="1032098" cy="197667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- 1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2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44" name="직사각형 43"/>
          <p:cNvSpPr/>
          <p:nvPr/>
        </p:nvSpPr>
        <p:spPr>
          <a:xfrm>
            <a:off x="1769652" y="2115269"/>
            <a:ext cx="221301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~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50638" y="248216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endParaRPr lang="en-US" altLang="ko-KR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2016831" y="2169327"/>
            <a:ext cx="778776" cy="190844"/>
            <a:chOff x="2600786" y="2524392"/>
            <a:chExt cx="1032098" cy="197667"/>
          </a:xfrm>
        </p:grpSpPr>
        <p:sp>
          <p:nvSpPr>
            <p:cNvPr id="48" name="직사각형 47"/>
            <p:cNvSpPr/>
            <p:nvPr/>
          </p:nvSpPr>
          <p:spPr bwMode="auto">
            <a:xfrm>
              <a:off x="2600786" y="2524392"/>
              <a:ext cx="1032098" cy="197667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+ 1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9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50" name="직사각형 49"/>
          <p:cNvSpPr/>
          <p:nvPr/>
        </p:nvSpPr>
        <p:spPr>
          <a:xfrm>
            <a:off x="3858578" y="2130337"/>
            <a:ext cx="709644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ko-KR" sz="800" b="1" kern="0" dirty="0" smtClean="0">
                <a:solidFill>
                  <a:prstClr val="black"/>
                </a:solidFill>
              </a:rPr>
              <a:t>Route ID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4568222" y="2160485"/>
            <a:ext cx="544953" cy="219141"/>
            <a:chOff x="1521240" y="2256925"/>
            <a:chExt cx="1053765" cy="219141"/>
          </a:xfrm>
        </p:grpSpPr>
        <p:sp>
          <p:nvSpPr>
            <p:cNvPr id="52" name="직사각형 51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4" name="직사각형 53"/>
          <p:cNvSpPr/>
          <p:nvPr/>
        </p:nvSpPr>
        <p:spPr>
          <a:xfrm>
            <a:off x="5086681" y="2156243"/>
            <a:ext cx="60255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ko-KR" altLang="en-US" sz="800" b="1" kern="0" dirty="0" err="1" smtClean="0">
                <a:solidFill>
                  <a:prstClr val="black"/>
                </a:solidFill>
              </a:rPr>
              <a:t>공정</a:t>
            </a:r>
            <a:r>
              <a:rPr lang="ko-KR" altLang="en-US" sz="800" b="1" kern="0" dirty="0" err="1">
                <a:solidFill>
                  <a:prstClr val="black"/>
                </a:solidFill>
              </a:rPr>
              <a:t>명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5720350" y="2158282"/>
            <a:ext cx="544953" cy="219141"/>
            <a:chOff x="1521240" y="2256925"/>
            <a:chExt cx="1053765" cy="219141"/>
          </a:xfrm>
        </p:grpSpPr>
        <p:sp>
          <p:nvSpPr>
            <p:cNvPr id="56" name="직사각형 55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8" name="직사각형 57"/>
          <p:cNvSpPr/>
          <p:nvPr/>
        </p:nvSpPr>
        <p:spPr>
          <a:xfrm>
            <a:off x="6290565" y="2156215"/>
            <a:ext cx="60255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설비명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6872478" y="2158254"/>
            <a:ext cx="544953" cy="219141"/>
            <a:chOff x="1521240" y="2256925"/>
            <a:chExt cx="1053765" cy="219141"/>
          </a:xfrm>
        </p:grpSpPr>
        <p:sp>
          <p:nvSpPr>
            <p:cNvPr id="60" name="직사각형 59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66" name="직사각형 65"/>
          <p:cNvSpPr/>
          <p:nvPr/>
        </p:nvSpPr>
        <p:spPr>
          <a:xfrm>
            <a:off x="2932683" y="2723653"/>
            <a:ext cx="653921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ko-KR" altLang="en-US" sz="800" b="1" kern="0" dirty="0">
                <a:solidFill>
                  <a:prstClr val="black"/>
                </a:solidFill>
              </a:rPr>
              <a:t> </a:t>
            </a:r>
            <a:r>
              <a:rPr lang="en-US" altLang="ko-KR" sz="800" b="1" kern="0" dirty="0" smtClean="0">
                <a:solidFill>
                  <a:prstClr val="black"/>
                </a:solidFill>
              </a:rPr>
              <a:t>Jig ID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3580755" y="2743253"/>
            <a:ext cx="461859" cy="181625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ysClr val="windowText" lastClr="000000">
                <a:lumMod val="50000"/>
                <a:lumOff val="50000"/>
              </a:sys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518085" y="2691333"/>
            <a:ext cx="530915" cy="2732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 err="1" smtClean="0">
                <a:solidFill>
                  <a:srgbClr val="000000"/>
                </a:solidFill>
                <a:latin typeface="+mn-ea"/>
              </a:rPr>
              <a:t>생산</a:t>
            </a:r>
            <a:r>
              <a:rPr kumimoji="1" lang="ko-KR" altLang="en-US" sz="900" b="1" dirty="0" err="1">
                <a:solidFill>
                  <a:srgbClr val="000000"/>
                </a:solidFill>
                <a:latin typeface="+mn-ea"/>
              </a:rPr>
              <a:t>중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988467" y="2691333"/>
            <a:ext cx="812074" cy="273280"/>
            <a:chOff x="828295" y="3952973"/>
            <a:chExt cx="812074" cy="273280"/>
          </a:xfrm>
        </p:grpSpPr>
        <p:sp>
          <p:nvSpPr>
            <p:cNvPr id="74" name="직사각형 73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생산 완료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75" name="그림 74"/>
            <p:cNvPicPr>
              <a:picLocks noChangeAspect="1"/>
            </p:cNvPicPr>
            <p:nvPr/>
          </p:nvPicPr>
          <p:blipFill rotWithShape="1">
            <a:blip r:embed="rId5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sp>
        <p:nvSpPr>
          <p:cNvPr id="77" name="직사각형 76"/>
          <p:cNvSpPr/>
          <p:nvPr/>
        </p:nvSpPr>
        <p:spPr>
          <a:xfrm>
            <a:off x="4282487" y="2691333"/>
            <a:ext cx="686406" cy="2732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 smtClean="0">
                <a:solidFill>
                  <a:srgbClr val="000000"/>
                </a:solidFill>
                <a:latin typeface="+mn-ea"/>
              </a:rPr>
              <a:t>현재 공정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948907" y="2691333"/>
            <a:ext cx="812074" cy="273280"/>
            <a:chOff x="828295" y="3952973"/>
            <a:chExt cx="812074" cy="273280"/>
          </a:xfrm>
        </p:grpSpPr>
        <p:sp>
          <p:nvSpPr>
            <p:cNvPr id="80" name="직사각형 79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공정 완료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81" name="그림 80"/>
            <p:cNvPicPr>
              <a:picLocks noChangeAspect="1"/>
            </p:cNvPicPr>
            <p:nvPr/>
          </p:nvPicPr>
          <p:blipFill rotWithShape="1">
            <a:blip r:embed="rId5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13" name="그룹 12"/>
          <p:cNvGrpSpPr/>
          <p:nvPr/>
        </p:nvGrpSpPr>
        <p:grpSpPr>
          <a:xfrm>
            <a:off x="6893123" y="2644253"/>
            <a:ext cx="521265" cy="320360"/>
            <a:chOff x="7184999" y="5833168"/>
            <a:chExt cx="818035" cy="32036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5769300" y="2658898"/>
            <a:ext cx="521265" cy="320360"/>
            <a:chOff x="7184999" y="5833168"/>
            <a:chExt cx="818035" cy="320360"/>
          </a:xfrm>
        </p:grpSpPr>
        <p:pic>
          <p:nvPicPr>
            <p:cNvPr id="83" name="그림 82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84" name="직사각형 83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검색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6331211" y="2667793"/>
            <a:ext cx="521265" cy="320360"/>
            <a:chOff x="7184999" y="5833168"/>
            <a:chExt cx="818035" cy="320360"/>
          </a:xfrm>
        </p:grpSpPr>
        <p:pic>
          <p:nvPicPr>
            <p:cNvPr id="86" name="그림 85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87" name="직사각형 86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엑셀저</a:t>
              </a:r>
              <a:r>
                <a:rPr lang="ko-KR" altLang="en-US" sz="1000" b="1" kern="0" dirty="0">
                  <a:solidFill>
                    <a:prstClr val="white"/>
                  </a:solidFill>
                </a:rPr>
                <a:t>장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89" name="그림 88"/>
          <p:cNvPicPr>
            <a:picLocks noChangeAspect="1"/>
          </p:cNvPicPr>
          <p:nvPr/>
        </p:nvPicPr>
        <p:blipFill rotWithShape="1">
          <a:blip r:embed="rId5" cstate="print"/>
          <a:srcRect l="21758" t="7839" r="7058" b="50568"/>
          <a:stretch>
            <a:fillRect/>
          </a:stretch>
        </p:blipFill>
        <p:spPr>
          <a:xfrm>
            <a:off x="433985" y="2768762"/>
            <a:ext cx="168200" cy="186594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5" cstate="print"/>
          <a:srcRect l="21758" t="7839" r="7058" b="50568"/>
          <a:stretch>
            <a:fillRect/>
          </a:stretch>
        </p:blipFill>
        <p:spPr>
          <a:xfrm>
            <a:off x="4199483" y="2764414"/>
            <a:ext cx="168200" cy="186594"/>
          </a:xfrm>
          <a:prstGeom prst="rect">
            <a:avLst/>
          </a:prstGeom>
        </p:spPr>
      </p:pic>
      <p:sp>
        <p:nvSpPr>
          <p:cNvPr id="32" name="타원 31"/>
          <p:cNvSpPr/>
          <p:nvPr/>
        </p:nvSpPr>
        <p:spPr>
          <a:xfrm>
            <a:off x="4752118" y="2135180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5894758" y="215065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7043937" y="212087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3743716" y="266779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</a:t>
            </a:r>
            <a:endParaRPr lang="en-US" altLang="ko-KR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4156819" y="2594408"/>
            <a:ext cx="1556099" cy="39374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/>
          <p:cNvSpPr/>
          <p:nvPr/>
        </p:nvSpPr>
        <p:spPr>
          <a:xfrm>
            <a:off x="5110151" y="2506530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endParaRPr lang="en-US" altLang="ko-KR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300835" y="2475309"/>
            <a:ext cx="833970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R="0" lvl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공정검색 옵션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6615988" y="24524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7114702" y="24524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2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RPT-01</a:t>
            </a:r>
            <a:endParaRPr lang="ko-KR" altLang="en-US" dirty="0"/>
          </a:p>
        </p:txBody>
      </p:sp>
      <p:grpSp>
        <p:nvGrpSpPr>
          <p:cNvPr id="76" name="그룹 75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78" name="위쪽 화살표 77">
              <a:hlinkClick r:id="rId7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직사각형 128"/>
          <p:cNvSpPr/>
          <p:nvPr/>
        </p:nvSpPr>
        <p:spPr bwMode="auto">
          <a:xfrm>
            <a:off x="340396" y="2943561"/>
            <a:ext cx="2592288" cy="2556084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340395" y="1881345"/>
            <a:ext cx="709227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Jig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정보 상세 조회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Jig </a:t>
            </a:r>
            <a:r>
              <a:rPr lang="en-US" altLang="ko-KR" dirty="0">
                <a:solidFill>
                  <a:srgbClr val="000000">
                    <a:lumMod val="75000"/>
                    <a:lumOff val="25000"/>
                  </a:srgbClr>
                </a:solidFill>
              </a:rPr>
              <a:t>Step/Cell </a:t>
            </a:r>
            <a:r>
              <a:rPr lang="ko-KR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측정 정보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조회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(Jig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정보 조회에서 선택한 행에서 더블 </a:t>
            </a:r>
            <a:r>
              <a:rPr lang="ko-KR" altLang="en-US" dirty="0" err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클릭시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조회되는 화면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상세 조회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Process Step Info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결과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그리드에서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행 선택 더블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클릭시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해당하는 공정의 측정 정보가 아래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Info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표시됨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공정변경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버튼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클릭시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현재 공정 확인 메시지 출력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OO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공정입니다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확인해주세요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”)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후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Manual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표시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 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생산완료된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에 대해서는 버튼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Disable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처리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Delete Jig: Jig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r>
              <a:rPr lang="en-US" altLang="ko-KR" sz="900" b="1" kern="0" dirty="0" smtClean="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900" b="1" kern="0" dirty="0" smtClean="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필요한가</a:t>
            </a:r>
            <a:r>
              <a:rPr lang="en-US" altLang="ko-KR" sz="900" b="1" kern="0" dirty="0" smtClean="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??)</a:t>
            </a:r>
            <a:endParaRPr lang="en-US" altLang="ko-KR" sz="900" b="1" kern="0" dirty="0">
              <a:solidFill>
                <a:srgbClr val="FF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수동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배출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수동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배출 화면 표시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List: Cell List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표시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상태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상태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 화면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r>
              <a:rPr lang="en-US" altLang="ko-KR" sz="900" b="1" kern="0" dirty="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(</a:t>
            </a:r>
            <a:r>
              <a:rPr lang="ko-KR" altLang="en-US" sz="900" b="1" kern="0" dirty="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필요한가</a:t>
            </a:r>
            <a:r>
              <a:rPr lang="en-US" altLang="ko-KR" sz="900" b="1" kern="0" dirty="0">
                <a:solidFill>
                  <a:srgbClr val="FF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??)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viCellProcData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Jig </a:t>
            </a:r>
            <a:r>
              <a:rPr lang="ko-KR" altLang="en-US" dirty="0" smtClean="0"/>
              <a:t>정보 상세 조회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2024.03.22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Jig </a:t>
            </a:r>
            <a:r>
              <a:rPr lang="ko-KR" altLang="en-US" dirty="0" smtClean="0"/>
              <a:t>정보 상세 조회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0" y="1102584"/>
            <a:ext cx="1479913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 bwMode="auto">
          <a:xfrm>
            <a:off x="340395" y="2114394"/>
            <a:ext cx="7092279" cy="484012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/>
        </p:nvGraphicFramePr>
        <p:xfrm>
          <a:off x="3054035" y="2978641"/>
          <a:ext cx="4343144" cy="2521009"/>
        </p:xfrm>
        <a:graphic>
          <a:graphicData uri="http://schemas.openxmlformats.org/drawingml/2006/table">
            <a:tbl>
              <a:tblPr/>
              <a:tblGrid>
                <a:gridCol w="166680"/>
                <a:gridCol w="360040"/>
                <a:gridCol w="648072"/>
                <a:gridCol w="720080"/>
                <a:gridCol w="864096"/>
                <a:gridCol w="576064"/>
                <a:gridCol w="288032"/>
                <a:gridCol w="360040"/>
                <a:gridCol w="360040"/>
              </a:tblGrid>
              <a:tr h="281617"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Proc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공정명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시작시간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종료시간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설비명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투입 </a:t>
                      </a: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Cell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현재 </a:t>
                      </a: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Cell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재작업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IR/OCV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20:59: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1Line-01Ba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Charge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20:59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1Line-01B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Discharge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204-03-17 21:0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21:02: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1Line-01B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" name="타원 33"/>
          <p:cNvSpPr/>
          <p:nvPr/>
        </p:nvSpPr>
        <p:spPr>
          <a:xfrm>
            <a:off x="7033528" y="199166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468176" y="2219421"/>
            <a:ext cx="521265" cy="305715"/>
            <a:chOff x="7184999" y="5833168"/>
            <a:chExt cx="818035" cy="320360"/>
          </a:xfrm>
        </p:grpSpPr>
        <p:pic>
          <p:nvPicPr>
            <p:cNvPr id="83" name="그림 82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84" name="직사각형 83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공정 변경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0" name="직사각형 69"/>
          <p:cNvSpPr/>
          <p:nvPr/>
        </p:nvSpPr>
        <p:spPr>
          <a:xfrm>
            <a:off x="1071107" y="2258528"/>
            <a:ext cx="508435" cy="227492"/>
          </a:xfrm>
          <a:prstGeom prst="rect">
            <a:avLst/>
          </a:prstGeom>
          <a:noFill/>
        </p:spPr>
        <p:txBody>
          <a:bodyPr wrap="square" lIns="0" tIns="0" rIns="0" bIns="0" anchor="ctr" anchorCtr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000" b="1" kern="0" dirty="0" smtClean="0">
                <a:solidFill>
                  <a:prstClr val="white"/>
                </a:solidFill>
              </a:rPr>
              <a:t>Delete Jig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72" name="그룹 71"/>
          <p:cNvGrpSpPr/>
          <p:nvPr/>
        </p:nvGrpSpPr>
        <p:grpSpPr>
          <a:xfrm>
            <a:off x="1060475" y="2219421"/>
            <a:ext cx="521265" cy="305715"/>
            <a:chOff x="7184999" y="5833168"/>
            <a:chExt cx="818035" cy="320360"/>
          </a:xfrm>
        </p:grpSpPr>
        <p:pic>
          <p:nvPicPr>
            <p:cNvPr id="76" name="그림 75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78" name="직사각형 77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불량</a:t>
              </a:r>
              <a:r>
                <a:rPr lang="en-US" altLang="ko-KR" sz="1000" b="1" kern="0" dirty="0" smtClean="0">
                  <a:solidFill>
                    <a:prstClr val="white"/>
                  </a:solidFill>
                </a:rPr>
                <a:t>Cell</a:t>
              </a: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지정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1656994" y="2219421"/>
            <a:ext cx="521265" cy="305715"/>
            <a:chOff x="7184999" y="5833168"/>
            <a:chExt cx="818035" cy="320360"/>
          </a:xfrm>
        </p:grpSpPr>
        <p:pic>
          <p:nvPicPr>
            <p:cNvPr id="94" name="그림 93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95" name="직사각형 94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ko-KR" sz="1000" b="1" kern="0" dirty="0" smtClean="0">
                  <a:solidFill>
                    <a:prstClr val="white"/>
                  </a:solidFill>
                </a:rPr>
                <a:t>Cell List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2253513" y="2219421"/>
            <a:ext cx="521265" cy="305715"/>
            <a:chOff x="7184999" y="5833168"/>
            <a:chExt cx="818035" cy="320360"/>
          </a:xfrm>
        </p:grpSpPr>
        <p:pic>
          <p:nvPicPr>
            <p:cNvPr id="97" name="그림 96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98" name="직사각형 97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Jig </a:t>
              </a: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상태변경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6114393" y="2219421"/>
            <a:ext cx="521265" cy="305715"/>
            <a:chOff x="7184999" y="5833168"/>
            <a:chExt cx="818035" cy="320360"/>
          </a:xfrm>
        </p:grpSpPr>
        <p:pic>
          <p:nvPicPr>
            <p:cNvPr id="103" name="그림 102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04" name="직사각형 103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검색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6749107" y="2219421"/>
            <a:ext cx="521265" cy="305715"/>
            <a:chOff x="7184999" y="5833168"/>
            <a:chExt cx="818035" cy="320360"/>
          </a:xfrm>
        </p:grpSpPr>
        <p:pic>
          <p:nvPicPr>
            <p:cNvPr id="106" name="그림 105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07" name="직사각형 106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8" name="직사각형 107"/>
          <p:cNvSpPr/>
          <p:nvPr/>
        </p:nvSpPr>
        <p:spPr bwMode="auto">
          <a:xfrm>
            <a:off x="3071005" y="2709426"/>
            <a:ext cx="4326174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</a:t>
            </a:r>
            <a:r>
              <a:rPr lang="en-US" altLang="ko-KR" sz="1200" b="1" dirty="0" smtClean="0">
                <a:solidFill>
                  <a:prstClr val="white"/>
                </a:solidFill>
                <a:latin typeface="+mn-ea"/>
              </a:rPr>
              <a:t>Process Step Info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0" name="직사각형 109"/>
          <p:cNvSpPr/>
          <p:nvPr/>
        </p:nvSpPr>
        <p:spPr bwMode="auto">
          <a:xfrm>
            <a:off x="340395" y="2709425"/>
            <a:ext cx="2592288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</a:t>
            </a:r>
            <a:r>
              <a:rPr lang="en-US" altLang="ko-KR" sz="1200" b="1" dirty="0" smtClean="0">
                <a:solidFill>
                  <a:prstClr val="white"/>
                </a:solidFill>
                <a:latin typeface="+mn-ea"/>
              </a:rPr>
              <a:t>Jig Info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1" name="직사각형 110"/>
          <p:cNvSpPr/>
          <p:nvPr/>
        </p:nvSpPr>
        <p:spPr bwMode="auto">
          <a:xfrm>
            <a:off x="1310620" y="3056317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ko-KR" sz="800" b="1" dirty="0" smtClean="0"/>
              <a:t>JFOJIG000101011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2" name="직사각형 111"/>
          <p:cNvSpPr/>
          <p:nvPr/>
        </p:nvSpPr>
        <p:spPr bwMode="auto">
          <a:xfrm>
            <a:off x="1310620" y="3320057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POUCH24011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412403" y="3033987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Jig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12403" y="3299717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모델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5" name="직사각형 114"/>
          <p:cNvSpPr/>
          <p:nvPr/>
        </p:nvSpPr>
        <p:spPr bwMode="auto">
          <a:xfrm>
            <a:off x="1310620" y="3583797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P001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6" name="직사각형 115"/>
          <p:cNvSpPr/>
          <p:nvPr/>
        </p:nvSpPr>
        <p:spPr bwMode="auto">
          <a:xfrm>
            <a:off x="1310620" y="4157871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2024.03.17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12403" y="3555429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Route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412403" y="413149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 일자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 bwMode="auto">
          <a:xfrm>
            <a:off x="1310620" y="4421611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15:16:02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 bwMode="auto">
          <a:xfrm>
            <a:off x="1310620" y="4685351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Discharge #1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12403" y="4424441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 시간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12403" y="4690171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현재 공정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3" name="직사각형 122"/>
          <p:cNvSpPr/>
          <p:nvPr/>
        </p:nvSpPr>
        <p:spPr bwMode="auto">
          <a:xfrm>
            <a:off x="1310620" y="4949091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OCV #2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4" name="직사각형 123"/>
          <p:cNvSpPr/>
          <p:nvPr/>
        </p:nvSpPr>
        <p:spPr bwMode="auto">
          <a:xfrm>
            <a:off x="1310620" y="5212831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20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412403" y="494588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다음 공정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12403" y="521161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Input Cell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7" name="직사각형 126"/>
          <p:cNvSpPr/>
          <p:nvPr/>
        </p:nvSpPr>
        <p:spPr bwMode="auto">
          <a:xfrm>
            <a:off x="1310620" y="5476570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20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412403" y="5449939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err="1" smtClean="0">
                <a:solidFill>
                  <a:srgbClr val="000000"/>
                </a:solidFill>
                <a:latin typeface="+mn-ea"/>
              </a:rPr>
              <a:t>Curr</a:t>
            </a: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Cell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30" name="표 129"/>
          <p:cNvGraphicFramePr>
            <a:graphicFrameLocks noGrp="1"/>
          </p:cNvGraphicFramePr>
          <p:nvPr/>
        </p:nvGraphicFramePr>
        <p:xfrm>
          <a:off x="340395" y="6075709"/>
          <a:ext cx="7056784" cy="576062"/>
        </p:xfrm>
        <a:graphic>
          <a:graphicData uri="http://schemas.openxmlformats.org/drawingml/2006/table">
            <a:tbl>
              <a:tblPr/>
              <a:tblGrid>
                <a:gridCol w="294966"/>
                <a:gridCol w="294966"/>
                <a:gridCol w="361768"/>
                <a:gridCol w="361768"/>
                <a:gridCol w="361768"/>
                <a:gridCol w="361768"/>
                <a:gridCol w="326484"/>
                <a:gridCol w="326484"/>
                <a:gridCol w="326484"/>
                <a:gridCol w="326484"/>
                <a:gridCol w="384976"/>
                <a:gridCol w="384976"/>
                <a:gridCol w="352434"/>
                <a:gridCol w="352434"/>
                <a:gridCol w="359027"/>
                <a:gridCol w="380840"/>
                <a:gridCol w="380840"/>
                <a:gridCol w="385347"/>
                <a:gridCol w="385347"/>
                <a:gridCol w="347623"/>
              </a:tblGrid>
              <a:tr h="2459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3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4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5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6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7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8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9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10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11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12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13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14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15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16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17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18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19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20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3301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350.9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360.3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357.0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357.2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370.4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366.2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377.1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351.0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353.2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360.2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350.9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360.3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357.0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357.2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370.3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366.2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377.1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351.0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353.2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361.2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1" name="직사각형 130"/>
          <p:cNvSpPr/>
          <p:nvPr/>
        </p:nvSpPr>
        <p:spPr bwMode="auto">
          <a:xfrm>
            <a:off x="340395" y="5715669"/>
            <a:ext cx="2592288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</a:t>
            </a:r>
            <a:r>
              <a:rPr lang="en-US" altLang="ko-KR" sz="1200" b="1" dirty="0" smtClean="0">
                <a:solidFill>
                  <a:prstClr val="white"/>
                </a:solidFill>
                <a:latin typeface="+mn-ea"/>
              </a:rPr>
              <a:t>Cell Info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3071005" y="5693006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Process Name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34" name="그룹 133"/>
          <p:cNvGrpSpPr/>
          <p:nvPr/>
        </p:nvGrpSpPr>
        <p:grpSpPr>
          <a:xfrm>
            <a:off x="3893365" y="5711291"/>
            <a:ext cx="839518" cy="219141"/>
            <a:chOff x="1521240" y="2256925"/>
            <a:chExt cx="1053765" cy="219141"/>
          </a:xfrm>
        </p:grpSpPr>
        <p:sp>
          <p:nvSpPr>
            <p:cNvPr id="135" name="직사각형 134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900" b="0" i="0" u="none" strike="noStrike" kern="0" cap="none" spc="0" normalizeH="0" baseline="0" noProof="0" dirty="0" err="1" smtClean="0">
                  <a:ln>
                    <a:noFill/>
                  </a:ln>
                  <a:effectLst/>
                  <a:uLnTx/>
                  <a:uFillTx/>
                </a:rPr>
                <a:t>Ocv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pic>
          <p:nvPicPr>
            <p:cNvPr id="136" name="그림 135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37" name="타원 136"/>
          <p:cNvSpPr/>
          <p:nvPr/>
        </p:nvSpPr>
        <p:spPr>
          <a:xfrm>
            <a:off x="727073" y="199166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8" name="타원 137"/>
          <p:cNvSpPr/>
          <p:nvPr/>
        </p:nvSpPr>
        <p:spPr>
          <a:xfrm>
            <a:off x="1284609" y="199166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1783323" y="199166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2516630" y="199166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6457464" y="199166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1310620" y="3871829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1Line-01Bay-01Jig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12403" y="3843461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작업 </a:t>
            </a:r>
            <a:r>
              <a:rPr kumimoji="1" lang="ko-KR" altLang="en-US" sz="800" b="1" dirty="0" err="1" smtClean="0">
                <a:solidFill>
                  <a:srgbClr val="000000"/>
                </a:solidFill>
                <a:latin typeface="+mn-ea"/>
              </a:rPr>
              <a:t>설비명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RPT-02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60875" y="5715669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(mV)</a:t>
            </a:r>
            <a:endParaRPr lang="ko-KR" altLang="en-US" sz="1000" dirty="0"/>
          </a:p>
        </p:txBody>
      </p:sp>
      <p:grpSp>
        <p:nvGrpSpPr>
          <p:cNvPr id="69" name="그룹 68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74" name="위쪽 화살표 73">
              <a:hlinkClick r:id="rId5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 bwMode="auto">
          <a:xfrm>
            <a:off x="1479278" y="2403301"/>
            <a:ext cx="4333725" cy="2880320"/>
          </a:xfrm>
          <a:prstGeom prst="rect">
            <a:avLst/>
          </a:prstGeom>
          <a:solidFill>
            <a:srgbClr val="FFFFF8"/>
          </a:solidFill>
          <a:ln w="12700" algn="ctr">
            <a:solidFill>
              <a:srgbClr val="000000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Jig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공정 조회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&amp;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변경 적용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ID: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Input Date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 시간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수량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수량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수량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수량 표시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변경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변경을 위해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 화면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실행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Jig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 화면에서 공정이 변경되기 전까지는 버튼이 활성화 되지 않는다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선택된 공정으로 데이터를 저장한다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 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spGetNextProc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Jig Manual Info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Jig Manual Info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46840" y="1102584"/>
            <a:ext cx="1418291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grpSp>
        <p:nvGrpSpPr>
          <p:cNvPr id="13" name="그룹 94"/>
          <p:cNvGrpSpPr/>
          <p:nvPr/>
        </p:nvGrpSpPr>
        <p:grpSpPr>
          <a:xfrm>
            <a:off x="4778944" y="4891253"/>
            <a:ext cx="818035" cy="320360"/>
            <a:chOff x="7184999" y="5833168"/>
            <a:chExt cx="818035" cy="32036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종료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17" name="직사각형 16"/>
          <p:cNvSpPr/>
          <p:nvPr/>
        </p:nvSpPr>
        <p:spPr bwMode="auto">
          <a:xfrm>
            <a:off x="1469753" y="2338327"/>
            <a:ext cx="4343250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Jig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공정 변경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18" name="그룹 98"/>
          <p:cNvGrpSpPr/>
          <p:nvPr/>
        </p:nvGrpSpPr>
        <p:grpSpPr>
          <a:xfrm>
            <a:off x="3878844" y="4891253"/>
            <a:ext cx="818035" cy="320360"/>
            <a:chOff x="7184999" y="5833168"/>
            <a:chExt cx="818035" cy="320360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20" name="직사각형 1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실</a:t>
              </a:r>
              <a:r>
                <a:rPr kumimoji="1" lang="ko-KR" altLang="en-US" sz="1100" b="1" dirty="0">
                  <a:solidFill>
                    <a:srgbClr val="FFFFFF"/>
                  </a:solidFill>
                  <a:latin typeface="+mn-ea"/>
                </a:rPr>
                <a:t>행</a:t>
              </a:r>
            </a:p>
          </p:txBody>
        </p:sp>
      </p:grpSp>
      <p:sp>
        <p:nvSpPr>
          <p:cNvPr id="21" name="직사각형 20"/>
          <p:cNvSpPr/>
          <p:nvPr/>
        </p:nvSpPr>
        <p:spPr bwMode="auto">
          <a:xfrm>
            <a:off x="2462217" y="2706995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/>
              <a:t>JFOJIG000101011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4624934" y="2714765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2024-03-17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2462217" y="2977026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ALL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526896" y="268466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Jig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72074" y="2699012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Input Date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526896" y="295039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모</a:t>
            </a:r>
            <a:r>
              <a:rPr kumimoji="1" lang="ko-KR" altLang="en-US" sz="800" b="1" dirty="0">
                <a:solidFill>
                  <a:srgbClr val="000000"/>
                </a:solidFill>
                <a:latin typeface="+mn-ea"/>
              </a:rPr>
              <a:t>델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4992646" y="293897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72074" y="2961277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Route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4621748" y="2973312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PJ01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614745" y="3235302"/>
            <a:ext cx="1024133" cy="2006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20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66918" y="3195389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 </a:t>
            </a: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Cell </a:t>
            </a: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수량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3278764" y="2678940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4172418" y="4666762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5060856" y="4666762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5449352" y="2964832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449352" y="321144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6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449352" y="270027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3278764" y="297650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2462217" y="3207226"/>
            <a:ext cx="1046530" cy="1906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20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8" name="그룹 98"/>
          <p:cNvGrpSpPr/>
          <p:nvPr/>
        </p:nvGrpSpPr>
        <p:grpSpPr>
          <a:xfrm>
            <a:off x="2716659" y="4891253"/>
            <a:ext cx="1106814" cy="320360"/>
            <a:chOff x="7184999" y="5833168"/>
            <a:chExt cx="818035" cy="320360"/>
          </a:xfrm>
        </p:grpSpPr>
        <p:pic>
          <p:nvPicPr>
            <p:cNvPr id="49" name="그림 48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1100" b="1" dirty="0" smtClean="0">
                  <a:solidFill>
                    <a:srgbClr val="FFFFFF"/>
                  </a:solidFill>
                  <a:latin typeface="+mn-ea"/>
                </a:rPr>
                <a:t>Jig </a:t>
              </a: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정보 변경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75" name="직사각형 74"/>
          <p:cNvSpPr/>
          <p:nvPr/>
        </p:nvSpPr>
        <p:spPr>
          <a:xfrm>
            <a:off x="1526896" y="3195389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dirty="0" smtClean="0">
                <a:solidFill>
                  <a:srgbClr val="000000"/>
                </a:solidFill>
                <a:latin typeface="+mn-ea"/>
              </a:rPr>
              <a:t>현재 </a:t>
            </a:r>
            <a:r>
              <a:rPr kumimoji="1" lang="en-US" altLang="ko-KR" sz="800" dirty="0" smtClean="0">
                <a:solidFill>
                  <a:srgbClr val="000000"/>
                </a:solidFill>
                <a:latin typeface="+mn-ea"/>
              </a:rPr>
              <a:t>Cell </a:t>
            </a:r>
            <a:r>
              <a:rPr kumimoji="1" lang="ko-KR" altLang="en-US" sz="800" dirty="0" smtClean="0">
                <a:solidFill>
                  <a:srgbClr val="000000"/>
                </a:solidFill>
                <a:latin typeface="+mn-ea"/>
              </a:rPr>
              <a:t>수량</a:t>
            </a:r>
            <a:endParaRPr kumimoji="1" lang="ko-KR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3271418" y="4688337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1549091" y="2678940"/>
            <a:ext cx="4163828" cy="80448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/>
          <p:cNvSpPr/>
          <p:nvPr/>
        </p:nvSpPr>
        <p:spPr>
          <a:xfrm>
            <a:off x="1549091" y="3483422"/>
            <a:ext cx="4085697" cy="10801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 bwMode="auto">
          <a:xfrm>
            <a:off x="1564530" y="3626660"/>
            <a:ext cx="4070257" cy="233049"/>
          </a:xfrm>
          <a:prstGeom prst="rect">
            <a:avLst/>
          </a:prstGeom>
          <a:solidFill>
            <a:srgbClr val="5D72AF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</a:t>
            </a:r>
            <a:r>
              <a:rPr lang="ko-KR" altLang="en-US" sz="1200" b="1" dirty="0" smtClean="0">
                <a:solidFill>
                  <a:prstClr val="white"/>
                </a:solidFill>
                <a:latin typeface="+mn-ea"/>
              </a:rPr>
              <a:t>현재 공정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1565040" y="3843461"/>
            <a:ext cx="4066733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IR OCV #2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1564531" y="4059485"/>
            <a:ext cx="4070257" cy="233049"/>
          </a:xfrm>
          <a:prstGeom prst="rect">
            <a:avLst/>
          </a:prstGeom>
          <a:solidFill>
            <a:srgbClr val="5D72AF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다음</a:t>
            </a:r>
            <a:r>
              <a:rPr lang="ko-KR" altLang="en-US" sz="1200" b="1" dirty="0" smtClean="0">
                <a:solidFill>
                  <a:prstClr val="white"/>
                </a:solidFill>
                <a:latin typeface="+mn-ea"/>
              </a:rPr>
              <a:t> 공정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1565041" y="4276286"/>
            <a:ext cx="4066733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Charge #2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3278764" y="3211617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449352" y="3816637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7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5449352" y="425639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8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3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RPT-03</a:t>
            </a:r>
            <a:endParaRPr lang="ko-KR" altLang="en-US" dirty="0"/>
          </a:p>
        </p:txBody>
      </p:sp>
      <p:grpSp>
        <p:nvGrpSpPr>
          <p:cNvPr id="54" name="그룹 53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55" name="위쪽 화살표 54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/>
              <a:t>Next</a:t>
            </a:r>
            <a:r>
              <a:rPr lang="ko-KR" altLang="en-US" dirty="0" smtClean="0"/>
              <a:t> 공정</a:t>
            </a:r>
            <a:r>
              <a:rPr lang="en-US" altLang="ko-KR" dirty="0" smtClean="0"/>
              <a:t>, Cell </a:t>
            </a:r>
            <a:r>
              <a:rPr lang="ko-KR" altLang="en-US" dirty="0" smtClean="0"/>
              <a:t>수량 </a:t>
            </a:r>
            <a:r>
              <a:rPr lang="ko-KR" altLang="en-US" dirty="0"/>
              <a:t>설정 변경 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ID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Input Date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 일자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다음 공정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의 다음 공정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변경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체크시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9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번 항목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콤보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박스가 활성화 되면서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에 해당하는 모든 공정 조회해서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변경하고자 하는 공정 표시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확인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화면에 수정한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수량과 다음 공정을 저장한다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.. 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취소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         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수량과 다음 공정을 이전 화면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Manual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로 넘겨주어 변경 사항을 표시할 수 있게 한다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tMstRouteOper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spGetNextProc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1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Jig Manual Change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Jig Manual Change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46840" y="1102584"/>
            <a:ext cx="1418291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 bwMode="auto">
          <a:xfrm>
            <a:off x="1479278" y="2403301"/>
            <a:ext cx="4333725" cy="2664296"/>
          </a:xfrm>
          <a:prstGeom prst="rect">
            <a:avLst/>
          </a:prstGeom>
          <a:solidFill>
            <a:srgbClr val="FFFFF8"/>
          </a:solidFill>
          <a:ln w="12700" algn="ctr">
            <a:solidFill>
              <a:srgbClr val="000000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4" name="그룹 94"/>
          <p:cNvGrpSpPr/>
          <p:nvPr/>
        </p:nvGrpSpPr>
        <p:grpSpPr>
          <a:xfrm>
            <a:off x="4897037" y="4694843"/>
            <a:ext cx="818035" cy="320360"/>
            <a:chOff x="7184999" y="5833168"/>
            <a:chExt cx="818035" cy="320360"/>
          </a:xfrm>
        </p:grpSpPr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7" name="직사각형 16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취소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18" name="직사각형 17"/>
          <p:cNvSpPr/>
          <p:nvPr/>
        </p:nvSpPr>
        <p:spPr bwMode="auto">
          <a:xfrm>
            <a:off x="1469753" y="2338327"/>
            <a:ext cx="4343250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Jig Manual Change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19" name="그룹 98"/>
          <p:cNvGrpSpPr/>
          <p:nvPr/>
        </p:nvGrpSpPr>
        <p:grpSpPr>
          <a:xfrm>
            <a:off x="3996937" y="4694843"/>
            <a:ext cx="818035" cy="320360"/>
            <a:chOff x="7184999" y="5833168"/>
            <a:chExt cx="818035" cy="320360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확인 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22" name="직사각형 21"/>
          <p:cNvSpPr/>
          <p:nvPr/>
        </p:nvSpPr>
        <p:spPr bwMode="auto">
          <a:xfrm>
            <a:off x="2462217" y="2706995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/>
              <a:t>JFOJIG000101011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4624934" y="2714765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2024-03-17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2462217" y="2977026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ALL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526896" y="268466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Jig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72074" y="2699012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Input Date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526896" y="295039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 가능 모델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992646" y="293897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672074" y="2961277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Route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621748" y="2973312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P101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2584420" y="4083954"/>
            <a:ext cx="1024133" cy="200634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20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636539" y="4044041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dirty="0">
                <a:solidFill>
                  <a:srgbClr val="000000"/>
                </a:solidFill>
                <a:latin typeface="+mn-ea"/>
              </a:rPr>
              <a:t>투입 </a:t>
            </a:r>
            <a:r>
              <a:rPr kumimoji="1" lang="en-US" altLang="ko-KR" sz="800" dirty="0">
                <a:solidFill>
                  <a:srgbClr val="000000"/>
                </a:solidFill>
                <a:latin typeface="+mn-ea"/>
              </a:rPr>
              <a:t>Cell </a:t>
            </a:r>
            <a:r>
              <a:rPr kumimoji="1" lang="ko-KR" altLang="en-US" sz="800" dirty="0">
                <a:solidFill>
                  <a:srgbClr val="000000"/>
                </a:solidFill>
                <a:latin typeface="+mn-ea"/>
              </a:rPr>
              <a:t>수량</a:t>
            </a:r>
          </a:p>
        </p:txBody>
      </p:sp>
      <p:sp>
        <p:nvSpPr>
          <p:cNvPr id="33" name="타원 32"/>
          <p:cNvSpPr/>
          <p:nvPr/>
        </p:nvSpPr>
        <p:spPr>
          <a:xfrm>
            <a:off x="3074517" y="2678940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5224604" y="2964832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5248771" y="270027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3081515" y="297650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2606233" y="3805335"/>
            <a:ext cx="1046530" cy="190609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solidFill>
                  <a:srgbClr val="000000"/>
                </a:solidFill>
                <a:latin typeface="+mn-ea"/>
              </a:rPr>
              <a:t>20</a:t>
            </a:r>
            <a:endParaRPr kumimoji="1" lang="ko-KR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636539" y="3793498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dirty="0" smtClean="0">
                <a:solidFill>
                  <a:srgbClr val="000000"/>
                </a:solidFill>
                <a:latin typeface="+mn-ea"/>
              </a:rPr>
              <a:t>현재 </a:t>
            </a:r>
            <a:r>
              <a:rPr kumimoji="1" lang="en-US" altLang="ko-KR" sz="800" dirty="0" smtClean="0">
                <a:solidFill>
                  <a:srgbClr val="000000"/>
                </a:solidFill>
                <a:latin typeface="+mn-ea"/>
              </a:rPr>
              <a:t>Cell </a:t>
            </a:r>
            <a:r>
              <a:rPr kumimoji="1" lang="ko-KR" altLang="en-US" sz="800" dirty="0" smtClean="0">
                <a:solidFill>
                  <a:srgbClr val="000000"/>
                </a:solidFill>
                <a:latin typeface="+mn-ea"/>
              </a:rPr>
              <a:t>수량</a:t>
            </a:r>
            <a:endParaRPr kumimoji="1" lang="ko-KR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549091" y="2678940"/>
            <a:ext cx="4163828" cy="53804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1549091" y="3195389"/>
            <a:ext cx="4163828" cy="136710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 bwMode="auto">
          <a:xfrm>
            <a:off x="1564530" y="3338627"/>
            <a:ext cx="4070257" cy="233049"/>
          </a:xfrm>
          <a:prstGeom prst="rect">
            <a:avLst/>
          </a:prstGeom>
          <a:solidFill>
            <a:srgbClr val="5D72AF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다음 공정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1565040" y="3555428"/>
            <a:ext cx="4066733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IR OCV #2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2401050" y="3546961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2590341" y="4318894"/>
            <a:ext cx="1051037" cy="219141"/>
            <a:chOff x="1521240" y="2256925"/>
            <a:chExt cx="1053765" cy="219141"/>
          </a:xfrm>
        </p:grpSpPr>
        <p:sp>
          <p:nvSpPr>
            <p:cNvPr id="54" name="직사각형 53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56" name="직사각형 55"/>
          <p:cNvSpPr/>
          <p:nvPr/>
        </p:nvSpPr>
        <p:spPr>
          <a:xfrm>
            <a:off x="1636539" y="4322011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dirty="0" err="1">
                <a:solidFill>
                  <a:srgbClr val="000000"/>
                </a:solidFill>
                <a:latin typeface="+mn-ea"/>
              </a:rPr>
              <a:t>공정명</a:t>
            </a:r>
            <a:endParaRPr kumimoji="1" lang="ko-KR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4290511" y="4470352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5178949" y="4470352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3733536" y="3843370"/>
            <a:ext cx="1046530" cy="190609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dirty="0" smtClean="0">
                <a:solidFill>
                  <a:srgbClr val="000000"/>
                </a:solidFill>
                <a:latin typeface="+mn-ea"/>
              </a:rPr>
              <a:t>□ 공정 변경</a:t>
            </a:r>
            <a:endParaRPr kumimoji="1" lang="ko-KR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3371168" y="3771453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6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3371167" y="405203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8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3234598" y="4307195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9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4428297" y="382642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7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50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RPT-04</a:t>
            </a:r>
            <a:endParaRPr lang="ko-KR" altLang="en-US" dirty="0"/>
          </a:p>
        </p:txBody>
      </p:sp>
      <p:grpSp>
        <p:nvGrpSpPr>
          <p:cNvPr id="51" name="그룹 50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61" name="위쪽 화살표 60">
              <a:hlinkClick r:id="rId5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불량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수동 처리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ID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Input Date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투입일자 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Input Time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 시간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초기화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불량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배출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배출할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ID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를 아래 결과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선택해서 삭제하면 그 결과를 저장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저장 전에 확인 메시지와 함께 저장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User ID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를 기록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dirty="0" err="1" smtClean="0"/>
              <a:t>spSetBadCell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불량 </a:t>
            </a:r>
            <a:r>
              <a:rPr lang="en-US" altLang="ko-KR" dirty="0" smtClean="0"/>
              <a:t>Cell </a:t>
            </a:r>
            <a:r>
              <a:rPr lang="ko-KR" altLang="en-US" dirty="0" smtClean="0"/>
              <a:t>지정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불량 </a:t>
            </a:r>
            <a:r>
              <a:rPr lang="en-US" altLang="ko-KR" dirty="0" smtClean="0"/>
              <a:t>Cell </a:t>
            </a:r>
            <a:r>
              <a:rPr lang="ko-KR" altLang="en-US" dirty="0" smtClean="0"/>
              <a:t>지정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42180" y="1102584"/>
            <a:ext cx="1391853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 bwMode="auto">
          <a:xfrm>
            <a:off x="628427" y="2756307"/>
            <a:ext cx="6480720" cy="2023258"/>
          </a:xfrm>
          <a:prstGeom prst="rect">
            <a:avLst/>
          </a:prstGeom>
          <a:solidFill>
            <a:srgbClr val="FFFFF8"/>
          </a:solidFill>
          <a:ln w="12700" algn="ctr">
            <a:solidFill>
              <a:srgbClr val="000000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628428" y="2691333"/>
            <a:ext cx="648071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불량 </a:t>
            </a:r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Cell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지정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1396529" y="3049983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/>
              <a:t>JFOJIG000101011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1564531" y="3427166"/>
            <a:ext cx="864096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2024-03-17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0435" y="302765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Jig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00435" y="341141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Input Date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700435" y="3757387"/>
          <a:ext cx="6192686" cy="439081"/>
        </p:xfrm>
        <a:graphic>
          <a:graphicData uri="http://schemas.openxmlformats.org/drawingml/2006/table">
            <a:tbl>
              <a:tblPr/>
              <a:tblGrid>
                <a:gridCol w="792088"/>
                <a:gridCol w="648072"/>
                <a:gridCol w="648072"/>
                <a:gridCol w="720080"/>
                <a:gridCol w="648072"/>
                <a:gridCol w="576064"/>
                <a:gridCol w="648072"/>
                <a:gridCol w="504056"/>
                <a:gridCol w="504056"/>
                <a:gridCol w="504054"/>
              </a:tblGrid>
              <a:tr h="2182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3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4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5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6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7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8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9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10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2208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09TCEA802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09TCEA803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09TCEA808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09TCEA809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700435" y="4196468"/>
          <a:ext cx="6192686" cy="439081"/>
        </p:xfrm>
        <a:graphic>
          <a:graphicData uri="http://schemas.openxmlformats.org/drawingml/2006/table">
            <a:tbl>
              <a:tblPr/>
              <a:tblGrid>
                <a:gridCol w="792088"/>
                <a:gridCol w="648072"/>
                <a:gridCol w="648072"/>
                <a:gridCol w="720080"/>
                <a:gridCol w="648072"/>
                <a:gridCol w="576064"/>
                <a:gridCol w="648072"/>
                <a:gridCol w="504056"/>
                <a:gridCol w="504056"/>
                <a:gridCol w="504054"/>
              </a:tblGrid>
              <a:tr h="2182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11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12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13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14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15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16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17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18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19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20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2208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09TCEA812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09TCEA813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09TCEA818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09TCEA819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09TCEA820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8" name="그룹 27"/>
          <p:cNvGrpSpPr/>
          <p:nvPr/>
        </p:nvGrpSpPr>
        <p:grpSpPr>
          <a:xfrm>
            <a:off x="5020915" y="3209263"/>
            <a:ext cx="521265" cy="305715"/>
            <a:chOff x="7184999" y="5833168"/>
            <a:chExt cx="818035" cy="320360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30" name="직사각형 2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noProof="0" dirty="0" smtClean="0">
                  <a:solidFill>
                    <a:prstClr val="white"/>
                  </a:solidFill>
                </a:rPr>
                <a:t>초기</a:t>
              </a:r>
              <a:r>
                <a:rPr lang="ko-KR" altLang="en-US" sz="1000" b="1" kern="0" noProof="0" dirty="0">
                  <a:solidFill>
                    <a:prstClr val="white"/>
                  </a:solidFill>
                </a:rPr>
                <a:t>화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5617434" y="3209263"/>
            <a:ext cx="521265" cy="305715"/>
            <a:chOff x="7184999" y="5833168"/>
            <a:chExt cx="818035" cy="320360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33" name="직사각형 32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불량</a:t>
              </a:r>
              <a:r>
                <a:rPr kumimoji="0" lang="en-US" altLang="ko-KR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Cell</a:t>
              </a: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지정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6412768" y="3209263"/>
            <a:ext cx="521265" cy="305715"/>
            <a:chOff x="7184999" y="5833168"/>
            <a:chExt cx="818035" cy="320360"/>
          </a:xfrm>
        </p:grpSpPr>
        <p:pic>
          <p:nvPicPr>
            <p:cNvPr id="35" name="그림 34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36" name="직사각형 35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직사각형 36"/>
          <p:cNvSpPr/>
          <p:nvPr/>
        </p:nvSpPr>
        <p:spPr bwMode="auto">
          <a:xfrm>
            <a:off x="3624494" y="3427166"/>
            <a:ext cx="676341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11:20:03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760398" y="341141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Input Time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2184998" y="3023883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2294815" y="3413753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4191017" y="3400342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5878066" y="3019874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6707983" y="3027653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5280491" y="3019875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5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RPT-05</a:t>
            </a:r>
            <a:endParaRPr lang="ko-KR" altLang="en-US" dirty="0"/>
          </a:p>
        </p:txBody>
      </p:sp>
      <p:grpSp>
        <p:nvGrpSpPr>
          <p:cNvPr id="46" name="그룹 45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47" name="위쪽 화살표 46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/>
          <p:cNvSpPr/>
          <p:nvPr/>
        </p:nvSpPr>
        <p:spPr bwMode="auto">
          <a:xfrm>
            <a:off x="228492" y="2170252"/>
            <a:ext cx="7288791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</a:t>
            </a:r>
            <a:r>
              <a:rPr lang="en-US" altLang="ko-KR" sz="1400" b="1" dirty="0">
                <a:solidFill>
                  <a:prstClr val="white"/>
                </a:solidFill>
                <a:latin typeface="+mn-ea"/>
              </a:rPr>
              <a:t> </a:t>
            </a:r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Cell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측정치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240679" y="2403301"/>
            <a:ext cx="7272807" cy="3960440"/>
          </a:xfrm>
          <a:prstGeom prst="rect">
            <a:avLst/>
          </a:prstGeom>
          <a:solidFill>
            <a:srgbClr val="FFFFF8"/>
          </a:solidFill>
          <a:ln w="12700" algn="ctr">
            <a:solidFill>
              <a:srgbClr val="000000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Cell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별 </a:t>
            </a:r>
            <a:r>
              <a:rPr lang="ko-KR" altLang="en-US" dirty="0" err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실처리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정보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ID: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Input Date 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Input Time 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Model 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엑셀저장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측정치 결과를 엑셀파일로 저장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viCellProcData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Cell List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2024.03.20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Cell List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2" y="1107157"/>
            <a:ext cx="1440160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1608831" y="2375675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2857064" y="2375675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sp>
        <p:nvSpPr>
          <p:cNvPr id="15" name="타원 14"/>
          <p:cNvSpPr/>
          <p:nvPr/>
        </p:nvSpPr>
        <p:spPr>
          <a:xfrm>
            <a:off x="3937184" y="2375675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4989596" y="2375675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069716" y="2375675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en-US" altLang="ko-KR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7221844" y="2375546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6645780" y="2375546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/>
        </p:nvGraphicFramePr>
        <p:xfrm>
          <a:off x="384695" y="3034556"/>
          <a:ext cx="6984776" cy="3217416"/>
        </p:xfrm>
        <a:graphic>
          <a:graphicData uri="http://schemas.openxmlformats.org/drawingml/2006/table">
            <a:tbl>
              <a:tblPr/>
              <a:tblGrid>
                <a:gridCol w="138815"/>
                <a:gridCol w="198724"/>
                <a:gridCol w="841212"/>
                <a:gridCol w="235750"/>
                <a:gridCol w="392917"/>
                <a:gridCol w="392917"/>
                <a:gridCol w="785834"/>
                <a:gridCol w="628668"/>
                <a:gridCol w="628668"/>
                <a:gridCol w="639257"/>
                <a:gridCol w="639257"/>
                <a:gridCol w="598661"/>
                <a:gridCol w="864096"/>
              </a:tblGrid>
              <a:tr h="0">
                <a:tc rowSpan="4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Cell No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Cell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등급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endParaRPr lang="ko-KR" altLang="en-US" sz="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800" dirty="0" smtClean="0"/>
                        <a:t>                               </a:t>
                      </a: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OCV #1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                                                       Charge #1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                           STEP 1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시작 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0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종료시간</a:t>
                      </a:r>
                      <a:endParaRPr lang="ko-KR" altLang="en-US" sz="700" b="0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0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설비명</a:t>
                      </a:r>
                      <a:endParaRPr lang="ko-KR" altLang="en-US" sz="700" b="0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OCV(mV)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시작 시간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종료 시간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설비명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Capacity(</a:t>
                      </a:r>
                      <a:r>
                        <a:rPr lang="en-US" altLang="ko-KR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mAH</a:t>
                      </a: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09TCEA801000001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ko-KR" sz="700" b="0" dirty="0" smtClean="0">
                          <a:solidFill>
                            <a:srgbClr val="000000"/>
                          </a:solidFill>
                          <a:latin typeface="+mn-ea"/>
                        </a:rPr>
                        <a:t>1Line-01Bay-01Jig</a:t>
                      </a:r>
                      <a:endParaRPr kumimoji="1" lang="ko-KR" altLang="en-US" sz="700" b="0" dirty="0" smtClean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356.57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ko-KR" sz="700" b="0" dirty="0" smtClean="0">
                          <a:solidFill>
                            <a:srgbClr val="000000"/>
                          </a:solidFill>
                          <a:latin typeface="+mn-ea"/>
                        </a:rPr>
                        <a:t>1Line-01Bay-01Jig</a:t>
                      </a:r>
                      <a:endParaRPr kumimoji="1" lang="ko-KR" altLang="en-US" sz="700" b="0" dirty="0" smtClean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1270.,24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09TCEA801000002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ko-KR" sz="700" b="0" dirty="0" smtClean="0">
                          <a:solidFill>
                            <a:srgbClr val="000000"/>
                          </a:solidFill>
                          <a:latin typeface="+mn-ea"/>
                        </a:rPr>
                        <a:t>1Line-01Bay-01Jig</a:t>
                      </a:r>
                      <a:endParaRPr kumimoji="1" lang="ko-KR" altLang="en-US" sz="700" b="0" dirty="0" smtClean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353.28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ko-KR" sz="700" b="0" dirty="0" smtClean="0">
                          <a:solidFill>
                            <a:srgbClr val="000000"/>
                          </a:solidFill>
                          <a:latin typeface="+mn-ea"/>
                        </a:rPr>
                        <a:t>1Line-01Bay-01Jig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1270.19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09TCEA801000003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204-03-17 21:0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204-03-17 21:0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6710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ko-KR" sz="700" b="0" dirty="0" smtClean="0">
                          <a:solidFill>
                            <a:srgbClr val="000000"/>
                          </a:solidFill>
                          <a:latin typeface="+mn-ea"/>
                        </a:rPr>
                        <a:t>1Line-01Bay-01Jig</a:t>
                      </a:r>
                      <a:endParaRPr kumimoji="1" lang="ko-KR" altLang="en-US" sz="700" b="0" dirty="0" smtClean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351.76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ko-KR" sz="700" b="0" dirty="0" smtClean="0">
                          <a:solidFill>
                            <a:srgbClr val="000000"/>
                          </a:solidFill>
                          <a:latin typeface="+mn-ea"/>
                        </a:rPr>
                        <a:t>1Line-01Bay-01Jig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1270.27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611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직사각형 22"/>
          <p:cNvSpPr/>
          <p:nvPr/>
        </p:nvSpPr>
        <p:spPr bwMode="auto">
          <a:xfrm>
            <a:off x="744735" y="2621413"/>
            <a:ext cx="1032098" cy="2174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/>
              <a:t>JFOJIG000101011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68671" y="2586997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Jig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2311416" y="2641180"/>
            <a:ext cx="744066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 smtClean="0"/>
              <a:t>2024-03-17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763060" y="2591609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</a:pPr>
            <a:r>
              <a:rPr kumimoji="1" lang="ko-KR" altLang="en-US" sz="800" b="1" smtClean="0">
                <a:solidFill>
                  <a:srgbClr val="000000"/>
                </a:solidFill>
                <a:latin typeface="+mn-ea"/>
              </a:rPr>
              <a:t>투입 일자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3583057" y="2641180"/>
            <a:ext cx="541865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 smtClean="0"/>
              <a:t>15:16:02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027774" y="2591609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 시간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4451342" y="2641180"/>
            <a:ext cx="744066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700" b="1" dirty="0" smtClean="0">
                <a:solidFill>
                  <a:srgbClr val="000000"/>
                </a:solidFill>
                <a:latin typeface="+mn-ea"/>
              </a:rPr>
              <a:t>POUCH24011</a:t>
            </a:r>
            <a:endParaRPr kumimoji="1" lang="ko-KR" altLang="en-US" sz="7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138888" y="2598536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모델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 bwMode="auto">
          <a:xfrm>
            <a:off x="5713287" y="2641180"/>
            <a:ext cx="541865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 smtClean="0"/>
              <a:t>P101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171422" y="2598536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Route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6920214" y="2586997"/>
            <a:ext cx="521265" cy="320360"/>
            <a:chOff x="7184999" y="5833168"/>
            <a:chExt cx="818035" cy="320360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35" name="직사각형 34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6358302" y="2586997"/>
            <a:ext cx="521265" cy="320360"/>
            <a:chOff x="7184999" y="5833168"/>
            <a:chExt cx="818035" cy="320360"/>
          </a:xfrm>
        </p:grpSpPr>
        <p:pic>
          <p:nvPicPr>
            <p:cNvPr id="37" name="그림 36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38" name="직사각형 37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엑셀저</a:t>
              </a:r>
              <a:r>
                <a:rPr lang="ko-KR" altLang="en-US" sz="1000" b="1" kern="0" dirty="0">
                  <a:solidFill>
                    <a:prstClr val="white"/>
                  </a:solidFill>
                </a:rPr>
                <a:t>장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RPT-06</a:t>
            </a:r>
            <a:endParaRPr lang="ko-KR" altLang="en-US" dirty="0"/>
          </a:p>
        </p:txBody>
      </p:sp>
      <p:grpSp>
        <p:nvGrpSpPr>
          <p:cNvPr id="42" name="그룹 41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43" name="위쪽 화살표 42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Jig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상태 변경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ID 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투입일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상태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 상태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변경하고자 하는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상태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    Run(R),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작업종료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(E), Move(M), Manual(N),  Prompt wait(P),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수동삭제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(D), Bad(D),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강제배출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(T),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비상배출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(X), Fire(F)</a:t>
            </a: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실행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spSetProcStartEnd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Jig </a:t>
            </a:r>
            <a:r>
              <a:rPr lang="ko-KR" altLang="en-US" dirty="0" smtClean="0"/>
              <a:t>상태 변경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Jig </a:t>
            </a:r>
            <a:r>
              <a:rPr lang="ko-KR" altLang="en-US" dirty="0" smtClean="0"/>
              <a:t>상태 변경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46840" y="1102584"/>
            <a:ext cx="1418291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1479278" y="2403301"/>
            <a:ext cx="4333725" cy="2880320"/>
          </a:xfrm>
          <a:prstGeom prst="rect">
            <a:avLst/>
          </a:prstGeom>
          <a:solidFill>
            <a:srgbClr val="FFFFF8"/>
          </a:solidFill>
          <a:ln w="12700" algn="ctr">
            <a:solidFill>
              <a:srgbClr val="000000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3" name="그룹 94"/>
          <p:cNvGrpSpPr/>
          <p:nvPr/>
        </p:nvGrpSpPr>
        <p:grpSpPr>
          <a:xfrm>
            <a:off x="3960909" y="4863875"/>
            <a:ext cx="818035" cy="320360"/>
            <a:chOff x="7184999" y="5833168"/>
            <a:chExt cx="818035" cy="32036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종료</a:t>
              </a:r>
              <a:endParaRPr kumimoji="1" lang="ko-KR" altLang="en-US" sz="1100" b="1" dirty="0">
                <a:solidFill>
                  <a:srgbClr val="FFFFFF"/>
                </a:solidFill>
                <a:latin typeface="+mn-ea"/>
              </a:endParaRPr>
            </a:p>
          </p:txBody>
        </p:sp>
      </p:grpSp>
      <p:sp>
        <p:nvSpPr>
          <p:cNvPr id="17" name="직사각형 16"/>
          <p:cNvSpPr/>
          <p:nvPr/>
        </p:nvSpPr>
        <p:spPr bwMode="auto">
          <a:xfrm>
            <a:off x="1469753" y="2338327"/>
            <a:ext cx="4343250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Jig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상태 변경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18" name="그룹 98"/>
          <p:cNvGrpSpPr/>
          <p:nvPr/>
        </p:nvGrpSpPr>
        <p:grpSpPr>
          <a:xfrm>
            <a:off x="3004691" y="4891253"/>
            <a:ext cx="818035" cy="320360"/>
            <a:chOff x="7184999" y="5833168"/>
            <a:chExt cx="818035" cy="320360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20" name="직사각형 1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100" b="1" dirty="0" smtClean="0">
                  <a:solidFill>
                    <a:srgbClr val="FFFFFF"/>
                  </a:solidFill>
                  <a:latin typeface="+mn-ea"/>
                </a:rPr>
                <a:t>실</a:t>
              </a:r>
              <a:r>
                <a:rPr kumimoji="1" lang="ko-KR" altLang="en-US" sz="1100" b="1" dirty="0">
                  <a:solidFill>
                    <a:srgbClr val="FFFFFF"/>
                  </a:solidFill>
                  <a:latin typeface="+mn-ea"/>
                </a:rPr>
                <a:t>행</a:t>
              </a:r>
            </a:p>
          </p:txBody>
        </p:sp>
      </p:grpSp>
      <p:sp>
        <p:nvSpPr>
          <p:cNvPr id="21" name="직사각형 20"/>
          <p:cNvSpPr/>
          <p:nvPr/>
        </p:nvSpPr>
        <p:spPr bwMode="auto">
          <a:xfrm>
            <a:off x="3367055" y="2721516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800" b="1" dirty="0"/>
              <a:t>JFOJIG000101011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3367055" y="3477327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2024-03-17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3367055" y="2991547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HDP116103322PE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428627" y="2699186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Jig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428627" y="3461574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</a:t>
            </a:r>
            <a:r>
              <a:rPr kumimoji="1" lang="ko-KR" altLang="en-US" sz="800" b="1" dirty="0">
                <a:solidFill>
                  <a:srgbClr val="000000"/>
                </a:solidFill>
                <a:latin typeface="+mn-ea"/>
              </a:rPr>
              <a:t>일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428627" y="2964916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모</a:t>
            </a:r>
            <a:r>
              <a:rPr kumimoji="1" lang="ko-KR" altLang="en-US" sz="800" b="1" dirty="0">
                <a:solidFill>
                  <a:srgbClr val="000000"/>
                </a:solidFill>
                <a:latin typeface="+mn-ea"/>
              </a:rPr>
              <a:t>델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4992646" y="293897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428627" y="3723839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현재 상태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3367055" y="3735874"/>
            <a:ext cx="1032098" cy="19766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E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428627" y="4101262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변경 상태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4183602" y="2693461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4172418" y="4666762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4183602" y="3727394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4183602" y="411731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6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183602" y="3462837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4183602" y="2991026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3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3367055" y="3221747"/>
            <a:ext cx="1046530" cy="19060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PJ01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428627" y="3209910"/>
            <a:ext cx="1095560" cy="240481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dirty="0" smtClean="0">
                <a:solidFill>
                  <a:srgbClr val="000000"/>
                </a:solidFill>
                <a:latin typeface="+mn-ea"/>
              </a:rPr>
              <a:t>Route ID</a:t>
            </a:r>
            <a:endParaRPr kumimoji="1" lang="ko-KR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3271418" y="4688337"/>
            <a:ext cx="219635" cy="22449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549091" y="2619325"/>
            <a:ext cx="4085697" cy="138054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1549091" y="4059485"/>
            <a:ext cx="4085697" cy="32403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4183602" y="322613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3367055" y="4094621"/>
            <a:ext cx="839518" cy="219141"/>
            <a:chOff x="1521240" y="2256925"/>
            <a:chExt cx="1053765" cy="219141"/>
          </a:xfrm>
        </p:grpSpPr>
        <p:sp>
          <p:nvSpPr>
            <p:cNvPr id="53" name="직사각형 52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2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RPT-07</a:t>
            </a:r>
            <a:endParaRPr lang="ko-KR" altLang="en-US" dirty="0"/>
          </a:p>
        </p:txBody>
      </p:sp>
      <p:grpSp>
        <p:nvGrpSpPr>
          <p:cNvPr id="47" name="그룹 46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48" name="위쪽 화살표 47">
              <a:hlinkClick r:id="rId5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정보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1,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To: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Today + 1 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전 후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일 설정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공정검색 옵션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현재 공정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완료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생산중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생산완료 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NG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NG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셀 포함 여부 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ID 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ID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란에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입력시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(Key Down)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생산중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생산완료 옵션을 제외한 모든 조회조건이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Unvisible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함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결과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오른쪽에는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에 등록된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공정별로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결과값이 보여짐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입력한 조회 조건으로 검색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 저장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결과 엑셀파일로 저장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viCellProcData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Cell </a:t>
            </a:r>
            <a:r>
              <a:rPr lang="ko-KR" altLang="en-US" dirty="0" smtClean="0"/>
              <a:t>정보 조회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Cell </a:t>
            </a:r>
            <a:r>
              <a:rPr lang="ko-KR" altLang="en-US" dirty="0" smtClean="0"/>
              <a:t>정보 조회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45638" y="1102584"/>
            <a:ext cx="1419493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340395" y="1881345"/>
            <a:ext cx="709227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 Cell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정보 조회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40395" y="2114393"/>
            <a:ext cx="7092279" cy="1225012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2293" y="2329611"/>
            <a:ext cx="72973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조회 기간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75920" y="2329611"/>
            <a:ext cx="544795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모델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3220715" y="2359759"/>
            <a:ext cx="585751" cy="219141"/>
            <a:chOff x="1521240" y="2256925"/>
            <a:chExt cx="1053765" cy="219141"/>
          </a:xfrm>
        </p:grpSpPr>
        <p:sp>
          <p:nvSpPr>
            <p:cNvPr id="18" name="직사각형 17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340395" y="3627436"/>
          <a:ext cx="7140379" cy="3031659"/>
        </p:xfrm>
        <a:graphic>
          <a:graphicData uri="http://schemas.openxmlformats.org/drawingml/2006/table">
            <a:tbl>
              <a:tblPr/>
              <a:tblGrid>
                <a:gridCol w="288032"/>
                <a:gridCol w="605132"/>
                <a:gridCol w="444020"/>
                <a:gridCol w="523573"/>
                <a:gridCol w="479313"/>
                <a:gridCol w="488280"/>
                <a:gridCol w="517947"/>
                <a:gridCol w="524077"/>
                <a:gridCol w="472770"/>
                <a:gridCol w="569253"/>
                <a:gridCol w="521012"/>
                <a:gridCol w="615263"/>
                <a:gridCol w="575622"/>
                <a:gridCol w="516085"/>
              </a:tblGrid>
              <a:tr h="0">
                <a:tc rowSpan="2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Cell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Model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Route ID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Jig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Cell No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Input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 Date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Input Time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Grade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OCV #1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36076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시작 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종료 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설비명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OCV(mV)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IR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008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타원 21"/>
          <p:cNvSpPr/>
          <p:nvPr/>
        </p:nvSpPr>
        <p:spPr>
          <a:xfrm>
            <a:off x="1278778" y="2088171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3514727" y="2312662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1022031" y="2358634"/>
            <a:ext cx="709156" cy="178519"/>
            <a:chOff x="2600786" y="2524392"/>
            <a:chExt cx="1032098" cy="197667"/>
          </a:xfrm>
        </p:grpSpPr>
        <p:sp>
          <p:nvSpPr>
            <p:cNvPr id="25" name="직사각형 24"/>
            <p:cNvSpPr/>
            <p:nvPr/>
          </p:nvSpPr>
          <p:spPr bwMode="auto">
            <a:xfrm>
              <a:off x="2600786" y="2524392"/>
              <a:ext cx="1032098" cy="197667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- 1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28" name="직사각형 27"/>
          <p:cNvSpPr/>
          <p:nvPr/>
        </p:nvSpPr>
        <p:spPr>
          <a:xfrm>
            <a:off x="1769652" y="2309353"/>
            <a:ext cx="221301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~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1957096" y="2363406"/>
            <a:ext cx="771781" cy="181545"/>
            <a:chOff x="2600785" y="2524392"/>
            <a:chExt cx="1022827" cy="188036"/>
          </a:xfrm>
        </p:grpSpPr>
        <p:sp>
          <p:nvSpPr>
            <p:cNvPr id="31" name="직사각형 30"/>
            <p:cNvSpPr/>
            <p:nvPr/>
          </p:nvSpPr>
          <p:spPr bwMode="auto">
            <a:xfrm>
              <a:off x="2600785" y="2524392"/>
              <a:ext cx="876347" cy="179959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+ 1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2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33" name="직사각형 32"/>
          <p:cNvSpPr/>
          <p:nvPr/>
        </p:nvSpPr>
        <p:spPr>
          <a:xfrm>
            <a:off x="3724771" y="2324421"/>
            <a:ext cx="709644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ko-KR" sz="800" b="1" kern="0" dirty="0" smtClean="0">
                <a:solidFill>
                  <a:prstClr val="black"/>
                </a:solidFill>
              </a:rPr>
              <a:t>Route ID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4434415" y="2354569"/>
            <a:ext cx="544953" cy="219141"/>
            <a:chOff x="1521240" y="2256925"/>
            <a:chExt cx="1053765" cy="219141"/>
          </a:xfrm>
        </p:grpSpPr>
        <p:sp>
          <p:nvSpPr>
            <p:cNvPr id="35" name="직사각형 34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7" name="직사각형 36"/>
          <p:cNvSpPr/>
          <p:nvPr/>
        </p:nvSpPr>
        <p:spPr>
          <a:xfrm>
            <a:off x="5086681" y="2350327"/>
            <a:ext cx="60255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ko-KR" altLang="en-US" sz="800" b="1" kern="0" dirty="0" err="1" smtClean="0">
                <a:solidFill>
                  <a:prstClr val="black"/>
                </a:solidFill>
              </a:rPr>
              <a:t>공정</a:t>
            </a:r>
            <a:r>
              <a:rPr lang="ko-KR" altLang="en-US" sz="800" b="1" kern="0" dirty="0" err="1">
                <a:solidFill>
                  <a:prstClr val="black"/>
                </a:solidFill>
              </a:rPr>
              <a:t>명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5720350" y="2352366"/>
            <a:ext cx="544953" cy="219141"/>
            <a:chOff x="1521240" y="2256925"/>
            <a:chExt cx="1053765" cy="219141"/>
          </a:xfrm>
        </p:grpSpPr>
        <p:sp>
          <p:nvSpPr>
            <p:cNvPr id="39" name="직사각형 38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" name="그룹 4"/>
          <p:cNvGrpSpPr/>
          <p:nvPr/>
        </p:nvGrpSpPr>
        <p:grpSpPr>
          <a:xfrm>
            <a:off x="2675919" y="2928287"/>
            <a:ext cx="1732043" cy="255712"/>
            <a:chOff x="2287629" y="2723653"/>
            <a:chExt cx="1262996" cy="255712"/>
          </a:xfrm>
        </p:grpSpPr>
        <p:sp>
          <p:nvSpPr>
            <p:cNvPr id="45" name="직사각형 44"/>
            <p:cNvSpPr/>
            <p:nvPr/>
          </p:nvSpPr>
          <p:spPr>
            <a:xfrm>
              <a:off x="2287629" y="2723653"/>
              <a:ext cx="653921" cy="255712"/>
            </a:xfrm>
            <a:prstGeom prst="rect">
              <a:avLst/>
            </a:prstGeom>
            <a:noFill/>
          </p:spPr>
          <p:txBody>
            <a:bodyPr wrap="square" lIns="72000" tIns="0" rIns="36000" bIns="0" anchor="ctr" anchorCtr="0">
              <a:noAutofit/>
            </a:bodyPr>
            <a:lstStyle/>
            <a:p>
              <a:pPr marL="171450" marR="0" lvl="0" indent="-17145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50000"/>
                  </a:prstClr>
                </a:buClr>
                <a:buSzTx/>
                <a:buFont typeface="Wingdings" panose="05000000000000000000" pitchFamily="2" charset="2"/>
                <a:buChar char="l"/>
                <a:defRPr/>
              </a:pPr>
              <a:r>
                <a:rPr lang="en-US" altLang="ko-KR" sz="800" b="1" kern="0" dirty="0" smtClean="0">
                  <a:solidFill>
                    <a:prstClr val="black"/>
                  </a:solidFill>
                </a:rPr>
                <a:t>Cell ID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직사각형 45"/>
            <p:cNvSpPr/>
            <p:nvPr/>
          </p:nvSpPr>
          <p:spPr bwMode="auto">
            <a:xfrm>
              <a:off x="2979361" y="2743253"/>
              <a:ext cx="571264" cy="16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7" name="직사각형 46"/>
          <p:cNvSpPr/>
          <p:nvPr/>
        </p:nvSpPr>
        <p:spPr>
          <a:xfrm>
            <a:off x="518085" y="2885417"/>
            <a:ext cx="530915" cy="2732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 err="1" smtClean="0">
                <a:solidFill>
                  <a:srgbClr val="000000"/>
                </a:solidFill>
                <a:latin typeface="+mn-ea"/>
              </a:rPr>
              <a:t>생산</a:t>
            </a:r>
            <a:r>
              <a:rPr kumimoji="1" lang="ko-KR" altLang="en-US" sz="900" b="1" dirty="0" err="1">
                <a:solidFill>
                  <a:srgbClr val="000000"/>
                </a:solidFill>
                <a:latin typeface="+mn-ea"/>
              </a:rPr>
              <a:t>중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988467" y="2885417"/>
            <a:ext cx="812074" cy="273280"/>
            <a:chOff x="828295" y="3952973"/>
            <a:chExt cx="812074" cy="273280"/>
          </a:xfrm>
        </p:grpSpPr>
        <p:sp>
          <p:nvSpPr>
            <p:cNvPr id="49" name="직사각형 48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생산 완료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 rotWithShape="1">
            <a:blip r:embed="rId5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55" name="그룹 54"/>
          <p:cNvGrpSpPr/>
          <p:nvPr/>
        </p:nvGrpSpPr>
        <p:grpSpPr>
          <a:xfrm>
            <a:off x="6893123" y="2947037"/>
            <a:ext cx="521265" cy="320360"/>
            <a:chOff x="7184999" y="5833168"/>
            <a:chExt cx="818035" cy="320360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57" name="직사각형 56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5769300" y="2947037"/>
            <a:ext cx="521265" cy="320360"/>
            <a:chOff x="7184999" y="5833168"/>
            <a:chExt cx="818035" cy="320360"/>
          </a:xfrm>
        </p:grpSpPr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60" name="직사각형 5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검색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6331211" y="2947037"/>
            <a:ext cx="521265" cy="320360"/>
            <a:chOff x="7184999" y="5833168"/>
            <a:chExt cx="818035" cy="320360"/>
          </a:xfrm>
        </p:grpSpPr>
        <p:pic>
          <p:nvPicPr>
            <p:cNvPr id="62" name="그림 61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63" name="직사각형 62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엑셀저</a:t>
              </a:r>
              <a:r>
                <a:rPr lang="ko-KR" altLang="en-US" sz="1000" b="1" kern="0" dirty="0">
                  <a:solidFill>
                    <a:prstClr val="white"/>
                  </a:solidFill>
                </a:rPr>
                <a:t>장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5" cstate="print"/>
          <a:srcRect l="21758" t="7839" r="7058" b="50568"/>
          <a:stretch>
            <a:fillRect/>
          </a:stretch>
        </p:blipFill>
        <p:spPr>
          <a:xfrm>
            <a:off x="433985" y="2962846"/>
            <a:ext cx="168200" cy="186594"/>
          </a:xfrm>
          <a:prstGeom prst="rect">
            <a:avLst/>
          </a:prstGeom>
        </p:spPr>
      </p:pic>
      <p:sp>
        <p:nvSpPr>
          <p:cNvPr id="66" name="타원 65"/>
          <p:cNvSpPr/>
          <p:nvPr/>
        </p:nvSpPr>
        <p:spPr>
          <a:xfrm>
            <a:off x="4752118" y="2329264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5894758" y="234474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1511552" y="268500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5202435" y="2540761"/>
            <a:ext cx="686406" cy="2732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 smtClean="0">
                <a:solidFill>
                  <a:srgbClr val="000000"/>
                </a:solidFill>
                <a:latin typeface="+mn-ea"/>
              </a:rPr>
              <a:t>현재 공정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5800547" y="2540761"/>
            <a:ext cx="804544" cy="273280"/>
            <a:chOff x="835825" y="3952973"/>
            <a:chExt cx="804544" cy="273280"/>
          </a:xfrm>
        </p:grpSpPr>
        <p:sp>
          <p:nvSpPr>
            <p:cNvPr id="53" name="직사각형 52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공정 완료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54" name="그림 53"/>
            <p:cNvPicPr>
              <a:picLocks noChangeAspect="1"/>
            </p:cNvPicPr>
            <p:nvPr/>
          </p:nvPicPr>
          <p:blipFill rotWithShape="1">
            <a:blip r:embed="rId5" cstate="print"/>
            <a:srcRect l="21758" t="58092" r="7058" b="6271"/>
            <a:stretch>
              <a:fillRect/>
            </a:stretch>
          </p:blipFill>
          <p:spPr>
            <a:xfrm>
              <a:off x="835825" y="4043628"/>
              <a:ext cx="168200" cy="159873"/>
            </a:xfrm>
            <a:prstGeom prst="rect">
              <a:avLst/>
            </a:prstGeom>
          </p:spPr>
        </p:pic>
      </p:grpSp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5" cstate="print"/>
          <a:srcRect l="21758" t="7839" r="7058" b="50568"/>
          <a:stretch>
            <a:fillRect/>
          </a:stretch>
        </p:blipFill>
        <p:spPr>
          <a:xfrm>
            <a:off x="5092923" y="2613842"/>
            <a:ext cx="168200" cy="186594"/>
          </a:xfrm>
          <a:prstGeom prst="rect">
            <a:avLst/>
          </a:prstGeom>
        </p:spPr>
      </p:pic>
      <p:sp>
        <p:nvSpPr>
          <p:cNvPr id="71" name="직사각형 70"/>
          <p:cNvSpPr/>
          <p:nvPr/>
        </p:nvSpPr>
        <p:spPr>
          <a:xfrm>
            <a:off x="5086682" y="2217638"/>
            <a:ext cx="1244529" cy="63309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5092923" y="2089781"/>
            <a:ext cx="833970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R="0" lvl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공정검색 옵션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4214780" y="2893221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</a:p>
        </p:txBody>
      </p:sp>
      <p:sp>
        <p:nvSpPr>
          <p:cNvPr id="72" name="직사각형 71"/>
          <p:cNvSpPr/>
          <p:nvPr/>
        </p:nvSpPr>
        <p:spPr bwMode="auto">
          <a:xfrm>
            <a:off x="1776641" y="2958831"/>
            <a:ext cx="629578" cy="199866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dirty="0" smtClean="0">
                <a:solidFill>
                  <a:srgbClr val="000000"/>
                </a:solidFill>
                <a:latin typeface="+mn-ea"/>
              </a:rPr>
              <a:t>□ </a:t>
            </a:r>
            <a:r>
              <a:rPr kumimoji="1" lang="en-US" altLang="ko-KR" sz="800" dirty="0" smtClean="0">
                <a:solidFill>
                  <a:srgbClr val="000000"/>
                </a:solidFill>
                <a:latin typeface="+mn-ea"/>
              </a:rPr>
              <a:t>NG </a:t>
            </a:r>
            <a:r>
              <a:rPr kumimoji="1" lang="ko-KR" altLang="en-US" sz="800" dirty="0" smtClean="0">
                <a:solidFill>
                  <a:srgbClr val="000000"/>
                </a:solidFill>
                <a:latin typeface="+mn-ea"/>
              </a:rPr>
              <a:t>셀</a:t>
            </a:r>
            <a:endParaRPr kumimoji="1" lang="ko-KR" alt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2175844" y="2700614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6218557" y="2341673"/>
            <a:ext cx="60255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설비명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6852226" y="2343712"/>
            <a:ext cx="544953" cy="219141"/>
            <a:chOff x="1521240" y="2256925"/>
            <a:chExt cx="1053765" cy="219141"/>
          </a:xfrm>
        </p:grpSpPr>
        <p:sp>
          <p:nvSpPr>
            <p:cNvPr id="76" name="직사각형 75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77" name="그림 76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78" name="직사각형 77"/>
          <p:cNvSpPr/>
          <p:nvPr/>
        </p:nvSpPr>
        <p:spPr>
          <a:xfrm>
            <a:off x="3004691" y="2115269"/>
            <a:ext cx="833970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R="0" lvl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검색 조건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2770424" y="2249017"/>
            <a:ext cx="2250491" cy="93498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>
            <a:off x="7129027" y="2316270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endParaRPr lang="en-US" altLang="ko-KR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118259" y="2831517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6666770" y="277317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7212461" y="27912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6529472" y="2547317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2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RPT-08</a:t>
            </a:r>
            <a:endParaRPr lang="ko-KR" altLang="en-US" dirty="0"/>
          </a:p>
        </p:txBody>
      </p:sp>
      <p:grpSp>
        <p:nvGrpSpPr>
          <p:cNvPr id="84" name="그룹 83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85" name="위쪽 화살표 84">
              <a:hlinkClick r:id="rId7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Cell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lang="ko-KR" altLang="en-US" dirty="0" err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공정별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작업 실적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정보 조회에서 선택된 행에 대한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정보 검색 조회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결과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Process Step Info 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결과 </a:t>
            </a:r>
            <a:r>
              <a:rPr lang="ko-KR" altLang="en-US" sz="900" b="1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그리드에서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행 선택 더블 </a:t>
            </a:r>
            <a:r>
              <a:rPr lang="ko-KR" altLang="en-US" sz="900" b="1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클릭시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해당하는 공정의 측정 정보가 아래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Cell 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Data </a:t>
            </a:r>
            <a:r>
              <a:rPr lang="ko-KR" altLang="en-US" sz="900" b="1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표시됨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viCellProcData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Cell </a:t>
            </a:r>
            <a:r>
              <a:rPr lang="ko-KR" altLang="en-US" dirty="0" smtClean="0"/>
              <a:t>공정 정보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2024.03.20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Cell </a:t>
            </a:r>
            <a:r>
              <a:rPr lang="ko-KR" altLang="en-US" dirty="0" smtClean="0"/>
              <a:t>공정 정보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2" y="1102584"/>
            <a:ext cx="1436548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340396" y="2943561"/>
            <a:ext cx="2232247" cy="3708212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40395" y="1881345"/>
            <a:ext cx="709227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    Cell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공정</a:t>
            </a:r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정보 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340395" y="2114394"/>
            <a:ext cx="7092279" cy="484012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/>
        </p:nvGraphicFramePr>
        <p:xfrm>
          <a:off x="2644651" y="2978641"/>
          <a:ext cx="4752528" cy="2521009"/>
        </p:xfrm>
        <a:graphic>
          <a:graphicData uri="http://schemas.openxmlformats.org/drawingml/2006/table">
            <a:tbl>
              <a:tblPr/>
              <a:tblGrid>
                <a:gridCol w="144016"/>
                <a:gridCol w="360040"/>
                <a:gridCol w="648072"/>
                <a:gridCol w="720080"/>
                <a:gridCol w="864096"/>
                <a:gridCol w="432048"/>
                <a:gridCol w="470119"/>
                <a:gridCol w="465985"/>
                <a:gridCol w="360040"/>
                <a:gridCol w="288032"/>
              </a:tblGrid>
              <a:tr h="281617"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Proc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공정명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시작시간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종료시간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설비명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Jig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Cell No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재작업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등급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IR/OCV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20:59: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9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Charge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20: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20:59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Discharge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204-03-17 21:0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2024-03-17 21:02: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661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4" name="그룹 33"/>
          <p:cNvGrpSpPr/>
          <p:nvPr/>
        </p:nvGrpSpPr>
        <p:grpSpPr>
          <a:xfrm>
            <a:off x="6114393" y="2219421"/>
            <a:ext cx="521265" cy="305715"/>
            <a:chOff x="7184999" y="5833168"/>
            <a:chExt cx="818035" cy="320360"/>
          </a:xfrm>
        </p:grpSpPr>
        <p:pic>
          <p:nvPicPr>
            <p:cNvPr id="35" name="그림 34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36" name="직사각형 35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검색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749107" y="2219421"/>
            <a:ext cx="521265" cy="305715"/>
            <a:chOff x="7184999" y="5833168"/>
            <a:chExt cx="818035" cy="320360"/>
          </a:xfrm>
        </p:grpSpPr>
        <p:pic>
          <p:nvPicPr>
            <p:cNvPr id="38" name="그림 37"/>
            <p:cNvPicPr>
              <a:picLocks noChangeAspect="1"/>
            </p:cNvPicPr>
            <p:nvPr/>
          </p:nvPicPr>
          <p:blipFill rotWithShape="1">
            <a:blip r:embed="rId3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39" name="직사각형 38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직사각형 39"/>
          <p:cNvSpPr/>
          <p:nvPr/>
        </p:nvSpPr>
        <p:spPr bwMode="auto">
          <a:xfrm>
            <a:off x="2644651" y="2709426"/>
            <a:ext cx="4752528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</a:t>
            </a:r>
            <a:r>
              <a:rPr lang="en-US" altLang="ko-KR" sz="1200" b="1" dirty="0" smtClean="0">
                <a:solidFill>
                  <a:prstClr val="white"/>
                </a:solidFill>
                <a:latin typeface="+mn-ea"/>
              </a:rPr>
              <a:t>Process Step Info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 bwMode="auto">
          <a:xfrm>
            <a:off x="340395" y="2709425"/>
            <a:ext cx="2232248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Cell </a:t>
            </a:r>
            <a:r>
              <a:rPr lang="en-US" altLang="ko-KR" sz="1200" b="1" dirty="0" smtClean="0">
                <a:solidFill>
                  <a:prstClr val="white"/>
                </a:solidFill>
                <a:latin typeface="+mn-ea"/>
              </a:rPr>
              <a:t>Info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1310620" y="3056317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ABC116102305PC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1310620" y="3822151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POUCH24011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12403" y="3033987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Cell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412403" y="3801811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Model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1310620" y="4085891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P101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1310620" y="4339613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OCV #1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12403" y="405752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Route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412403" y="431323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현재 공정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1310620" y="4603353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Charge #1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1310620" y="4867093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2024.03.17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12403" y="460618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다음 공정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412403" y="4871913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 일자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1310620" y="5130833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20:01:27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12403" y="5127625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smtClean="0">
                <a:solidFill>
                  <a:srgbClr val="000000"/>
                </a:solidFill>
                <a:latin typeface="+mn-ea"/>
              </a:rPr>
              <a:t>투입 시간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60" name="표 59"/>
          <p:cNvGraphicFramePr>
            <a:graphicFrameLocks noGrp="1"/>
          </p:cNvGraphicFramePr>
          <p:nvPr/>
        </p:nvGraphicFramePr>
        <p:xfrm>
          <a:off x="2661635" y="5931695"/>
          <a:ext cx="1855224" cy="732208"/>
        </p:xfrm>
        <a:graphic>
          <a:graphicData uri="http://schemas.openxmlformats.org/drawingml/2006/table">
            <a:tbl>
              <a:tblPr/>
              <a:tblGrid>
                <a:gridCol w="415064"/>
                <a:gridCol w="1440160"/>
              </a:tblGrid>
              <a:tr h="2580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58092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OCV(mV)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60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352.90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직사각형 60"/>
          <p:cNvSpPr/>
          <p:nvPr/>
        </p:nvSpPr>
        <p:spPr bwMode="auto">
          <a:xfrm>
            <a:off x="2644651" y="5599144"/>
            <a:ext cx="4752528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</a:t>
            </a:r>
            <a:r>
              <a:rPr lang="en-US" altLang="ko-KR" sz="1200" b="1" dirty="0" smtClean="0">
                <a:solidFill>
                  <a:prstClr val="white"/>
                </a:solidFill>
                <a:latin typeface="+mn-ea"/>
              </a:rPr>
              <a:t>Cell Data</a:t>
            </a:r>
            <a:endParaRPr lang="ko-KR" altLang="en-US" sz="12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326183" y="20179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6961520" y="203479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5" name="직사각형 54"/>
          <p:cNvSpPr/>
          <p:nvPr/>
        </p:nvSpPr>
        <p:spPr bwMode="auto">
          <a:xfrm>
            <a:off x="1310620" y="3575769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>
                <a:solidFill>
                  <a:srgbClr val="000000"/>
                </a:solidFill>
                <a:latin typeface="+mn-ea"/>
              </a:rPr>
              <a:t>1Line-01Bay-01Jig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12403" y="3555429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ko-KR" altLang="en-US" sz="800" b="1" dirty="0" err="1" smtClean="0">
                <a:solidFill>
                  <a:srgbClr val="000000"/>
                </a:solidFill>
                <a:latin typeface="+mn-ea"/>
              </a:rPr>
              <a:t>작업설비명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RPT-09</a:t>
            </a:r>
            <a:endParaRPr lang="ko-KR" altLang="en-US" dirty="0"/>
          </a:p>
        </p:txBody>
      </p:sp>
      <p:sp>
        <p:nvSpPr>
          <p:cNvPr id="59" name="직사각형 58"/>
          <p:cNvSpPr/>
          <p:nvPr/>
        </p:nvSpPr>
        <p:spPr bwMode="auto">
          <a:xfrm>
            <a:off x="1310620" y="3322047"/>
            <a:ext cx="1032098" cy="197667"/>
          </a:xfrm>
          <a:prstGeom prst="rect">
            <a:avLst/>
          </a:prstGeom>
          <a:noFill/>
          <a:ln w="3175" algn="ctr">
            <a:solidFill>
              <a:schemeClr val="bg1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txBody>
          <a:bodyPr lIns="72000" tIns="0" rIns="36000" bIns="0" rtlCol="0" anchor="ctr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JFOJIG000000001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12403" y="3299717"/>
            <a:ext cx="110838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</a:pPr>
            <a:r>
              <a:rPr kumimoji="1" lang="en-US" altLang="ko-KR" sz="800" b="1" dirty="0" smtClean="0">
                <a:solidFill>
                  <a:srgbClr val="000000"/>
                </a:solidFill>
                <a:latin typeface="+mn-ea"/>
              </a:rPr>
              <a:t>Jig ID</a:t>
            </a:r>
            <a:endParaRPr kumimoji="1" lang="ko-KR" altLang="en-US" sz="8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63" name="그룹 62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64" name="위쪽 화살표 63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Tray/Jig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별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실 처리 정보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1, To: Today + 1 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전 후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일 설정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생산중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생산완료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ID 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Tray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ID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란에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입력시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(Key Down)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생산중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생산완료 옵션을 제외한 모든 조회조건이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Unvisible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함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All/Tray/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Jid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 옵션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결과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오른쪽에는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에 등록된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공정별로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결과값이 보여짐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입력한 조회 조건으로 검색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 저장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결과 엑셀파일로 저장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viCellProcData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Tray/Jig</a:t>
            </a:r>
            <a:r>
              <a:rPr lang="ko-KR" altLang="en-US" dirty="0" smtClean="0"/>
              <a:t>별 </a:t>
            </a:r>
            <a:r>
              <a:rPr lang="en-US" altLang="ko-KR" dirty="0" smtClean="0"/>
              <a:t>Cell </a:t>
            </a:r>
            <a:r>
              <a:rPr lang="ko-KR" altLang="en-US" dirty="0" smtClean="0"/>
              <a:t>정보 조회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2024.03.20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Tray/Jig </a:t>
            </a:r>
            <a:r>
              <a:rPr lang="ko-KR" altLang="en-US" dirty="0" smtClean="0"/>
              <a:t>별 </a:t>
            </a:r>
            <a:r>
              <a:rPr lang="en-US" altLang="ko-KR" dirty="0" smtClean="0"/>
              <a:t>Cell </a:t>
            </a:r>
            <a:r>
              <a:rPr lang="ko-KR" altLang="en-US" dirty="0" smtClean="0"/>
              <a:t>정보 조회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45638" y="1102584"/>
            <a:ext cx="1419493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340395" y="1881345"/>
            <a:ext cx="709227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 Tray/Jig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별 </a:t>
            </a:r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Cell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정보 조회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40395" y="2114393"/>
            <a:ext cx="7092279" cy="1225012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2293" y="2329611"/>
            <a:ext cx="72973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조회 기간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75920" y="2329611"/>
            <a:ext cx="544795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모델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3220715" y="2359759"/>
            <a:ext cx="585751" cy="219141"/>
            <a:chOff x="1521240" y="2256925"/>
            <a:chExt cx="1053765" cy="219141"/>
          </a:xfrm>
        </p:grpSpPr>
        <p:sp>
          <p:nvSpPr>
            <p:cNvPr id="18" name="직사각형 17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1420514" y="3449999"/>
          <a:ext cx="6008285" cy="2804919"/>
        </p:xfrm>
        <a:graphic>
          <a:graphicData uri="http://schemas.openxmlformats.org/drawingml/2006/table">
            <a:tbl>
              <a:tblPr/>
              <a:tblGrid>
                <a:gridCol w="144016"/>
                <a:gridCol w="576064"/>
                <a:gridCol w="360040"/>
                <a:gridCol w="428174"/>
                <a:gridCol w="432048"/>
                <a:gridCol w="504056"/>
                <a:gridCol w="504056"/>
                <a:gridCol w="504056"/>
                <a:gridCol w="360040"/>
                <a:gridCol w="432048"/>
                <a:gridCol w="507930"/>
                <a:gridCol w="356166"/>
                <a:gridCol w="504056"/>
                <a:gridCol w="395535"/>
              </a:tblGrid>
              <a:tr h="0">
                <a:tc rowSpan="2"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Cell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Cell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 No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Model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Route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Jig ID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Input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 Date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Input Time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Grade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OCV #1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360764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시작 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종료 시간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설비명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OCV(mV)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IR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HAB01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PJ01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TRAY001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2024-03-11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18:00:05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A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CELLABC007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타원 20"/>
          <p:cNvSpPr/>
          <p:nvPr/>
        </p:nvSpPr>
        <p:spPr>
          <a:xfrm>
            <a:off x="1278778" y="2088171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3514727" y="2312662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1022031" y="2358634"/>
            <a:ext cx="709156" cy="178519"/>
            <a:chOff x="2600786" y="2524392"/>
            <a:chExt cx="1032098" cy="197667"/>
          </a:xfrm>
        </p:grpSpPr>
        <p:sp>
          <p:nvSpPr>
            <p:cNvPr id="24" name="직사각형 23"/>
            <p:cNvSpPr/>
            <p:nvPr/>
          </p:nvSpPr>
          <p:spPr bwMode="auto">
            <a:xfrm>
              <a:off x="2600786" y="2524392"/>
              <a:ext cx="1032098" cy="197667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- 1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26" name="직사각형 25"/>
          <p:cNvSpPr/>
          <p:nvPr/>
        </p:nvSpPr>
        <p:spPr>
          <a:xfrm>
            <a:off x="1769652" y="2309353"/>
            <a:ext cx="221301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~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1957096" y="2363406"/>
            <a:ext cx="771781" cy="181545"/>
            <a:chOff x="2600785" y="2524392"/>
            <a:chExt cx="1022827" cy="188036"/>
          </a:xfrm>
        </p:grpSpPr>
        <p:sp>
          <p:nvSpPr>
            <p:cNvPr id="28" name="직사각형 27"/>
            <p:cNvSpPr/>
            <p:nvPr/>
          </p:nvSpPr>
          <p:spPr bwMode="auto">
            <a:xfrm>
              <a:off x="2600785" y="2524392"/>
              <a:ext cx="876347" cy="179959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+ 1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9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30" name="직사각형 29"/>
          <p:cNvSpPr/>
          <p:nvPr/>
        </p:nvSpPr>
        <p:spPr>
          <a:xfrm>
            <a:off x="3724771" y="2324421"/>
            <a:ext cx="709644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ko-KR" sz="800" b="1" kern="0" dirty="0" smtClean="0">
                <a:solidFill>
                  <a:prstClr val="black"/>
                </a:solidFill>
              </a:rPr>
              <a:t>Route ID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4434415" y="2354569"/>
            <a:ext cx="544953" cy="219141"/>
            <a:chOff x="1521240" y="2256925"/>
            <a:chExt cx="1053765" cy="219141"/>
          </a:xfrm>
        </p:grpSpPr>
        <p:sp>
          <p:nvSpPr>
            <p:cNvPr id="32" name="직사각형 31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4" name="직사각형 33"/>
          <p:cNvSpPr/>
          <p:nvPr/>
        </p:nvSpPr>
        <p:spPr>
          <a:xfrm>
            <a:off x="5086681" y="2350327"/>
            <a:ext cx="60255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ko-KR" altLang="en-US" sz="800" b="1" kern="0" dirty="0" err="1" smtClean="0">
                <a:solidFill>
                  <a:prstClr val="black"/>
                </a:solidFill>
              </a:rPr>
              <a:t>공정</a:t>
            </a:r>
            <a:r>
              <a:rPr lang="ko-KR" altLang="en-US" sz="800" b="1" kern="0" dirty="0" err="1">
                <a:solidFill>
                  <a:prstClr val="black"/>
                </a:solidFill>
              </a:rPr>
              <a:t>명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5720350" y="2352366"/>
            <a:ext cx="544953" cy="219141"/>
            <a:chOff x="1521240" y="2256925"/>
            <a:chExt cx="1053765" cy="219141"/>
          </a:xfrm>
        </p:grpSpPr>
        <p:sp>
          <p:nvSpPr>
            <p:cNvPr id="36" name="직사각형 35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38" name="그룹 37"/>
          <p:cNvGrpSpPr/>
          <p:nvPr/>
        </p:nvGrpSpPr>
        <p:grpSpPr>
          <a:xfrm>
            <a:off x="2675919" y="2928287"/>
            <a:ext cx="1732043" cy="255712"/>
            <a:chOff x="2287629" y="2723653"/>
            <a:chExt cx="1262996" cy="255712"/>
          </a:xfrm>
        </p:grpSpPr>
        <p:sp>
          <p:nvSpPr>
            <p:cNvPr id="39" name="직사각형 38"/>
            <p:cNvSpPr/>
            <p:nvPr/>
          </p:nvSpPr>
          <p:spPr>
            <a:xfrm>
              <a:off x="2287629" y="2723653"/>
              <a:ext cx="653921" cy="255712"/>
            </a:xfrm>
            <a:prstGeom prst="rect">
              <a:avLst/>
            </a:prstGeom>
            <a:noFill/>
          </p:spPr>
          <p:txBody>
            <a:bodyPr wrap="square" lIns="72000" tIns="0" rIns="36000" bIns="0" anchor="ctr" anchorCtr="0">
              <a:noAutofit/>
            </a:bodyPr>
            <a:lstStyle/>
            <a:p>
              <a:pPr marL="171450" marR="0" lvl="0" indent="-17145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white">
                    <a:lumMod val="50000"/>
                  </a:prstClr>
                </a:buClr>
                <a:buSzTx/>
                <a:buFont typeface="Wingdings" panose="05000000000000000000" pitchFamily="2" charset="2"/>
                <a:buChar char="l"/>
                <a:defRPr/>
              </a:pPr>
              <a:r>
                <a:rPr lang="en-US" altLang="ko-KR" sz="800" b="1" kern="0" dirty="0" smtClean="0">
                  <a:solidFill>
                    <a:prstClr val="black"/>
                  </a:solidFill>
                </a:rPr>
                <a:t>Tray/Jig ID</a:t>
              </a:r>
              <a:endPara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직사각형 39"/>
            <p:cNvSpPr/>
            <p:nvPr/>
          </p:nvSpPr>
          <p:spPr bwMode="auto">
            <a:xfrm>
              <a:off x="2979361" y="2743253"/>
              <a:ext cx="571264" cy="16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518085" y="2692612"/>
            <a:ext cx="530915" cy="2732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 err="1" smtClean="0">
                <a:solidFill>
                  <a:srgbClr val="000000"/>
                </a:solidFill>
                <a:latin typeface="+mn-ea"/>
              </a:rPr>
              <a:t>생산</a:t>
            </a:r>
            <a:r>
              <a:rPr kumimoji="1" lang="ko-KR" altLang="en-US" sz="900" b="1" dirty="0" err="1">
                <a:solidFill>
                  <a:srgbClr val="000000"/>
                </a:solidFill>
                <a:latin typeface="+mn-ea"/>
              </a:rPr>
              <a:t>중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988467" y="2692612"/>
            <a:ext cx="812074" cy="273280"/>
            <a:chOff x="828295" y="3952973"/>
            <a:chExt cx="812074" cy="273280"/>
          </a:xfrm>
        </p:grpSpPr>
        <p:sp>
          <p:nvSpPr>
            <p:cNvPr id="43" name="직사각형 42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생산 완료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44" name="그림 43"/>
            <p:cNvPicPr>
              <a:picLocks noChangeAspect="1"/>
            </p:cNvPicPr>
            <p:nvPr/>
          </p:nvPicPr>
          <p:blipFill rotWithShape="1">
            <a:blip r:embed="rId5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45" name="그룹 44"/>
          <p:cNvGrpSpPr/>
          <p:nvPr/>
        </p:nvGrpSpPr>
        <p:grpSpPr>
          <a:xfrm>
            <a:off x="6893123" y="2947037"/>
            <a:ext cx="521265" cy="320360"/>
            <a:chOff x="7184999" y="5833168"/>
            <a:chExt cx="818035" cy="320360"/>
          </a:xfrm>
        </p:grpSpPr>
        <p:pic>
          <p:nvPicPr>
            <p:cNvPr id="46" name="그림 45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47" name="직사각형 46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5769300" y="2947037"/>
            <a:ext cx="521265" cy="320360"/>
            <a:chOff x="7184999" y="5833168"/>
            <a:chExt cx="818035" cy="320360"/>
          </a:xfrm>
        </p:grpSpPr>
        <p:pic>
          <p:nvPicPr>
            <p:cNvPr id="49" name="그림 48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검색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6331211" y="2947037"/>
            <a:ext cx="521265" cy="320360"/>
            <a:chOff x="7184999" y="5833168"/>
            <a:chExt cx="818035" cy="320360"/>
          </a:xfrm>
        </p:grpSpPr>
        <p:pic>
          <p:nvPicPr>
            <p:cNvPr id="52" name="그림 51"/>
            <p:cNvPicPr>
              <a:picLocks noChangeAspect="1"/>
            </p:cNvPicPr>
            <p:nvPr/>
          </p:nvPicPr>
          <p:blipFill rotWithShape="1">
            <a:blip r:embed="rId6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53" name="직사각형 52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엑셀저</a:t>
              </a:r>
              <a:r>
                <a:rPr lang="ko-KR" altLang="en-US" sz="1000" b="1" kern="0" dirty="0">
                  <a:solidFill>
                    <a:prstClr val="white"/>
                  </a:solidFill>
                </a:rPr>
                <a:t>장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54" name="그림 53"/>
          <p:cNvPicPr>
            <a:picLocks noChangeAspect="1"/>
          </p:cNvPicPr>
          <p:nvPr/>
        </p:nvPicPr>
        <p:blipFill rotWithShape="1">
          <a:blip r:embed="rId5" cstate="print"/>
          <a:srcRect l="21758" t="7839" r="7058" b="50568"/>
          <a:stretch>
            <a:fillRect/>
          </a:stretch>
        </p:blipFill>
        <p:spPr>
          <a:xfrm>
            <a:off x="433985" y="2770041"/>
            <a:ext cx="168200" cy="186594"/>
          </a:xfrm>
          <a:prstGeom prst="rect">
            <a:avLst/>
          </a:prstGeom>
        </p:spPr>
      </p:pic>
      <p:sp>
        <p:nvSpPr>
          <p:cNvPr id="55" name="타원 54"/>
          <p:cNvSpPr/>
          <p:nvPr/>
        </p:nvSpPr>
        <p:spPr>
          <a:xfrm>
            <a:off x="4752118" y="2329264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894758" y="234474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1776944" y="269133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5202435" y="2540761"/>
            <a:ext cx="686406" cy="2732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dirty="0" smtClean="0">
                <a:solidFill>
                  <a:srgbClr val="000000"/>
                </a:solidFill>
                <a:latin typeface="+mn-ea"/>
              </a:rPr>
              <a:t>현재 공정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5800547" y="2540761"/>
            <a:ext cx="804544" cy="273280"/>
            <a:chOff x="835825" y="3952973"/>
            <a:chExt cx="804544" cy="273280"/>
          </a:xfrm>
        </p:grpSpPr>
        <p:sp>
          <p:nvSpPr>
            <p:cNvPr id="60" name="직사각형 59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공정 완료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61" name="그림 60"/>
            <p:cNvPicPr>
              <a:picLocks noChangeAspect="1"/>
            </p:cNvPicPr>
            <p:nvPr/>
          </p:nvPicPr>
          <p:blipFill rotWithShape="1">
            <a:blip r:embed="rId5" cstate="print"/>
            <a:srcRect l="21758" t="58092" r="7058" b="6271"/>
            <a:stretch>
              <a:fillRect/>
            </a:stretch>
          </p:blipFill>
          <p:spPr>
            <a:xfrm>
              <a:off x="835825" y="4043628"/>
              <a:ext cx="168200" cy="159873"/>
            </a:xfrm>
            <a:prstGeom prst="rect">
              <a:avLst/>
            </a:prstGeom>
          </p:spPr>
        </p:pic>
      </p:grp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5" cstate="print"/>
          <a:srcRect l="21758" t="7839" r="7058" b="50568"/>
          <a:stretch>
            <a:fillRect/>
          </a:stretch>
        </p:blipFill>
        <p:spPr>
          <a:xfrm>
            <a:off x="5092923" y="2613842"/>
            <a:ext cx="168200" cy="186594"/>
          </a:xfrm>
          <a:prstGeom prst="rect">
            <a:avLst/>
          </a:prstGeom>
        </p:spPr>
      </p:pic>
      <p:sp>
        <p:nvSpPr>
          <p:cNvPr id="63" name="직사각형 62"/>
          <p:cNvSpPr/>
          <p:nvPr/>
        </p:nvSpPr>
        <p:spPr>
          <a:xfrm>
            <a:off x="5086682" y="2217638"/>
            <a:ext cx="1244529" cy="63309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5092923" y="2089781"/>
            <a:ext cx="833970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R="0" lvl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공정검색 옵션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4214780" y="292494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218557" y="2341673"/>
            <a:ext cx="60255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설비명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69" name="그룹 68"/>
          <p:cNvGrpSpPr/>
          <p:nvPr/>
        </p:nvGrpSpPr>
        <p:grpSpPr>
          <a:xfrm>
            <a:off x="6852226" y="2343712"/>
            <a:ext cx="544953" cy="219141"/>
            <a:chOff x="1521240" y="2256925"/>
            <a:chExt cx="1053765" cy="219141"/>
          </a:xfrm>
        </p:grpSpPr>
        <p:sp>
          <p:nvSpPr>
            <p:cNvPr id="70" name="직사각형 69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72" name="직사각형 71"/>
          <p:cNvSpPr/>
          <p:nvPr/>
        </p:nvSpPr>
        <p:spPr>
          <a:xfrm>
            <a:off x="3004691" y="2115269"/>
            <a:ext cx="833970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R="0" lvl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검색 조건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770424" y="2249017"/>
            <a:ext cx="2250491" cy="93498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/>
          <p:cNvSpPr/>
          <p:nvPr/>
        </p:nvSpPr>
        <p:spPr>
          <a:xfrm>
            <a:off x="7129027" y="2316270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en-US" altLang="ko-KR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6118259" y="276334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6666770" y="277317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7212461" y="27912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7043937" y="341141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</a:p>
        </p:txBody>
      </p:sp>
      <p:graphicFrame>
        <p:nvGraphicFramePr>
          <p:cNvPr id="146" name="표 145"/>
          <p:cNvGraphicFramePr>
            <a:graphicFrameLocks noGrp="1"/>
          </p:cNvGraphicFramePr>
          <p:nvPr/>
        </p:nvGraphicFramePr>
        <p:xfrm>
          <a:off x="312293" y="3449999"/>
          <a:ext cx="1036214" cy="2837190"/>
        </p:xfrm>
        <a:graphic>
          <a:graphicData uri="http://schemas.openxmlformats.org/drawingml/2006/table">
            <a:tbl>
              <a:tblPr/>
              <a:tblGrid>
                <a:gridCol w="159418"/>
                <a:gridCol w="876796"/>
              </a:tblGrid>
              <a:tr h="460926"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Tray/Jig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HFORTRAY0001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9F6"/>
                    </a:solidFill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HFORTRAY0002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HFORTRAY0003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03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HFORTRAY0004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04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0433"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RPT-10</a:t>
            </a:r>
            <a:endParaRPr lang="ko-KR" altLang="en-US" dirty="0"/>
          </a:p>
        </p:txBody>
      </p:sp>
      <p:sp>
        <p:nvSpPr>
          <p:cNvPr id="80" name="직사각형 79"/>
          <p:cNvSpPr/>
          <p:nvPr/>
        </p:nvSpPr>
        <p:spPr>
          <a:xfrm>
            <a:off x="340395" y="2979365"/>
            <a:ext cx="511679" cy="34624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dirty="0" smtClean="0">
                <a:solidFill>
                  <a:srgbClr val="000000"/>
                </a:solidFill>
                <a:latin typeface="+mn-ea"/>
              </a:rPr>
              <a:t>□</a:t>
            </a:r>
            <a:r>
              <a:rPr kumimoji="1" lang="ko-KR" altLang="en-US" sz="900" b="1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ko-KR" sz="900" b="1" dirty="0" smtClean="0">
                <a:solidFill>
                  <a:srgbClr val="000000"/>
                </a:solidFill>
                <a:latin typeface="+mn-ea"/>
              </a:rPr>
              <a:t>All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445577" y="3123381"/>
            <a:ext cx="46795" cy="1030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/>
          <p:nvPr/>
        </p:nvCxnSpPr>
        <p:spPr>
          <a:xfrm flipH="1">
            <a:off x="509624" y="3123381"/>
            <a:ext cx="25713" cy="10303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836828" y="2979365"/>
            <a:ext cx="603050" cy="31354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dirty="0" smtClean="0">
                <a:solidFill>
                  <a:srgbClr val="000000"/>
                </a:solidFill>
                <a:latin typeface="+mn-ea"/>
              </a:rPr>
              <a:t>□</a:t>
            </a:r>
            <a:r>
              <a:rPr kumimoji="1" lang="ko-KR" altLang="en-US" sz="900" b="1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ko-KR" sz="900" b="1" dirty="0" smtClean="0">
                <a:solidFill>
                  <a:srgbClr val="000000"/>
                </a:solidFill>
                <a:latin typeface="+mn-ea"/>
              </a:rPr>
              <a:t>Tray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1332869" y="2979365"/>
            <a:ext cx="519694" cy="31354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dirty="0" smtClean="0">
                <a:solidFill>
                  <a:srgbClr val="000000"/>
                </a:solidFill>
                <a:latin typeface="+mn-ea"/>
              </a:rPr>
              <a:t>□</a:t>
            </a:r>
            <a:r>
              <a:rPr kumimoji="1" lang="ko-KR" altLang="en-US" sz="900" b="1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ko-KR" sz="900" b="1" dirty="0" smtClean="0">
                <a:solidFill>
                  <a:srgbClr val="000000"/>
                </a:solidFill>
                <a:latin typeface="+mn-ea"/>
              </a:rPr>
              <a:t>Jig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3" name="타원 92"/>
          <p:cNvSpPr/>
          <p:nvPr/>
        </p:nvSpPr>
        <p:spPr>
          <a:xfrm>
            <a:off x="1852563" y="304290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81" name="그룹 80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82" name="위쪽 화살표 81">
              <a:hlinkClick r:id="rId7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공정별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생산 실적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1,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To: Today(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일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입력한 조회 조건으로 검색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 저장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결과 엑셀파일로 저장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공정별</a:t>
            </a:r>
            <a:r>
              <a:rPr lang="ko-KR" altLang="en-US" dirty="0" smtClean="0"/>
              <a:t> 생</a:t>
            </a:r>
            <a:r>
              <a:rPr lang="ko-KR" altLang="en-US" dirty="0"/>
              <a:t>산</a:t>
            </a:r>
            <a:r>
              <a:rPr lang="ko-KR" altLang="en-US" dirty="0" smtClean="0"/>
              <a:t> 현황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공정별</a:t>
            </a:r>
            <a:r>
              <a:rPr lang="ko-KR" altLang="en-US" dirty="0" smtClean="0"/>
              <a:t> 생산 현황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03" y="2043262"/>
            <a:ext cx="6840759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516859" y="2475309"/>
            <a:ext cx="79208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212603" y="224190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3220715" y="2251805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sp>
        <p:nvSpPr>
          <p:cNvPr id="15" name="타원 14"/>
          <p:cNvSpPr/>
          <p:nvPr/>
        </p:nvSpPr>
        <p:spPr>
          <a:xfrm>
            <a:off x="4156819" y="22619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241440" y="2241905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666770" y="2251735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7109147" y="225081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RPT-11</a:t>
            </a:r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2" name="위쪽 화살표 21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모델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Route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별 공정 실적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1, To: Today(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일 설정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입력한 조회 조건으로 검색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 저장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결과 엑셀파일로 저장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tTrayCurr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tCellCurrR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공정 실적 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공정 실적 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54" y="1971253"/>
            <a:ext cx="6768752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38754" y="2673331"/>
            <a:ext cx="621721" cy="3780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2212603" y="2115270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3220715" y="21251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sp>
        <p:nvSpPr>
          <p:cNvPr id="15" name="타원 14"/>
          <p:cNvSpPr/>
          <p:nvPr/>
        </p:nvSpPr>
        <p:spPr>
          <a:xfrm>
            <a:off x="4156819" y="213533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241440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666770" y="212509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7109147" y="2124182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988467" y="2484311"/>
            <a:ext cx="936104" cy="945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RPT-12</a:t>
            </a:r>
            <a:endParaRPr lang="ko-KR" altLang="en-US" dirty="0"/>
          </a:p>
        </p:txBody>
      </p:sp>
      <p:grpSp>
        <p:nvGrpSpPr>
          <p:cNvPr id="22" name="그룹 21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3" name="위쪽 화살표 22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부적합률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1,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To: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Today + 1 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전 후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일 설정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입력한 조회 조건으로 검색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 저장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결과 엑셀파일로 저장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부적합률 조회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부적합률 조회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493702" y="1102584"/>
            <a:ext cx="1471429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340395" y="1881345"/>
            <a:ext cx="709227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    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부적합률 조회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40395" y="2114393"/>
            <a:ext cx="7092279" cy="576940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2293" y="2329611"/>
            <a:ext cx="72973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조회 기간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44651" y="2329611"/>
            <a:ext cx="544795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모델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3230993" y="2359759"/>
            <a:ext cx="585751" cy="219141"/>
            <a:chOff x="1521240" y="2256925"/>
            <a:chExt cx="1053765" cy="219141"/>
          </a:xfrm>
        </p:grpSpPr>
        <p:sp>
          <p:nvSpPr>
            <p:cNvPr id="18" name="직사각형 17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340395" y="2763341"/>
          <a:ext cx="7067578" cy="3024336"/>
        </p:xfrm>
        <a:graphic>
          <a:graphicData uri="http://schemas.openxmlformats.org/drawingml/2006/table">
            <a:tbl>
              <a:tblPr/>
              <a:tblGrid>
                <a:gridCol w="288032"/>
                <a:gridCol w="864096"/>
                <a:gridCol w="576064"/>
                <a:gridCol w="1080120"/>
                <a:gridCol w="999673"/>
                <a:gridCol w="794576"/>
                <a:gridCol w="842853"/>
                <a:gridCol w="852828"/>
                <a:gridCol w="769336"/>
              </a:tblGrid>
              <a:tr h="460121"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모델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Route</a:t>
                      </a:r>
                      <a:r>
                        <a:rPr lang="en-US" altLang="ko-KR" sz="700" b="1" i="0" u="none" strike="noStrike" kern="1200" baseline="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공정명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투입</a:t>
                      </a: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Cell </a:t>
                      </a: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수량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양품 수량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재작업</a:t>
                      </a: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 수량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불량품 수량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불량률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008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타원 22"/>
          <p:cNvSpPr/>
          <p:nvPr/>
        </p:nvSpPr>
        <p:spPr>
          <a:xfrm>
            <a:off x="3525005" y="2312662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1022031" y="2358634"/>
            <a:ext cx="709156" cy="178519"/>
            <a:chOff x="2600786" y="2524392"/>
            <a:chExt cx="1032098" cy="197667"/>
          </a:xfrm>
        </p:grpSpPr>
        <p:sp>
          <p:nvSpPr>
            <p:cNvPr id="25" name="직사각형 24"/>
            <p:cNvSpPr/>
            <p:nvPr/>
          </p:nvSpPr>
          <p:spPr bwMode="auto">
            <a:xfrm>
              <a:off x="2600786" y="2524392"/>
              <a:ext cx="1032098" cy="197667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- 1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28" name="직사각형 27"/>
          <p:cNvSpPr/>
          <p:nvPr/>
        </p:nvSpPr>
        <p:spPr>
          <a:xfrm>
            <a:off x="1769652" y="2309353"/>
            <a:ext cx="221301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~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1957096" y="2363406"/>
            <a:ext cx="771781" cy="181545"/>
            <a:chOff x="2600785" y="2524392"/>
            <a:chExt cx="1022827" cy="188036"/>
          </a:xfrm>
        </p:grpSpPr>
        <p:sp>
          <p:nvSpPr>
            <p:cNvPr id="31" name="직사각형 30"/>
            <p:cNvSpPr/>
            <p:nvPr/>
          </p:nvSpPr>
          <p:spPr bwMode="auto">
            <a:xfrm>
              <a:off x="2600785" y="2524392"/>
              <a:ext cx="876347" cy="179959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+ 1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2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33" name="직사각형 32"/>
          <p:cNvSpPr/>
          <p:nvPr/>
        </p:nvSpPr>
        <p:spPr>
          <a:xfrm>
            <a:off x="3735048" y="2324421"/>
            <a:ext cx="82254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ko-KR" sz="800" b="1" kern="0" dirty="0" smtClean="0">
                <a:solidFill>
                  <a:prstClr val="black"/>
                </a:solidFill>
              </a:rPr>
              <a:t>Route ID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4660717" y="2354569"/>
            <a:ext cx="688969" cy="219141"/>
            <a:chOff x="1521240" y="2256925"/>
            <a:chExt cx="1053765" cy="219141"/>
          </a:xfrm>
        </p:grpSpPr>
        <p:sp>
          <p:nvSpPr>
            <p:cNvPr id="35" name="직사각형 34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5" name="그룹 54"/>
          <p:cNvGrpSpPr/>
          <p:nvPr/>
        </p:nvGrpSpPr>
        <p:grpSpPr>
          <a:xfrm>
            <a:off x="6893123" y="2300994"/>
            <a:ext cx="521265" cy="320360"/>
            <a:chOff x="7184999" y="5833168"/>
            <a:chExt cx="818035" cy="320360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57" name="직사각형 56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5769300" y="2300994"/>
            <a:ext cx="521265" cy="320360"/>
            <a:chOff x="7184999" y="5833168"/>
            <a:chExt cx="818035" cy="320360"/>
          </a:xfrm>
        </p:grpSpPr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60" name="직사각형 5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검색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6331211" y="2300994"/>
            <a:ext cx="521265" cy="320360"/>
            <a:chOff x="7184999" y="5833168"/>
            <a:chExt cx="818035" cy="320360"/>
          </a:xfrm>
        </p:grpSpPr>
        <p:pic>
          <p:nvPicPr>
            <p:cNvPr id="62" name="그림 61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63" name="직사각형 62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엑셀저</a:t>
              </a:r>
              <a:r>
                <a:rPr lang="ko-KR" altLang="en-US" sz="1000" b="1" kern="0" dirty="0">
                  <a:solidFill>
                    <a:prstClr val="white"/>
                  </a:solidFill>
                </a:rPr>
                <a:t>장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6" name="타원 65"/>
          <p:cNvSpPr/>
          <p:nvPr/>
        </p:nvSpPr>
        <p:spPr>
          <a:xfrm>
            <a:off x="5274067" y="232282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118259" y="218547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6666770" y="212712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7212461" y="2145246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3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RPT-13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2569032" y="232282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45" name="위쪽 화살표 44">
              <a:hlinkClick r:id="rId6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Cell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등급별 판정결과 조회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1,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To: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Today + 1 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전 후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일 설정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투입시간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/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완료시간 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입력한 조회 조건으로 검색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 저장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결과 엑셀파일로 저장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tCellCurr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tMstCellGrade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판정결과 조회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2024.03.23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판정결과 조회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493702" y="1102584"/>
            <a:ext cx="1471429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340395" y="1881345"/>
            <a:ext cx="709227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    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판정결과 조회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40395" y="2114393"/>
            <a:ext cx="7092279" cy="864972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2293" y="2329611"/>
            <a:ext cx="72973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조회 기간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44651" y="2329611"/>
            <a:ext cx="544795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모델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3230993" y="2359759"/>
            <a:ext cx="585751" cy="219141"/>
            <a:chOff x="1521240" y="2256925"/>
            <a:chExt cx="1053765" cy="219141"/>
          </a:xfrm>
        </p:grpSpPr>
        <p:sp>
          <p:nvSpPr>
            <p:cNvPr id="18" name="직사각형 17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340395" y="3148151"/>
          <a:ext cx="7067580" cy="2477686"/>
        </p:xfrm>
        <a:graphic>
          <a:graphicData uri="http://schemas.openxmlformats.org/drawingml/2006/table">
            <a:tbl>
              <a:tblPr/>
              <a:tblGrid>
                <a:gridCol w="216024"/>
                <a:gridCol w="468052"/>
                <a:gridCol w="468052"/>
                <a:gridCol w="432048"/>
                <a:gridCol w="432048"/>
                <a:gridCol w="432048"/>
                <a:gridCol w="504056"/>
                <a:gridCol w="432048"/>
                <a:gridCol w="504056"/>
                <a:gridCol w="504056"/>
                <a:gridCol w="526464"/>
                <a:gridCol w="526464"/>
                <a:gridCol w="426414"/>
                <a:gridCol w="426414"/>
                <a:gridCol w="384668"/>
                <a:gridCol w="384668"/>
              </a:tblGrid>
              <a:tr h="460121"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모델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Route ID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투입시간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완료시간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투입수량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불량수량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현재수량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현재 수량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A Grade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B Grade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C Grade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D Grade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E Grade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F Grade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G Grade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086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3" name="타원 22"/>
          <p:cNvSpPr/>
          <p:nvPr/>
        </p:nvSpPr>
        <p:spPr>
          <a:xfrm>
            <a:off x="3525005" y="2312662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1022031" y="2358634"/>
            <a:ext cx="709156" cy="178519"/>
            <a:chOff x="2600786" y="2524392"/>
            <a:chExt cx="1032098" cy="197667"/>
          </a:xfrm>
        </p:grpSpPr>
        <p:sp>
          <p:nvSpPr>
            <p:cNvPr id="25" name="직사각형 24"/>
            <p:cNvSpPr/>
            <p:nvPr/>
          </p:nvSpPr>
          <p:spPr bwMode="auto">
            <a:xfrm>
              <a:off x="2600786" y="2524392"/>
              <a:ext cx="1032098" cy="197667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- 1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28" name="직사각형 27"/>
          <p:cNvSpPr/>
          <p:nvPr/>
        </p:nvSpPr>
        <p:spPr>
          <a:xfrm>
            <a:off x="1769652" y="2309353"/>
            <a:ext cx="221301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~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1957096" y="2363406"/>
            <a:ext cx="771781" cy="181545"/>
            <a:chOff x="2600785" y="2524392"/>
            <a:chExt cx="1022827" cy="188036"/>
          </a:xfrm>
        </p:grpSpPr>
        <p:sp>
          <p:nvSpPr>
            <p:cNvPr id="31" name="직사각형 30"/>
            <p:cNvSpPr/>
            <p:nvPr/>
          </p:nvSpPr>
          <p:spPr bwMode="auto">
            <a:xfrm>
              <a:off x="2600785" y="2524392"/>
              <a:ext cx="876347" cy="179959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Today + 1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2" name="Picture 2" descr="date component iconì ëí ì´ë¯¸ì§ ê²ìê²°ê³¼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1" r="11078" b="3937"/>
            <a:stretch>
              <a:fillRect/>
            </a:stretch>
          </p:blipFill>
          <p:spPr bwMode="auto">
            <a:xfrm>
              <a:off x="3477133" y="2534023"/>
              <a:ext cx="146479" cy="178405"/>
            </a:xfrm>
            <a:prstGeom prst="rect">
              <a:avLst/>
            </a:prstGeom>
            <a:solidFill>
              <a:srgbClr val="E1F1F7"/>
            </a:solidFill>
            <a:ln w="3175" algn="ctr">
              <a:solidFill>
                <a:srgbClr val="0000FF"/>
              </a:solidFill>
              <a:round/>
              <a:headEnd type="none" w="med" len="med"/>
              <a:tailEnd type="triangle" w="med" len="med"/>
            </a:ln>
          </p:spPr>
        </p:pic>
      </p:grpSp>
      <p:sp>
        <p:nvSpPr>
          <p:cNvPr id="33" name="직사각형 32"/>
          <p:cNvSpPr/>
          <p:nvPr/>
        </p:nvSpPr>
        <p:spPr>
          <a:xfrm>
            <a:off x="3735048" y="2324421"/>
            <a:ext cx="822549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ko-KR" sz="800" b="1" kern="0" dirty="0" smtClean="0">
                <a:solidFill>
                  <a:prstClr val="black"/>
                </a:solidFill>
              </a:rPr>
              <a:t>Route ID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4660717" y="2354569"/>
            <a:ext cx="688969" cy="219141"/>
            <a:chOff x="1521240" y="2256925"/>
            <a:chExt cx="1053765" cy="219141"/>
          </a:xfrm>
        </p:grpSpPr>
        <p:sp>
          <p:nvSpPr>
            <p:cNvPr id="35" name="직사각형 34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55" name="그룹 54"/>
          <p:cNvGrpSpPr/>
          <p:nvPr/>
        </p:nvGrpSpPr>
        <p:grpSpPr>
          <a:xfrm>
            <a:off x="6893123" y="2300994"/>
            <a:ext cx="521265" cy="320360"/>
            <a:chOff x="7184999" y="5833168"/>
            <a:chExt cx="818035" cy="320360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57" name="직사각형 56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5769300" y="2300994"/>
            <a:ext cx="521265" cy="320360"/>
            <a:chOff x="7184999" y="5833168"/>
            <a:chExt cx="818035" cy="320360"/>
          </a:xfrm>
        </p:grpSpPr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60" name="직사각형 59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검색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6331211" y="2300994"/>
            <a:ext cx="521265" cy="320360"/>
            <a:chOff x="7184999" y="5833168"/>
            <a:chExt cx="818035" cy="320360"/>
          </a:xfrm>
        </p:grpSpPr>
        <p:pic>
          <p:nvPicPr>
            <p:cNvPr id="62" name="그림 61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63" name="직사각형 62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엑셀저</a:t>
              </a:r>
              <a:r>
                <a:rPr lang="ko-KR" altLang="en-US" sz="1000" b="1" kern="0" dirty="0">
                  <a:solidFill>
                    <a:prstClr val="white"/>
                  </a:solidFill>
                </a:rPr>
                <a:t>장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6" name="타원 65"/>
          <p:cNvSpPr/>
          <p:nvPr/>
        </p:nvSpPr>
        <p:spPr>
          <a:xfrm>
            <a:off x="5274067" y="232282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11825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6666770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7212461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3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RPT-14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2569032" y="232282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496503" y="2620604"/>
            <a:ext cx="646331" cy="2732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900" b="1" smtClean="0">
                <a:solidFill>
                  <a:srgbClr val="000000"/>
                </a:solidFill>
                <a:latin typeface="+mn-ea"/>
              </a:rPr>
              <a:t>투입시간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112497" y="2620604"/>
            <a:ext cx="812074" cy="273280"/>
            <a:chOff x="828295" y="3952973"/>
            <a:chExt cx="812074" cy="273280"/>
          </a:xfrm>
        </p:grpSpPr>
        <p:sp>
          <p:nvSpPr>
            <p:cNvPr id="46" name="직사각형 45"/>
            <p:cNvSpPr/>
            <p:nvPr/>
          </p:nvSpPr>
          <p:spPr>
            <a:xfrm>
              <a:off x="953963" y="3952973"/>
              <a:ext cx="686406" cy="27328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900" b="1" dirty="0" smtClean="0">
                  <a:solidFill>
                    <a:srgbClr val="000000"/>
                  </a:solidFill>
                  <a:latin typeface="+mn-ea"/>
                </a:rPr>
                <a:t>완료 시간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6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6" cstate="print"/>
          <a:srcRect l="21758" t="7839" r="7058" b="50568"/>
          <a:stretch>
            <a:fillRect/>
          </a:stretch>
        </p:blipFill>
        <p:spPr>
          <a:xfrm>
            <a:off x="412403" y="2698033"/>
            <a:ext cx="168200" cy="186594"/>
          </a:xfrm>
          <a:prstGeom prst="rect">
            <a:avLst/>
          </a:prstGeom>
        </p:spPr>
      </p:pic>
      <p:sp>
        <p:nvSpPr>
          <p:cNvPr id="49" name="타원 48"/>
          <p:cNvSpPr/>
          <p:nvPr/>
        </p:nvSpPr>
        <p:spPr>
          <a:xfrm>
            <a:off x="1852563" y="2682866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51" name="위쪽 화살표 50">
              <a:hlinkClick r:id="rId7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Trouble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발생 정보와 장애 조치 입력 조회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From: Today – 1, To: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Today + 1 (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오늘일자 기준으로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일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)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Trouble Name 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조회조건으로 검색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장애조치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장애조치 입력 화면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엑셀저장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결과 엑셀파일로 저장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tTroubleEventTm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Trouble Info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Trouble Info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0" y="1102584"/>
            <a:ext cx="1443771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6" y="2043261"/>
            <a:ext cx="7056784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타원 9"/>
          <p:cNvSpPr/>
          <p:nvPr/>
        </p:nvSpPr>
        <p:spPr>
          <a:xfrm>
            <a:off x="1852563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860675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sp>
        <p:nvSpPr>
          <p:cNvPr id="14" name="타원 13"/>
          <p:cNvSpPr/>
          <p:nvPr/>
        </p:nvSpPr>
        <p:spPr>
          <a:xfrm>
            <a:off x="4156819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95701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38234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749107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5305336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7177544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RPT-15</a:t>
            </a:r>
            <a:endParaRPr lang="ko-KR" altLang="en-US" dirty="0"/>
          </a:p>
        </p:txBody>
      </p:sp>
      <p:grpSp>
        <p:nvGrpSpPr>
          <p:cNvPr id="22" name="그룹 21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3" name="위쪽 화살표 22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Trouble Infor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관리 화면에서 선택한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Trouble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발생 사항에 대한 장애 조치 사항 입력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Trouble Code : Read-Only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장애등급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Read-Only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발생일시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Read-Only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Trouble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Name : Read-Only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장애조치 방법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장애조치 내역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저장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장애조치 입력 사항 저장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취소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tTroubleEventTm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장애 조치 입력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장애 조치 입력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11" y="2619325"/>
            <a:ext cx="6552728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타원 9"/>
          <p:cNvSpPr/>
          <p:nvPr/>
        </p:nvSpPr>
        <p:spPr>
          <a:xfrm>
            <a:off x="5740995" y="441105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457464" y="441105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RPT-16</a:t>
            </a:r>
            <a:endParaRPr lang="ko-KR" altLang="en-US" dirty="0"/>
          </a:p>
        </p:txBody>
      </p:sp>
      <p:sp>
        <p:nvSpPr>
          <p:cNvPr id="17" name="타원 16"/>
          <p:cNvSpPr/>
          <p:nvPr/>
        </p:nvSpPr>
        <p:spPr>
          <a:xfrm>
            <a:off x="2641040" y="3339405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156819" y="3349610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sp>
        <p:nvSpPr>
          <p:cNvPr id="19" name="타원 18"/>
          <p:cNvSpPr/>
          <p:nvPr/>
        </p:nvSpPr>
        <p:spPr>
          <a:xfrm>
            <a:off x="6428802" y="3316842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6428801" y="3625484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457464" y="3958400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6173043" y="4203501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4376454" y="4523303"/>
            <a:ext cx="788477" cy="47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4" name="위쪽 화살표 23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장비별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Trouble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발생 횟수 조회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검색조건에 따라 검색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엑셀저장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tTroubelEventTm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Trouble </a:t>
            </a:r>
            <a:r>
              <a:rPr lang="ko-KR" altLang="en-US" dirty="0" smtClean="0"/>
              <a:t>분석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Trouble </a:t>
            </a:r>
            <a:r>
              <a:rPr lang="ko-KR" altLang="en-US" dirty="0" smtClean="0"/>
              <a:t>분석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5" y="1983366"/>
            <a:ext cx="6984776" cy="4440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타원 9"/>
          <p:cNvSpPr/>
          <p:nvPr/>
        </p:nvSpPr>
        <p:spPr>
          <a:xfrm>
            <a:off x="2140595" y="1827237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148707" y="1827237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sp>
        <p:nvSpPr>
          <p:cNvPr id="14" name="타원 13"/>
          <p:cNvSpPr/>
          <p:nvPr/>
        </p:nvSpPr>
        <p:spPr>
          <a:xfrm>
            <a:off x="4444851" y="1827237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245051" y="1827237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670381" y="1827237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037139" y="1827237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RPT-17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1" name="위쪽 화살표 20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현재 설비 상태 조회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설비명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Trouble Name :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장애조치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엑셀저장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tTroubleEventTm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설비 상태 조회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설비 상태 조회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0" y="1102584"/>
            <a:ext cx="1443771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6" y="2043261"/>
            <a:ext cx="7056784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타원 9"/>
          <p:cNvSpPr/>
          <p:nvPr/>
        </p:nvSpPr>
        <p:spPr>
          <a:xfrm>
            <a:off x="1852563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860675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sp>
        <p:nvSpPr>
          <p:cNvPr id="14" name="타원 13"/>
          <p:cNvSpPr/>
          <p:nvPr/>
        </p:nvSpPr>
        <p:spPr>
          <a:xfrm>
            <a:off x="4156819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95701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38234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749107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5305336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7177544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RPT-18</a:t>
            </a:r>
            <a:endParaRPr lang="ko-KR" altLang="en-US" dirty="0"/>
          </a:p>
        </p:txBody>
      </p:sp>
      <p:grpSp>
        <p:nvGrpSpPr>
          <p:cNvPr id="22" name="그룹 21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3" name="위쪽 화살표 22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Log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이력 조회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기간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Log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구분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엑셀저장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tb_log_error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Log </a:t>
            </a:r>
            <a:r>
              <a:rPr lang="ko-KR" altLang="en-US" dirty="0" smtClean="0"/>
              <a:t>정보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Log </a:t>
            </a:r>
            <a:r>
              <a:rPr lang="ko-KR" altLang="en-US" dirty="0" smtClean="0"/>
              <a:t>정</a:t>
            </a:r>
            <a:r>
              <a:rPr lang="ko-KR" altLang="en-US" dirty="0"/>
              <a:t>보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505450" cy="259342"/>
          </a:xfrm>
        </p:spPr>
        <p:txBody>
          <a:bodyPr/>
          <a:lstStyle/>
          <a:p>
            <a:r>
              <a:rPr lang="ko-KR" altLang="en-US" dirty="0" err="1" smtClean="0"/>
              <a:t>레포트</a:t>
            </a:r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03" y="1971253"/>
            <a:ext cx="7056784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1852563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2860675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sp>
        <p:nvSpPr>
          <p:cNvPr id="14" name="타원 13"/>
          <p:cNvSpPr/>
          <p:nvPr/>
        </p:nvSpPr>
        <p:spPr>
          <a:xfrm>
            <a:off x="3796779" y="2115269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385456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810786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177544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RPT-19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1" name="위쪽 화살표 20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 smtClean="0"/>
              <a:t>생산 모델 등록 관리</a:t>
            </a:r>
            <a:r>
              <a:rPr lang="en-US" altLang="ko-KR" dirty="0" smtClean="0"/>
              <a:t>(</a:t>
            </a:r>
            <a:r>
              <a:rPr lang="ko-KR" altLang="en-US" dirty="0" smtClean="0"/>
              <a:t>재사용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tMstProdModel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생산 모델 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생산 모델 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02061" y="1102584"/>
            <a:ext cx="146307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5" y="2469571"/>
            <a:ext cx="6984776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5502061" y="283534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813003" y="283534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173043" y="283534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561431" y="283534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004884" y="2835347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1617374" y="283534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0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MST-01</a:t>
            </a:r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2" name="위쪽 화살표 21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 smtClean="0"/>
              <a:t>설비 작업 가능 </a:t>
            </a:r>
            <a:r>
              <a:rPr lang="en-US" altLang="ko-KR" dirty="0" smtClean="0"/>
              <a:t>Cell Type </a:t>
            </a:r>
            <a:r>
              <a:rPr lang="ko-KR" altLang="en-US" dirty="0" smtClean="0"/>
              <a:t>관리</a:t>
            </a:r>
            <a:r>
              <a:rPr lang="en-US" altLang="ko-KR" dirty="0" smtClean="0"/>
              <a:t>(</a:t>
            </a:r>
            <a:r>
              <a:rPr lang="ko-KR" altLang="en-US" dirty="0" smtClean="0"/>
              <a:t>재사용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tMstCellType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Cell Type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2024.03.23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Cell Type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02061" y="1102584"/>
            <a:ext cx="146307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sp>
        <p:nvSpPr>
          <p:cNvPr id="20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MST-02</a:t>
            </a:r>
            <a:endParaRPr lang="ko-KR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87" y="2043261"/>
            <a:ext cx="7200800" cy="4385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직사각형 20"/>
          <p:cNvSpPr/>
          <p:nvPr/>
        </p:nvSpPr>
        <p:spPr bwMode="auto">
          <a:xfrm>
            <a:off x="268387" y="2043261"/>
            <a:ext cx="7200800" cy="31980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    Cell Type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관리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5746729" y="225081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057671" y="225081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417711" y="2250818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806099" y="2250817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249552" y="2250816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2" name="위쪽 화살표 21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>
                <a:solidFill>
                  <a:srgbClr val="000000">
                    <a:lumMod val="75000"/>
                    <a:lumOff val="25000"/>
                  </a:srgbClr>
                </a:solidFill>
              </a:rPr>
              <a:t>Route</a:t>
            </a:r>
            <a:r>
              <a:rPr lang="ko-KR" alt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별 공정 작업 순서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등록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화면 종료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정보 수정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Route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등록 화면 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Display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상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,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하 버튼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공정 작업순서 </a:t>
            </a:r>
            <a:r>
              <a:rPr lang="ko-KR" altLang="en-US" sz="900" kern="0" dirty="0" err="1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순서 변경</a:t>
            </a:r>
            <a:endParaRPr lang="en-US" altLang="ko-KR" sz="900" kern="0" dirty="0" smtClean="0">
              <a:solidFill>
                <a:srgbClr val="0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변경 공정 작업순서 저장 처리</a:t>
            </a:r>
            <a:endParaRPr lang="en-US" altLang="ko-KR" sz="900" kern="0" dirty="0" smtClean="0">
              <a:solidFill>
                <a:srgbClr val="0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,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우 버튼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공정 추가 삭제 </a:t>
            </a:r>
            <a:endParaRPr lang="en-US" altLang="ko-KR" sz="900" kern="0" dirty="0" smtClean="0">
              <a:solidFill>
                <a:srgbClr val="000000"/>
              </a:solidFill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tMstRouteDef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tMstOperation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tMstRouteOper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Route</a:t>
            </a:r>
            <a:r>
              <a:rPr lang="ko-KR" altLang="en-US" dirty="0" smtClean="0"/>
              <a:t> 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Route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6" y="1971253"/>
            <a:ext cx="7128792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타원 12"/>
          <p:cNvSpPr/>
          <p:nvPr/>
        </p:nvSpPr>
        <p:spPr>
          <a:xfrm>
            <a:off x="6699463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7198177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852563" y="2360287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3364731" y="237429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3685157" y="237429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4084811" y="237429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4444851" y="3411413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4444850" y="4707557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1684269" y="207077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3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MST-03</a:t>
            </a:r>
            <a:endParaRPr lang="ko-KR" altLang="en-US" dirty="0"/>
          </a:p>
        </p:txBody>
      </p:sp>
      <p:grpSp>
        <p:nvGrpSpPr>
          <p:cNvPr id="24" name="그룹 23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5" name="위쪽 화살표 24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Route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등록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모델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RouteID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복제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RouteID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복제 생성 화면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Display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tMstProdModel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tMstRouteDef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Route</a:t>
            </a:r>
            <a:r>
              <a:rPr lang="ko-KR" altLang="en-US" dirty="0" smtClean="0"/>
              <a:t> 등록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Route </a:t>
            </a:r>
            <a:r>
              <a:rPr lang="ko-KR" altLang="en-US" dirty="0" smtClean="0"/>
              <a:t>등록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73109" y="1102584"/>
            <a:ext cx="137233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14" name="그림 13"/>
          <p:cNvPicPr/>
          <p:nvPr/>
        </p:nvPicPr>
        <p:blipFill>
          <a:blip r:embed="rId3"/>
          <a:stretch>
            <a:fillRect/>
          </a:stretch>
        </p:blipFill>
        <p:spPr>
          <a:xfrm>
            <a:off x="268387" y="1971253"/>
            <a:ext cx="6984776" cy="4176464"/>
          </a:xfrm>
          <a:prstGeom prst="rect">
            <a:avLst/>
          </a:prstGeom>
        </p:spPr>
      </p:pic>
      <p:sp>
        <p:nvSpPr>
          <p:cNvPr id="10" name="타원 9"/>
          <p:cNvSpPr/>
          <p:nvPr/>
        </p:nvSpPr>
        <p:spPr>
          <a:xfrm>
            <a:off x="4516859" y="256473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074395" y="256473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5573109" y="2564734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168269" y="2564733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725805" y="2564733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1966040" y="2564732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3292723" y="2576251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9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MST-04</a:t>
            </a:r>
            <a:endParaRPr lang="ko-KR" altLang="en-US" dirty="0"/>
          </a:p>
        </p:txBody>
      </p:sp>
      <p:grpSp>
        <p:nvGrpSpPr>
          <p:cNvPr id="22" name="그룹 21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3" name="위쪽 화살표 22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기존 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Route 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복제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Type 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복제할 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복제할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복제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취소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tMstRouteDef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tMstOperation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tMstRouteOper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Route ID </a:t>
            </a:r>
            <a:r>
              <a:rPr lang="ko-KR" altLang="en-US" dirty="0" smtClean="0"/>
              <a:t>복제 생성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Route ID </a:t>
            </a:r>
            <a:r>
              <a:rPr lang="ko-KR" altLang="en-US" dirty="0" smtClean="0"/>
              <a:t>복제 생성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515" y="1971253"/>
            <a:ext cx="4219575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타원 9"/>
          <p:cNvSpPr/>
          <p:nvPr/>
        </p:nvSpPr>
        <p:spPr>
          <a:xfrm>
            <a:off x="2428627" y="456354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868787" y="456354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4372843" y="283534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4372843" y="3059840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372842" y="3284331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4372843" y="405101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latin typeface="+mn-ea"/>
                <a:cs typeface="맑은 고딕 Semilight" panose="020B0502040204020203" pitchFamily="50" charset="-127"/>
              </a:rPr>
              <a:t>4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4372843" y="427550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5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MST-05</a:t>
            </a:r>
            <a:endParaRPr lang="ko-KR" altLang="en-US" dirty="0"/>
          </a:p>
        </p:txBody>
      </p:sp>
      <p:grpSp>
        <p:nvGrpSpPr>
          <p:cNvPr id="22" name="그룹 21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3" name="위쪽 화살표 22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/>
              <a:t>Route </a:t>
            </a:r>
            <a:r>
              <a:rPr lang="ko-KR" altLang="en-US" dirty="0" err="1"/>
              <a:t>공정별</a:t>
            </a:r>
            <a:r>
              <a:rPr lang="ko-KR" altLang="en-US" dirty="0"/>
              <a:t> </a:t>
            </a:r>
            <a:r>
              <a:rPr lang="en-US" altLang="ko-KR" dirty="0"/>
              <a:t>Recipe </a:t>
            </a:r>
            <a:r>
              <a:rPr lang="ko-KR" altLang="en-US" dirty="0"/>
              <a:t>정보 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(</a:t>
            </a:r>
            <a:r>
              <a:rPr lang="ko-KR" altLang="en-US" dirty="0" smtClean="0"/>
              <a:t>재사용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조건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모델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모델별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공정에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해당되는 공정 작업순서가 오른쪽 공정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표시됨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tMstRouteOper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tMstRecipeCommon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Recipe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Recipe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5" y="2043261"/>
            <a:ext cx="6984776" cy="4647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616826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533083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965131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617374" y="2125533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MST-06</a:t>
            </a: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19" name="위쪽 화살표 18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/>
              <a:t>Route </a:t>
            </a:r>
            <a:r>
              <a:rPr lang="ko-KR" altLang="en-US" dirty="0" err="1"/>
              <a:t>공정별</a:t>
            </a:r>
            <a:r>
              <a:rPr lang="ko-KR" altLang="en-US" dirty="0"/>
              <a:t> </a:t>
            </a:r>
            <a:r>
              <a:rPr lang="en-US" altLang="ko-KR" dirty="0"/>
              <a:t>Recipe </a:t>
            </a:r>
            <a:r>
              <a:rPr lang="ko-KR" altLang="en-US" dirty="0"/>
              <a:t>정보 등록</a:t>
            </a:r>
            <a:r>
              <a:rPr lang="en-US" altLang="ko-KR" dirty="0"/>
              <a:t>(</a:t>
            </a:r>
            <a:r>
              <a:rPr lang="ko-KR" altLang="en-US" dirty="0"/>
              <a:t>공정에 따라 입력 항목 </a:t>
            </a:r>
            <a:r>
              <a:rPr lang="ko-KR" altLang="en-US" dirty="0" smtClean="0"/>
              <a:t>바뀜</a:t>
            </a:r>
            <a:r>
              <a:rPr lang="en-US" altLang="ko-KR" dirty="0" smtClean="0"/>
              <a:t>)(</a:t>
            </a:r>
            <a:r>
              <a:rPr lang="ko-KR" altLang="en-US" dirty="0" smtClean="0"/>
              <a:t>재사용</a:t>
            </a:r>
            <a:r>
              <a:rPr lang="en-US" altLang="ko-KR" dirty="0" smtClean="0"/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해당되는 해당되는 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Recipe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항목이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표시됨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선택된 공정 특성에 따라 표시되는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Recipe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항목이 달라짐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추가하고자 하는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Recipe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항목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row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선택된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Recipe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항목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한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row 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tMstRouteOper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tMstRecipeCommon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tMstRecipe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Recipe Data </a:t>
            </a:r>
            <a:r>
              <a:rPr lang="ko-KR" altLang="en-US" dirty="0" smtClean="0"/>
              <a:t>등록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Recipe Data </a:t>
            </a:r>
            <a:r>
              <a:rPr lang="ko-KR" altLang="en-US" dirty="0" smtClean="0"/>
              <a:t>등록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5" y="1971252"/>
            <a:ext cx="6935119" cy="4680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6168269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601480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965131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615988" y="24524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6965131" y="24524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1617374" y="2079406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0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MST-07</a:t>
            </a:r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2" name="위쪽 화살표 21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/>
              <a:t>Route </a:t>
            </a:r>
            <a:r>
              <a:rPr lang="ko-KR" altLang="en-US" dirty="0" err="1"/>
              <a:t>공정별</a:t>
            </a:r>
            <a:r>
              <a:rPr lang="ko-KR" altLang="en-US" dirty="0"/>
              <a:t> </a:t>
            </a:r>
            <a:r>
              <a:rPr lang="en-US" altLang="ko-KR" dirty="0"/>
              <a:t>Recipe </a:t>
            </a:r>
            <a:r>
              <a:rPr lang="ko-KR" altLang="en-US" dirty="0"/>
              <a:t>정보 등록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시간 설정</a:t>
            </a:r>
            <a:r>
              <a:rPr lang="en-US" altLang="ko-KR" dirty="0" smtClean="0"/>
              <a:t>)(</a:t>
            </a:r>
            <a:r>
              <a:rPr lang="ko-KR" altLang="en-US" dirty="0" smtClean="0"/>
              <a:t>재사용</a:t>
            </a:r>
            <a:r>
              <a:rPr lang="en-US" altLang="ko-KR" dirty="0" smtClean="0"/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해당되는 해당되는 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Recipe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항목이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Aging Time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관련인 경우 표시됨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tMstRouteOper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tMstRecipe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Recipe Time </a:t>
            </a:r>
            <a:r>
              <a:rPr lang="ko-KR" altLang="en-US" dirty="0" smtClean="0"/>
              <a:t>등록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Recipe Time </a:t>
            </a:r>
            <a:r>
              <a:rPr lang="ko-KR" altLang="en-US" dirty="0" smtClean="0"/>
              <a:t>등록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03" y="1971253"/>
            <a:ext cx="6912768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616826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605091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965131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677342" y="2102287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MST-08</a:t>
            </a: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19" name="위쪽 화살표 18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/>
              <a:t>EQP</a:t>
            </a:r>
            <a:r>
              <a:rPr lang="ko-KR" altLang="en-US" dirty="0"/>
              <a:t>별 </a:t>
            </a:r>
            <a:r>
              <a:rPr lang="en-US" altLang="ko-KR" dirty="0"/>
              <a:t>Trouble Code </a:t>
            </a:r>
            <a:r>
              <a:rPr lang="ko-KR" altLang="en-US" dirty="0" smtClean="0"/>
              <a:t>등록</a:t>
            </a:r>
            <a:r>
              <a:rPr lang="en-US" altLang="ko-KR" dirty="0" smtClean="0"/>
              <a:t>(</a:t>
            </a:r>
            <a:r>
              <a:rPr lang="ko-KR" altLang="en-US" dirty="0" smtClean="0"/>
              <a:t>재사용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공정 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tMstTrouble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/>
              <a:t>Trouble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Trouble </a:t>
            </a:r>
            <a:r>
              <a:rPr lang="ko-KR" altLang="en-US" dirty="0" smtClean="0"/>
              <a:t>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36566" y="1102584"/>
            <a:ext cx="1406018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5" y="1971253"/>
            <a:ext cx="7056784" cy="47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5536567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885011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31705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6722949" y="2118060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7050988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1617374" y="2115268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8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MST-09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1" name="위쪽 화살표 20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사용자 등록 화면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User ID :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Class :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tMstUser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tMstUserClass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사용자 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사용자 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02061" y="1102584"/>
            <a:ext cx="146307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5" y="1959694"/>
            <a:ext cx="7056784" cy="454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5502061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5885011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245051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690827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114702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1694595" y="208349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2500635" y="2099860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2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MST-10</a:t>
            </a:r>
            <a:endParaRPr lang="ko-KR" altLang="en-US" dirty="0"/>
          </a:p>
        </p:txBody>
      </p:sp>
      <p:grpSp>
        <p:nvGrpSpPr>
          <p:cNvPr id="22" name="그룹 21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3" name="위쪽 화살표 22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21" y="1971253"/>
            <a:ext cx="7205366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화면별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권한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Window ID :</a:t>
            </a:r>
          </a:p>
          <a:p>
            <a:pPr marL="0" lvl="0" indent="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tMstUser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tMstUserClass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화면 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화면 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02061" y="1102584"/>
            <a:ext cx="146307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5636911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019861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6379901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6825677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7249552" y="2043261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1694595" y="208349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MST-11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22" name="위쪽 화살표 21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사용자별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 화면 권한 관리 화면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(</a:t>
            </a: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재사용</a:t>
            </a:r>
            <a:r>
              <a:rPr lang="en-US" altLang="ko-KR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Window ID: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Window ID(MST, RPT, MON)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검색 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입력된 검색조건에 해당하는 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사용자와 화면 조회해서 하단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표시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저장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 변경사항 저장</a:t>
            </a:r>
            <a:endParaRPr lang="en-US" altLang="ko-KR" sz="900" b="1" kern="0" dirty="0">
              <a:solidFill>
                <a:srgbClr val="C00000"/>
              </a:solidFill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종료</a:t>
            </a:r>
            <a:r>
              <a:rPr lang="en-US" altLang="ko-KR" sz="900" kern="0" dirty="0" smtClean="0">
                <a:solidFill>
                  <a:srgbClr val="000000"/>
                </a:solidFill>
                <a:cs typeface="맑은 고딕 Semilight" panose="020B0502040204020203" pitchFamily="50" charset="-127"/>
              </a:rPr>
              <a:t>:</a:t>
            </a: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테이블 </a:t>
            </a:r>
            <a:r>
              <a:rPr lang="en-US" altLang="ko-KR" sz="900" b="1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tMstWindow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tMstWindowUser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사용자 화면 권한 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2024.03.07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사용자 화면 권한 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95" y="1955796"/>
            <a:ext cx="7056784" cy="4695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/>
          <p:cNvSpPr/>
          <p:nvPr/>
        </p:nvSpPr>
        <p:spPr>
          <a:xfrm>
            <a:off x="6278087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667709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7037139" y="211526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576151" y="2083499"/>
            <a:ext cx="219635" cy="22449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+mn-ea"/>
                <a:cs typeface="맑은 고딕 Semilight" panose="020B0502040204020203" pitchFamily="50" charset="-127"/>
              </a:rPr>
              <a:t>1</a:t>
            </a:r>
            <a:endParaRPr lang="ko-KR" altLang="en-US" sz="1200" b="1" dirty="0">
              <a:latin typeface="+mn-ea"/>
              <a:cs typeface="맑은 고딕 Semilight" panose="020B0502040204020203" pitchFamily="50" charset="-127"/>
            </a:endParaRPr>
          </a:p>
        </p:txBody>
      </p:sp>
      <p:sp>
        <p:nvSpPr>
          <p:cNvPr id="17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MST-12</a:t>
            </a:r>
            <a:endParaRPr lang="ko-KR" altLang="en-US" dirty="0"/>
          </a:p>
        </p:txBody>
      </p:sp>
      <p:grpSp>
        <p:nvGrpSpPr>
          <p:cNvPr id="18" name="그룹 17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19" name="위쪽 화살표 18">
              <a:hlinkClick r:id="rId4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/>
          <p:cNvSpPr/>
          <p:nvPr/>
        </p:nvSpPr>
        <p:spPr bwMode="auto">
          <a:xfrm>
            <a:off x="340395" y="1881345"/>
            <a:ext cx="7092279" cy="233049"/>
          </a:xfrm>
          <a:prstGeom prst="rect">
            <a:avLst/>
          </a:prstGeom>
          <a:solidFill>
            <a:srgbClr val="4F81BD"/>
          </a:solidFill>
          <a:ln w="28575">
            <a:noFill/>
            <a:round/>
          </a:ln>
        </p:spPr>
        <p:txBody>
          <a:bodyPr wrap="none" lIns="180000" tIns="36000" rIns="0" bIns="36000" rtlCol="0" anchor="ctr" anchorCtr="0"/>
          <a:lstStyle/>
          <a:p>
            <a:r>
              <a:rPr lang="en-US" altLang="ko-KR" sz="1400" b="1" dirty="0" smtClean="0">
                <a:solidFill>
                  <a:prstClr val="white"/>
                </a:solidFill>
                <a:latin typeface="+mn-ea"/>
              </a:rPr>
              <a:t>                                         </a:t>
            </a:r>
            <a:r>
              <a:rPr lang="ko-KR" altLang="en-US" sz="1400" b="1" smtClean="0">
                <a:solidFill>
                  <a:prstClr val="white"/>
                </a:solidFill>
                <a:latin typeface="+mn-ea"/>
              </a:rPr>
              <a:t>단위 </a:t>
            </a:r>
            <a:r>
              <a:rPr lang="ko-KR" altLang="en-US" sz="1400" b="1" dirty="0" smtClean="0">
                <a:solidFill>
                  <a:prstClr val="white"/>
                </a:solidFill>
                <a:latin typeface="+mn-ea"/>
              </a:rPr>
              <a:t>판정 관리</a:t>
            </a:r>
            <a:endParaRPr lang="ko-KR" altLang="en-US" sz="14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노철진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단위 판정 관리</a:t>
            </a:r>
            <a:endParaRPr lang="en-US" altLang="ko-KR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7541195" y="1971253"/>
            <a:ext cx="2572768" cy="4940495"/>
          </a:xfrm>
        </p:spPr>
        <p:txBody>
          <a:bodyPr>
            <a:noAutofit/>
          </a:bodyPr>
          <a:lstStyle/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조회정보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 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Route ID : Route ID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공정명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 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등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급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등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급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선택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Or/And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charset="-127"/>
                <a:ea typeface="맑은 고딕" panose="020B0503020000020004" charset="-127"/>
              </a:rPr>
              <a:t>추가될 </a:t>
            </a:r>
            <a:r>
              <a:rPr lang="ko-KR" altLang="en-US" sz="900" dirty="0">
                <a:latin typeface="맑은 고딕" panose="020B0503020000020004" charset="-127"/>
                <a:ea typeface="맑은 고딕" panose="020B0503020000020004" charset="-127"/>
              </a:rPr>
              <a:t>등급 </a:t>
            </a:r>
            <a:r>
              <a:rPr lang="en-US" altLang="ko-KR" sz="900" dirty="0">
                <a:latin typeface="맑은 고딕" panose="020B0503020000020004" charset="-127"/>
                <a:ea typeface="맑은 고딕" panose="020B0503020000020004" charset="-127"/>
              </a:rPr>
              <a:t>Row </a:t>
            </a:r>
            <a:r>
              <a:rPr lang="ko-KR" altLang="en-US" sz="900" dirty="0">
                <a:latin typeface="맑은 고딕" panose="020B0503020000020004" charset="-127"/>
                <a:ea typeface="맑은 고딕" panose="020B0503020000020004" charset="-127"/>
              </a:rPr>
              <a:t>정보를 설정하는 기능을 제공한다</a:t>
            </a:r>
            <a:r>
              <a:rPr lang="en-US" altLang="ko-KR" sz="900" dirty="0">
                <a:latin typeface="맑은 고딕" panose="020B0503020000020004" charset="-127"/>
                <a:ea typeface="맑은 고딕" panose="020B0503020000020004" charset="-127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900" dirty="0" smtClean="0">
                <a:latin typeface="맑은 고딕" panose="020B0503020000020004" charset="-127"/>
                <a:ea typeface="맑은 고딕" panose="020B0503020000020004" charset="-127"/>
              </a:rPr>
              <a:t>     - Or</a:t>
            </a:r>
            <a:r>
              <a:rPr lang="en-US" altLang="ko-KR" sz="900" dirty="0">
                <a:latin typeface="맑은 고딕" panose="020B0503020000020004" charset="-127"/>
                <a:ea typeface="맑은 고딕" panose="020B0503020000020004" charset="-127"/>
              </a:rPr>
              <a:t>: </a:t>
            </a:r>
            <a:r>
              <a:rPr lang="ko-KR" altLang="en-US" sz="900" dirty="0">
                <a:latin typeface="맑은 고딕" panose="020B0503020000020004" charset="-127"/>
                <a:ea typeface="맑은 고딕" panose="020B0503020000020004" charset="-127"/>
              </a:rPr>
              <a:t>동일한 등급에서 서로 다른 공정을 입력하는 기능</a:t>
            </a:r>
            <a:endParaRPr lang="en-US" altLang="ko-KR" sz="900" dirty="0">
              <a:latin typeface="맑은 고딕" panose="020B0503020000020004" charset="-127"/>
              <a:ea typeface="맑은 고딕" panose="020B0503020000020004" charset="-127"/>
            </a:endParaRPr>
          </a:p>
          <a:p>
            <a:pPr marL="0" indent="0">
              <a:buNone/>
              <a:defRPr/>
            </a:pPr>
            <a:r>
              <a:rPr lang="en-US" altLang="ko-KR" sz="900" dirty="0" smtClean="0">
                <a:latin typeface="맑은 고딕" panose="020B0503020000020004" charset="-127"/>
                <a:ea typeface="맑은 고딕" panose="020B0503020000020004" charset="-127"/>
              </a:rPr>
              <a:t>     - And</a:t>
            </a:r>
            <a:r>
              <a:rPr lang="en-US" altLang="ko-KR" sz="900" dirty="0">
                <a:latin typeface="맑은 고딕" panose="020B0503020000020004" charset="-127"/>
                <a:ea typeface="맑은 고딕" panose="020B0503020000020004" charset="-127"/>
              </a:rPr>
              <a:t>: </a:t>
            </a:r>
            <a:r>
              <a:rPr lang="ko-KR" altLang="en-US" sz="900" dirty="0">
                <a:latin typeface="맑은 고딕" panose="020B0503020000020004" charset="-127"/>
                <a:ea typeface="맑은 고딕" panose="020B0503020000020004" charset="-127"/>
              </a:rPr>
              <a:t>다른 등급을 등록 하는 기능</a:t>
            </a:r>
            <a:endParaRPr lang="en-US" altLang="ko-KR" sz="900" dirty="0">
              <a:latin typeface="맑은 고딕" panose="020B0503020000020004" charset="-127"/>
              <a:ea typeface="맑은 고딕" panose="020B0503020000020004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Font typeface="+mj-ea"/>
              <a:buAutoNum type="circleNumDbPlain"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7800" lvl="0" indent="-177800" fontAlgn="base">
              <a:lnSpc>
                <a:spcPct val="130000"/>
              </a:lnSpc>
              <a:spcAft>
                <a:spcPct val="0"/>
              </a:spcAft>
              <a:buClr>
                <a:srgbClr val="FF0000"/>
              </a:buClr>
              <a:buNone/>
            </a:pPr>
            <a:endParaRPr lang="en-US" altLang="ko-KR" sz="900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lvl="0" indent="0">
              <a:lnSpc>
                <a:spcPct val="130000"/>
              </a:lnSpc>
              <a:spcAft>
                <a:spcPct val="0"/>
              </a:spcAft>
              <a:buNone/>
              <a:defRPr/>
            </a:pPr>
            <a:r>
              <a:rPr lang="en-US" altLang="ko-KR" sz="900" b="1" kern="0" dirty="0">
                <a:solidFill>
                  <a:srgbClr val="0000FF"/>
                </a:solidFill>
              </a:rPr>
              <a:t>[</a:t>
            </a:r>
            <a:r>
              <a:rPr lang="ko-KR" altLang="en-US" sz="900" b="1" kern="0" dirty="0">
                <a:solidFill>
                  <a:srgbClr val="0000FF"/>
                </a:solidFill>
              </a:rPr>
              <a:t>버튼처리</a:t>
            </a:r>
            <a:r>
              <a:rPr lang="en-US" altLang="ko-KR" sz="900" b="1" kern="0" dirty="0">
                <a:solidFill>
                  <a:srgbClr val="0000FF"/>
                </a:solidFill>
              </a:rPr>
              <a:t>]</a:t>
            </a:r>
          </a:p>
          <a:p>
            <a:pPr marL="179705" lvl="0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조회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선택된 조건으로 데이터 조회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결과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행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추가 종합 판정 등급 </a:t>
            </a:r>
            <a:r>
              <a:rPr lang="ko-KR" altLang="en-US" sz="900" kern="0" dirty="0" err="1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그리드에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행을 추가한다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모델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공정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등급 조건이 설정 되어야 추가 버튼이 활성화 된다</a:t>
            </a:r>
            <a:r>
              <a:rPr lang="en-US" altLang="ko-KR" sz="900" kern="0" dirty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.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저장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변경사항 저장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삭제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선택한 결과 </a:t>
            </a:r>
            <a:r>
              <a:rPr lang="ko-KR" altLang="en-US" sz="900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그리드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 삭제</a:t>
            </a:r>
            <a:endParaRPr lang="en-US" altLang="ko-KR" sz="900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종료 </a:t>
            </a:r>
            <a:r>
              <a:rPr lang="en-US" altLang="ko-KR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900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화면 종료</a:t>
            </a:r>
            <a:endParaRPr lang="en-US" altLang="ko-KR" sz="900" b="1" kern="0" dirty="0">
              <a:solidFill>
                <a:srgbClr val="C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179705" indent="-179705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Font typeface="+mj-ea"/>
              <a:buAutoNum type="circleNumDbPlain"/>
            </a:pP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[</a:t>
            </a:r>
            <a:r>
              <a:rPr lang="ko-KR" altLang="en-US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관련 테이블 </a:t>
            </a:r>
            <a:r>
              <a:rPr lang="en-US" altLang="ko-KR" sz="900" b="1" kern="0" dirty="0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&amp; Procedure]</a:t>
            </a: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r>
              <a:rPr lang="en-US" altLang="ko-KR" sz="900" b="1" kern="0" dirty="0" err="1" smtClean="0">
                <a:solidFill>
                  <a:srgbClr val="000000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  <a:cs typeface="맑은 고딕 Semilight" panose="020B0502040204020203" pitchFamily="50" charset="-127"/>
              </a:rPr>
              <a:t>tMstCellGrade</a:t>
            </a:r>
            <a:endParaRPr lang="en-US" altLang="ko-KR" sz="900" b="1" kern="0" dirty="0" smtClean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  <a:p>
            <a:pPr marL="0" indent="0" fontAlgn="base">
              <a:lnSpc>
                <a:spcPct val="130000"/>
              </a:lnSpc>
              <a:spcAft>
                <a:spcPct val="0"/>
              </a:spcAft>
              <a:buClr>
                <a:schemeClr val="accent6"/>
              </a:buClr>
              <a:buNone/>
            </a:pPr>
            <a:endParaRPr lang="en-US" altLang="ko-KR" sz="900" b="1" kern="0" dirty="0">
              <a:solidFill>
                <a:srgbClr val="000000"/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 smtClean="0"/>
              <a:t>단위 판정 관리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 smtClean="0"/>
              <a:t>2024.03.23</a:t>
            </a:r>
            <a:endParaRPr 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단위 판정 관리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5524971" y="1102584"/>
            <a:ext cx="1440160" cy="259342"/>
          </a:xfrm>
        </p:spPr>
        <p:txBody>
          <a:bodyPr/>
          <a:lstStyle/>
          <a:p>
            <a:r>
              <a:rPr lang="ko-KR" altLang="en-US" dirty="0" smtClean="0"/>
              <a:t>마스터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 bwMode="auto">
          <a:xfrm>
            <a:off x="340395" y="2114393"/>
            <a:ext cx="7092279" cy="968025"/>
          </a:xfrm>
          <a:prstGeom prst="rect">
            <a:avLst/>
          </a:prstGeom>
          <a:solidFill>
            <a:sysClr val="window" lastClr="FFFFFF"/>
          </a:solidFill>
          <a:ln w="3175" algn="ctr">
            <a:solidFill>
              <a:srgbClr val="DBE4E8"/>
            </a:solidFill>
            <a:round/>
            <a:headEnd type="none" w="med" len="med"/>
            <a:tailEnd type="triangle" w="med" len="med"/>
          </a:ln>
        </p:spPr>
        <p:txBody>
          <a:bodyPr lIns="0" tIns="0" rIns="0" bIns="0" rtlCol="0" anchor="ctr" anchorCtr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68387" y="2130337"/>
            <a:ext cx="544795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kumimoji="0" lang="ko-KR" alt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모델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839090" y="2158254"/>
            <a:ext cx="585751" cy="219141"/>
            <a:chOff x="1521240" y="2256925"/>
            <a:chExt cx="1053765" cy="219141"/>
          </a:xfrm>
        </p:grpSpPr>
        <p:sp>
          <p:nvSpPr>
            <p:cNvPr id="29" name="직사각형 28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graphicFrame>
        <p:nvGraphicFramePr>
          <p:cNvPr id="31" name="표 30"/>
          <p:cNvGraphicFramePr>
            <a:graphicFrameLocks noGrp="1"/>
          </p:cNvGraphicFramePr>
          <p:nvPr/>
        </p:nvGraphicFramePr>
        <p:xfrm>
          <a:off x="340395" y="3194665"/>
          <a:ext cx="7140379" cy="2280210"/>
        </p:xfrm>
        <a:graphic>
          <a:graphicData uri="http://schemas.openxmlformats.org/drawingml/2006/table">
            <a:tbl>
              <a:tblPr/>
              <a:tblGrid>
                <a:gridCol w="216024"/>
                <a:gridCol w="432048"/>
                <a:gridCol w="504056"/>
                <a:gridCol w="504056"/>
                <a:gridCol w="288032"/>
                <a:gridCol w="504056"/>
                <a:gridCol w="648072"/>
                <a:gridCol w="504056"/>
                <a:gridCol w="504056"/>
                <a:gridCol w="432048"/>
                <a:gridCol w="432048"/>
                <a:gridCol w="504056"/>
                <a:gridCol w="504056"/>
                <a:gridCol w="647630"/>
                <a:gridCol w="516085"/>
              </a:tblGrid>
              <a:tr h="254718"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Model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Route ID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err="1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공정명</a:t>
                      </a:r>
                      <a:endParaRPr lang="en-US" sz="700" b="1" i="0" u="none" strike="noStrike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등급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등급</a:t>
                      </a:r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Row</a:t>
                      </a: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수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판정 공정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+mn-ea"/>
                          <a:cs typeface="+mn-cs"/>
                        </a:rPr>
                        <a:t>측정 유형</a:t>
                      </a:r>
                      <a:endParaRPr lang="ko-KR" alt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From Value</a:t>
                      </a:r>
                      <a:endParaRPr lang="en-US" altLang="ko-KR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To Value 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Col </a:t>
                      </a:r>
                      <a:r>
                        <a:rPr lang="ko-KR" alt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수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From Value</a:t>
                      </a: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 Use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To Value </a:t>
                      </a: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Use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From Process Name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1" i="0" u="none" strike="noStrike" kern="1200" dirty="0" smtClean="0">
                          <a:solidFill>
                            <a:srgbClr val="16365C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  <a:cs typeface="+mn-cs"/>
                        </a:rPr>
                        <a:t>To Process Name</a:t>
                      </a:r>
                      <a:endParaRPr lang="en-US" sz="700" b="1" i="0" u="none" strike="noStrike" kern="1200" dirty="0">
                        <a:solidFill>
                          <a:srgbClr val="16365C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3F1"/>
                    </a:solidFill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DSF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3349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N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Y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DSF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3350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Y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N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DSF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 #2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3609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N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Y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DSF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 #2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3611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Y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N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DSF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A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IR/OCV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Impedence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24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2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Y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Y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6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POUCH01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P101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DSF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A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IR/OCV #1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OCV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0.08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3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Y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Y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charset="-127"/>
                          <a:ea typeface="맑은 고딕" panose="020B0503020000020004" charset="-127"/>
                        </a:rPr>
                        <a:t>7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87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B0503020000020004" charset="-127"/>
                          <a:ea typeface="굴림" panose="020B0600000101010101" charset="-127"/>
                        </a:defRPr>
                      </a:lvl9pPr>
                    </a:lstStyle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charset="-127"/>
                        <a:ea typeface="맑은 고딕" panose="020B0503020000020004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" name="타원 34"/>
          <p:cNvSpPr/>
          <p:nvPr/>
        </p:nvSpPr>
        <p:spPr>
          <a:xfrm>
            <a:off x="1272888" y="197125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390054" y="2130337"/>
            <a:ext cx="709644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ko-KR" sz="800" b="1" kern="0" dirty="0" smtClean="0">
                <a:solidFill>
                  <a:prstClr val="black"/>
                </a:solidFill>
              </a:rPr>
              <a:t>Route ID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2099698" y="2158254"/>
            <a:ext cx="544953" cy="219141"/>
            <a:chOff x="1521240" y="2256925"/>
            <a:chExt cx="1053765" cy="219141"/>
          </a:xfrm>
        </p:grpSpPr>
        <p:sp>
          <p:nvSpPr>
            <p:cNvPr id="52" name="직사각형 51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53" name="그림 52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4" name="직사각형 53"/>
          <p:cNvSpPr/>
          <p:nvPr/>
        </p:nvSpPr>
        <p:spPr>
          <a:xfrm>
            <a:off x="2762173" y="2130337"/>
            <a:ext cx="60255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ko-KR" altLang="en-US" sz="800" b="1" kern="0" dirty="0" err="1" smtClean="0">
                <a:solidFill>
                  <a:prstClr val="black"/>
                </a:solidFill>
              </a:rPr>
              <a:t>공정</a:t>
            </a:r>
            <a:r>
              <a:rPr lang="ko-KR" altLang="en-US" sz="800" b="1" kern="0" dirty="0" err="1">
                <a:solidFill>
                  <a:prstClr val="black"/>
                </a:solidFill>
              </a:rPr>
              <a:t>명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55" name="그룹 54"/>
          <p:cNvGrpSpPr/>
          <p:nvPr/>
        </p:nvGrpSpPr>
        <p:grpSpPr>
          <a:xfrm>
            <a:off x="3395842" y="2158254"/>
            <a:ext cx="544953" cy="219141"/>
            <a:chOff x="1521240" y="2256925"/>
            <a:chExt cx="1053765" cy="219141"/>
          </a:xfrm>
        </p:grpSpPr>
        <p:sp>
          <p:nvSpPr>
            <p:cNvPr id="56" name="직사각형 55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58" name="직사각형 57"/>
          <p:cNvSpPr/>
          <p:nvPr/>
        </p:nvSpPr>
        <p:spPr>
          <a:xfrm>
            <a:off x="4012803" y="2130337"/>
            <a:ext cx="602558" cy="255712"/>
          </a:xfrm>
          <a:prstGeom prst="rect">
            <a:avLst/>
          </a:prstGeom>
          <a:noFill/>
        </p:spPr>
        <p:txBody>
          <a:bodyPr wrap="square" lIns="72000" tIns="0" rIns="36000" bIns="0" anchor="ctr" anchorCtr="0">
            <a:noAutofit/>
          </a:bodyPr>
          <a:lstStyle/>
          <a:p>
            <a:pPr marL="171450" marR="0" lvl="0" indent="-17145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50000"/>
                </a:prstClr>
              </a:buClr>
              <a:buSzTx/>
              <a:buFont typeface="Wingdings" panose="05000000000000000000" pitchFamily="2" charset="2"/>
              <a:buChar char="l"/>
              <a:defRPr/>
            </a:pPr>
            <a:r>
              <a:rPr lang="ko-KR" altLang="en-US" sz="800" b="1" kern="0" dirty="0" smtClean="0">
                <a:solidFill>
                  <a:prstClr val="black"/>
                </a:solidFill>
              </a:rPr>
              <a:t>등</a:t>
            </a:r>
            <a:r>
              <a:rPr lang="ko-KR" altLang="en-US" sz="800" b="1" kern="0" dirty="0">
                <a:solidFill>
                  <a:prstClr val="black"/>
                </a:solidFill>
              </a:rPr>
              <a:t>급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4594716" y="2158254"/>
            <a:ext cx="544953" cy="219141"/>
            <a:chOff x="1521240" y="2256925"/>
            <a:chExt cx="1053765" cy="219141"/>
          </a:xfrm>
        </p:grpSpPr>
        <p:sp>
          <p:nvSpPr>
            <p:cNvPr id="60" name="직사각형 59"/>
            <p:cNvSpPr/>
            <p:nvPr/>
          </p:nvSpPr>
          <p:spPr bwMode="auto">
            <a:xfrm>
              <a:off x="1521240" y="2274486"/>
              <a:ext cx="893088" cy="1816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ysClr val="windowText" lastClr="000000">
                  <a:lumMod val="50000"/>
                  <a:lumOff val="50000"/>
                </a:sysClr>
              </a:solidFill>
              <a:round/>
              <a:headEnd type="none" w="med" len="med"/>
              <a:tailEnd type="triangle" w="med" len="med"/>
            </a:ln>
          </p:spPr>
          <p:txBody>
            <a:bodyPr lIns="72000" tIns="0" rIns="36000" bIns="0" rtlCol="0" anchor="ctr" anchorCtr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2387374" y="2256925"/>
              <a:ext cx="187631" cy="21914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71" name="직사각형 70"/>
          <p:cNvSpPr/>
          <p:nvPr/>
        </p:nvSpPr>
        <p:spPr>
          <a:xfrm>
            <a:off x="5574526" y="2120876"/>
            <a:ext cx="319318" cy="30008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b="1" dirty="0" smtClean="0">
                <a:solidFill>
                  <a:srgbClr val="000000"/>
                </a:solidFill>
                <a:latin typeface="+mn-ea"/>
              </a:rPr>
              <a:t>Or</a:t>
            </a:r>
            <a:endParaRPr kumimoji="1" lang="en-US" altLang="ko-KR" sz="9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5900892" y="2120876"/>
            <a:ext cx="534754" cy="300082"/>
            <a:chOff x="828295" y="3952973"/>
            <a:chExt cx="534754" cy="300082"/>
          </a:xfrm>
        </p:grpSpPr>
        <p:sp>
          <p:nvSpPr>
            <p:cNvPr id="74" name="직사각형 73"/>
            <p:cNvSpPr/>
            <p:nvPr/>
          </p:nvSpPr>
          <p:spPr>
            <a:xfrm>
              <a:off x="953963" y="3952973"/>
              <a:ext cx="409086" cy="30008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900" b="1" dirty="0" smtClean="0">
                  <a:solidFill>
                    <a:srgbClr val="000000"/>
                  </a:solidFill>
                  <a:latin typeface="+mn-ea"/>
                </a:rPr>
                <a:t>And</a:t>
              </a:r>
              <a:endParaRPr kumimoji="1" lang="en-US" altLang="ko-KR" sz="900" b="1" dirty="0">
                <a:solidFill>
                  <a:srgbClr val="000000"/>
                </a:solidFill>
                <a:latin typeface="+mn-ea"/>
              </a:endParaRPr>
            </a:p>
          </p:txBody>
        </p:sp>
        <p:pic>
          <p:nvPicPr>
            <p:cNvPr id="75" name="그림 74"/>
            <p:cNvPicPr>
              <a:picLocks noChangeAspect="1"/>
            </p:cNvPicPr>
            <p:nvPr/>
          </p:nvPicPr>
          <p:blipFill rotWithShape="1">
            <a:blip r:embed="rId4" cstate="print"/>
            <a:srcRect l="21758" t="58092" r="7058" b="6271"/>
            <a:stretch>
              <a:fillRect/>
            </a:stretch>
          </p:blipFill>
          <p:spPr>
            <a:xfrm>
              <a:off x="828295" y="4043628"/>
              <a:ext cx="168200" cy="159873"/>
            </a:xfrm>
            <a:prstGeom prst="rect">
              <a:avLst/>
            </a:prstGeom>
          </p:spPr>
        </p:pic>
      </p:grpSp>
      <p:grpSp>
        <p:nvGrpSpPr>
          <p:cNvPr id="13" name="그룹 12"/>
          <p:cNvGrpSpPr/>
          <p:nvPr/>
        </p:nvGrpSpPr>
        <p:grpSpPr>
          <a:xfrm>
            <a:off x="6893123" y="2667793"/>
            <a:ext cx="521265" cy="320360"/>
            <a:chOff x="7184999" y="5833168"/>
            <a:chExt cx="818035" cy="320360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종료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5769300" y="2667793"/>
            <a:ext cx="521265" cy="320360"/>
            <a:chOff x="7184999" y="5833168"/>
            <a:chExt cx="818035" cy="320360"/>
          </a:xfrm>
        </p:grpSpPr>
        <p:pic>
          <p:nvPicPr>
            <p:cNvPr id="83" name="그림 82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84" name="직사각형 83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저장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6331211" y="2667793"/>
            <a:ext cx="521265" cy="320360"/>
            <a:chOff x="7184999" y="5833168"/>
            <a:chExt cx="818035" cy="320360"/>
          </a:xfrm>
        </p:grpSpPr>
        <p:pic>
          <p:nvPicPr>
            <p:cNvPr id="86" name="그림 85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87" name="직사각형 86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삭제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89" name="그림 88"/>
          <p:cNvPicPr>
            <a:picLocks noChangeAspect="1"/>
          </p:cNvPicPr>
          <p:nvPr/>
        </p:nvPicPr>
        <p:blipFill rotWithShape="1">
          <a:blip r:embed="rId4" cstate="print"/>
          <a:srcRect l="21758" t="7839" r="7058" b="50568"/>
          <a:stretch>
            <a:fillRect/>
          </a:stretch>
        </p:blipFill>
        <p:spPr>
          <a:xfrm>
            <a:off x="5490426" y="2198305"/>
            <a:ext cx="168200" cy="186594"/>
          </a:xfrm>
          <a:prstGeom prst="rect">
            <a:avLst/>
          </a:prstGeom>
        </p:spPr>
      </p:pic>
      <p:sp>
        <p:nvSpPr>
          <p:cNvPr id="32" name="타원 31"/>
          <p:cNvSpPr/>
          <p:nvPr/>
        </p:nvSpPr>
        <p:spPr>
          <a:xfrm>
            <a:off x="3730648" y="197125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5017304" y="197125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6313448" y="197125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0" name="타원 69"/>
          <p:cNvSpPr/>
          <p:nvPr/>
        </p:nvSpPr>
        <p:spPr>
          <a:xfrm>
            <a:off x="6097424" y="24524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72" name="텍스트 개체 틀 15"/>
          <p:cNvSpPr>
            <a:spLocks noGrp="1"/>
          </p:cNvSpPr>
          <p:nvPr>
            <p:ph type="body" sz="quarter" idx="20"/>
          </p:nvPr>
        </p:nvSpPr>
        <p:spPr>
          <a:xfrm>
            <a:off x="3955720" y="1107157"/>
            <a:ext cx="876549" cy="259342"/>
          </a:xfrm>
        </p:spPr>
        <p:txBody>
          <a:bodyPr/>
          <a:lstStyle/>
          <a:p>
            <a:r>
              <a:rPr lang="en-US" altLang="ko-KR" dirty="0" smtClean="0"/>
              <a:t>MST-13</a:t>
            </a:r>
            <a:endParaRPr lang="ko-KR" altLang="en-US" dirty="0"/>
          </a:p>
        </p:txBody>
      </p:sp>
      <p:sp>
        <p:nvSpPr>
          <p:cNvPr id="36" name="타원 35"/>
          <p:cNvSpPr/>
          <p:nvPr/>
        </p:nvSpPr>
        <p:spPr>
          <a:xfrm>
            <a:off x="2493257" y="1971253"/>
            <a:ext cx="219635" cy="224491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</a:p>
        </p:txBody>
      </p:sp>
      <p:grpSp>
        <p:nvGrpSpPr>
          <p:cNvPr id="76" name="그룹 75"/>
          <p:cNvGrpSpPr/>
          <p:nvPr/>
        </p:nvGrpSpPr>
        <p:grpSpPr>
          <a:xfrm>
            <a:off x="4640567" y="2667793"/>
            <a:ext cx="521265" cy="320360"/>
            <a:chOff x="7184999" y="5833168"/>
            <a:chExt cx="818035" cy="320360"/>
          </a:xfrm>
        </p:grpSpPr>
        <p:pic>
          <p:nvPicPr>
            <p:cNvPr id="78" name="그림 77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88" name="직사각형 87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ko-KR" altLang="en-US" sz="1000" b="1" kern="0" dirty="0" smtClean="0">
                  <a:solidFill>
                    <a:prstClr val="white"/>
                  </a:solidFill>
                </a:rPr>
                <a:t>조</a:t>
              </a:r>
              <a:r>
                <a:rPr lang="ko-KR" altLang="en-US" sz="1000" b="1" kern="0" dirty="0">
                  <a:solidFill>
                    <a:prstClr val="white"/>
                  </a:solidFill>
                </a:rPr>
                <a:t>회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5202478" y="2667793"/>
            <a:ext cx="521265" cy="320360"/>
            <a:chOff x="7184999" y="5833168"/>
            <a:chExt cx="818035" cy="320360"/>
          </a:xfrm>
        </p:grpSpPr>
        <p:pic>
          <p:nvPicPr>
            <p:cNvPr id="95" name="그림 94"/>
            <p:cNvPicPr>
              <a:picLocks noChangeAspect="1"/>
            </p:cNvPicPr>
            <p:nvPr/>
          </p:nvPicPr>
          <p:blipFill rotWithShape="1">
            <a:blip r:embed="rId5" cstate="print"/>
            <a:srcRect l="966" t="4567" r="75934" b="6074"/>
            <a:stretch>
              <a:fillRect/>
            </a:stretch>
          </p:blipFill>
          <p:spPr>
            <a:xfrm>
              <a:off x="7184999" y="5833168"/>
              <a:ext cx="818035" cy="320360"/>
            </a:xfrm>
            <a:prstGeom prst="rect">
              <a:avLst/>
            </a:prstGeom>
          </p:spPr>
        </p:pic>
        <p:sp>
          <p:nvSpPr>
            <p:cNvPr id="96" name="직사각형 95"/>
            <p:cNvSpPr/>
            <p:nvPr/>
          </p:nvSpPr>
          <p:spPr>
            <a:xfrm>
              <a:off x="7195066" y="5874153"/>
              <a:ext cx="797901" cy="238390"/>
            </a:xfrm>
            <a:prstGeom prst="rect">
              <a:avLst/>
            </a:prstGeom>
            <a:noFill/>
          </p:spPr>
          <p:txBody>
            <a:bodyPr wrap="square" lIns="0" tIns="0" rIns="0" bIns="0" anchor="ctr" anchorCtr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ko-KR" altLang="en-US" sz="10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추가</a:t>
              </a:r>
              <a:endPara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7" name="타원 96"/>
          <p:cNvSpPr/>
          <p:nvPr/>
        </p:nvSpPr>
        <p:spPr>
          <a:xfrm>
            <a:off x="6678830" y="2449590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7177544" y="2449590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924571" y="3445917"/>
            <a:ext cx="77603" cy="1036990"/>
            <a:chOff x="1924571" y="3445917"/>
            <a:chExt cx="77603" cy="1036990"/>
          </a:xfrm>
        </p:grpSpPr>
        <p:pic>
          <p:nvPicPr>
            <p:cNvPr id="99" name="그림 9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44591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0" name="그림 9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62419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1" name="그림 100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78870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2" name="그림 101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956232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3" name="그림 102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12286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4" name="그림 103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307646"/>
              <a:ext cx="77603" cy="17526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05" name="그룹 104"/>
          <p:cNvGrpSpPr/>
          <p:nvPr/>
        </p:nvGrpSpPr>
        <p:grpSpPr>
          <a:xfrm>
            <a:off x="2207008" y="3445917"/>
            <a:ext cx="77603" cy="1036990"/>
            <a:chOff x="1924571" y="3445917"/>
            <a:chExt cx="77603" cy="1036990"/>
          </a:xfrm>
        </p:grpSpPr>
        <p:pic>
          <p:nvPicPr>
            <p:cNvPr id="106" name="그림 105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44591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7" name="그림 106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62419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78870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9" name="그림 10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956232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0" name="그림 10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12286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307646"/>
              <a:ext cx="77603" cy="17526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12" name="그룹 111"/>
          <p:cNvGrpSpPr/>
          <p:nvPr/>
        </p:nvGrpSpPr>
        <p:grpSpPr>
          <a:xfrm>
            <a:off x="3364731" y="3445917"/>
            <a:ext cx="77603" cy="1036990"/>
            <a:chOff x="1924571" y="3445917"/>
            <a:chExt cx="77603" cy="1036990"/>
          </a:xfrm>
        </p:grpSpPr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44591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62419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5" name="그림 114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78870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6" name="그림 115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956232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7" name="그림 116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12286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8" name="그림 117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307646"/>
              <a:ext cx="77603" cy="17526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19" name="그룹 118"/>
          <p:cNvGrpSpPr/>
          <p:nvPr/>
        </p:nvGrpSpPr>
        <p:grpSpPr>
          <a:xfrm>
            <a:off x="3880444" y="3454543"/>
            <a:ext cx="77603" cy="1036990"/>
            <a:chOff x="1924571" y="3445917"/>
            <a:chExt cx="77603" cy="1036990"/>
          </a:xfrm>
        </p:grpSpPr>
        <p:pic>
          <p:nvPicPr>
            <p:cNvPr id="120" name="그림 11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44591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1" name="그림 120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62419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2" name="그림 121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78870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3" name="그림 122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956232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4" name="그림 123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12286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307646"/>
              <a:ext cx="77603" cy="17526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26" name="그룹 125"/>
          <p:cNvGrpSpPr/>
          <p:nvPr/>
        </p:nvGrpSpPr>
        <p:grpSpPr>
          <a:xfrm>
            <a:off x="5735400" y="3437291"/>
            <a:ext cx="77603" cy="1036990"/>
            <a:chOff x="1924571" y="3445917"/>
            <a:chExt cx="77603" cy="1036990"/>
          </a:xfrm>
        </p:grpSpPr>
        <p:pic>
          <p:nvPicPr>
            <p:cNvPr id="127" name="그림 126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44591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8" name="그림 127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62419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9" name="그림 12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78870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0" name="그림 129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956232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1" name="그림 130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12286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2" name="그림 131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307646"/>
              <a:ext cx="77603" cy="175261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33" name="그룹 132"/>
          <p:cNvGrpSpPr/>
          <p:nvPr/>
        </p:nvGrpSpPr>
        <p:grpSpPr>
          <a:xfrm>
            <a:off x="6262303" y="3428665"/>
            <a:ext cx="77603" cy="1036990"/>
            <a:chOff x="1924571" y="3445917"/>
            <a:chExt cx="77603" cy="1036990"/>
          </a:xfrm>
        </p:grpSpPr>
        <p:pic>
          <p:nvPicPr>
            <p:cNvPr id="134" name="그림 133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44591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5" name="그림 134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62419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6" name="그림 135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788705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7" name="그림 136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3956232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8" name="그림 137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122867"/>
              <a:ext cx="77603" cy="17526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9" name="그림 138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rgbClr val="5B9BD5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1924571" y="4307646"/>
              <a:ext cx="77603" cy="17526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4" name="타원 33"/>
          <p:cNvSpPr/>
          <p:nvPr/>
        </p:nvSpPr>
        <p:spPr>
          <a:xfrm>
            <a:off x="4948907" y="24524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5506443" y="2452489"/>
            <a:ext cx="219635" cy="224491"/>
          </a:xfrm>
          <a:prstGeom prst="ellipse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ko-KR" sz="1400" kern="0" dirty="0" smtClean="0">
                <a:solidFill>
                  <a:prstClr val="white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endParaRPr lang="ko-KR" altLang="en-US" sz="1400" kern="0" dirty="0">
              <a:solidFill>
                <a:prstClr val="white"/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40" name="그룹 139"/>
          <p:cNvGrpSpPr/>
          <p:nvPr/>
        </p:nvGrpSpPr>
        <p:grpSpPr>
          <a:xfrm>
            <a:off x="9917459" y="1395189"/>
            <a:ext cx="216024" cy="216024"/>
            <a:chOff x="5380955" y="5859685"/>
            <a:chExt cx="216024" cy="216024"/>
          </a:xfrm>
        </p:grpSpPr>
        <p:sp>
          <p:nvSpPr>
            <p:cNvPr id="141" name="위쪽 화살표 140">
              <a:hlinkClick r:id="rId6" action="ppaction://hlinksldjump"/>
            </p:cNvPr>
            <p:cNvSpPr/>
            <p:nvPr/>
          </p:nvSpPr>
          <p:spPr>
            <a:xfrm>
              <a:off x="5380955" y="5859685"/>
              <a:ext cx="216024" cy="216024"/>
            </a:xfrm>
            <a:prstGeom prst="upArrow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직사각형 141"/>
            <p:cNvSpPr/>
            <p:nvPr/>
          </p:nvSpPr>
          <p:spPr>
            <a:xfrm>
              <a:off x="5380955" y="5859685"/>
              <a:ext cx="2160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구글글꼴">
      <a:majorFont>
        <a:latin typeface="Noto Serif CJK KR SemiBold"/>
        <a:ea typeface="Noto Sans CJK KR Medium"/>
        <a:cs typeface=""/>
      </a:majorFont>
      <a:minorFont>
        <a:latin typeface="Noto Serif CJK KR Medium"/>
        <a:ea typeface="Noto Sans CJK KR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787</TotalTime>
  <Words>5803</Words>
  <Application>Microsoft Office PowerPoint</Application>
  <PresentationFormat>사용자 지정</PresentationFormat>
  <Paragraphs>2832</Paragraphs>
  <Slides>51</Slides>
  <Notes>41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2" baseType="lpstr">
      <vt:lpstr>Office 테마</vt:lpstr>
      <vt:lpstr>A-Pro Jig Formation UI설계서 </vt:lpstr>
      <vt:lpstr>변경이력</vt:lpstr>
      <vt:lpstr>Jig Formation</vt:lpstr>
      <vt:lpstr>PowerPoint 프레젠테이션</vt:lpstr>
      <vt:lpstr>PowerPoint 프레젠테이션</vt:lpstr>
      <vt:lpstr>PowerPoint 프레젠테이션</vt:lpstr>
      <vt:lpstr>PowerPoint 프레젠테이션</vt:lpstr>
      <vt:lpstr>Jig Formation Monitoring </vt:lpstr>
      <vt:lpstr>Jig Formation Monitoring </vt:lpstr>
      <vt:lpstr>Jig Formation Monitoring </vt:lpstr>
      <vt:lpstr>Jig Formation Monitoring </vt:lpstr>
      <vt:lpstr>Jig Formation Monitoring </vt:lpstr>
      <vt:lpstr>Jig Formation Monitoring </vt:lpstr>
      <vt:lpstr>Manual 작업</vt:lpstr>
      <vt:lpstr>설비 설정</vt:lpstr>
      <vt:lpstr>Trouble Information</vt:lpstr>
      <vt:lpstr>Cell 정보 생성</vt:lpstr>
      <vt:lpstr>Cell 정보 생성</vt:lpstr>
      <vt:lpstr>투입 Cell 재구성</vt:lpstr>
      <vt:lpstr>Jig 정보 조회</vt:lpstr>
      <vt:lpstr>Jig 정보 상세 조회</vt:lpstr>
      <vt:lpstr>Jig Manual Info</vt:lpstr>
      <vt:lpstr>Jig Manual Change</vt:lpstr>
      <vt:lpstr>불량 Cell 지정</vt:lpstr>
      <vt:lpstr>Cell List</vt:lpstr>
      <vt:lpstr>Jig 상태 변경</vt:lpstr>
      <vt:lpstr>Cell 정보 조회</vt:lpstr>
      <vt:lpstr>Cell 공정 정보</vt:lpstr>
      <vt:lpstr>Tray/Jig 별 Cell 정보 조회</vt:lpstr>
      <vt:lpstr>공정별 생산 현황</vt:lpstr>
      <vt:lpstr>공정 실적 관리</vt:lpstr>
      <vt:lpstr>부적합률 조회</vt:lpstr>
      <vt:lpstr>판정결과 조회</vt:lpstr>
      <vt:lpstr>Trouble Info 관리</vt:lpstr>
      <vt:lpstr>장애 조치 입력</vt:lpstr>
      <vt:lpstr>Trouble 분석</vt:lpstr>
      <vt:lpstr>설비 상태 조회</vt:lpstr>
      <vt:lpstr>Log 정보</vt:lpstr>
      <vt:lpstr>생산 모델 관리</vt:lpstr>
      <vt:lpstr>Cell Type 관리</vt:lpstr>
      <vt:lpstr>Route 관리</vt:lpstr>
      <vt:lpstr>Route 등록</vt:lpstr>
      <vt:lpstr>Route ID 복제 생성</vt:lpstr>
      <vt:lpstr>Recipe 관리</vt:lpstr>
      <vt:lpstr>Recipe Data 등록</vt:lpstr>
      <vt:lpstr>Recipe Time 등록</vt:lpstr>
      <vt:lpstr>Trouble 관리</vt:lpstr>
      <vt:lpstr>사용자 관리</vt:lpstr>
      <vt:lpstr>화면 관리</vt:lpstr>
      <vt:lpstr>사용자 화면 권한 관리</vt:lpstr>
      <vt:lpstr>단위 판정 관리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AN SE EUN</dc:creator>
  <cp:lastModifiedBy>UBSAM</cp:lastModifiedBy>
  <cp:revision>944</cp:revision>
  <dcterms:created xsi:type="dcterms:W3CDTF">2019-07-17T02:18:00Z</dcterms:created>
  <dcterms:modified xsi:type="dcterms:W3CDTF">2024-04-15T05:13:14Z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62A8D310F49F434FABC8C7D67726F34E_12</vt:lpwstr>
  </property>
  <property fmtid="{D5CDD505-2E9C-101B-9397-08002B2CF9AE}" pid="3" name="KSOProductBuildVer">
    <vt:lpwstr>1033-12.2.0.13489</vt:lpwstr>
  </property>
</Properties>
</file>